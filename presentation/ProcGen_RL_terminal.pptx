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charts/chart1.xml" ContentType="application/vnd.openxmlformats-officedocument.drawingml.chart+xml"/>
  <Override PartName="/ppt/slideMasters/slideMaster29.xml" ContentType="application/vnd.openxmlformats-officedocument.presentationml.slideMaster+xml"/>
  <Override PartName="/ppt/slides/slide29.xml" ContentType="application/vnd.openxmlformats-officedocument.presentationml.slide+xml"/>
  <Override PartName="/ppt/charts/chart2.xml" ContentType="application/vnd.openxmlformats-officedocument.drawingml.chart+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charts/chart3.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2bc2c0dc-d23a-064d-202c-98b50d4921e2}">
          <p14:sldIdLst>
            <p14:sldId id="256"/>
          </p14:sldIdLst>
        </p14:section>
        <p14:section name="Agenda" id="{81b4b56a-ffab-8d55-8c0e-e06dd05c8700}">
          <p14:sldIdLst>
            <p14:sldId id="257"/>
          </p14:sldIdLst>
        </p14:section>
        <p14:section name="THE PROBLEM" id="{36dcb40e-fcde-ebb1-c4b8-dd6e8460d3cd}">
          <p14:sldIdLst>
            <p14:sldId id="258"/>
            <p14:sldId id="259"/>
            <p14:sldId id="260"/>
            <p14:sldId id="261"/>
          </p14:sldIdLst>
        </p14:section>
        <p14:section name="WHAT THE AGENT SEES" id="{dacab0b8-68d9-10c4-4058-479705efb3a0}">
          <p14:sldIdLst>
            <p14:sldId id="262"/>
            <p14:sldId id="263"/>
            <p14:sldId id="264"/>
            <p14:sldId id="265"/>
            <p14:sldId id="266"/>
            <p14:sldId id="267"/>
          </p14:sldIdLst>
        </p14:section>
        <p14:section name="THE MODEL" id="{aa8331f2-478a-d945-cb7b-e320a2ae5ad2}">
          <p14:sldIdLst>
            <p14:sldId id="268"/>
            <p14:sldId id="269"/>
            <p14:sldId id="270"/>
            <p14:sldId id="271"/>
            <p14:sldId id="272"/>
          </p14:sldIdLst>
        </p14:section>
        <p14:section name="HOW IT LEARNS" id="{a31993c2-10f1-7145-cafb-7394f74b74ed}">
          <p14:sldIdLst>
            <p14:sldId id="273"/>
            <p14:sldId id="274"/>
            <p14:sldId id="275"/>
            <p14:sldId id="276"/>
            <p14:sldId id="277"/>
            <p14:sldId id="278"/>
          </p14:sldIdLst>
        </p14:section>
        <p14:section name="OPENING THE BLACK BOX" id="{050e677e-cd4e-510c-2398-da28de9eaadf}">
          <p14:sldIdLst>
            <p14:sldId id="279"/>
            <p14:sldId id="280"/>
            <p14:sldId id="281"/>
            <p14:sldId id="282"/>
            <p14:sldId id="283"/>
            <p14:sldId id="284"/>
            <p14:sldId id="285"/>
            <p14:sldId id="286"/>
            <p14:sldId id="287"/>
          </p14:sldIdLst>
        </p14:section>
        <p14:section name="RESULTS" id="{f82dfed3-977f-834b-88d0-72d7ef1ac553}">
          <p14:sldIdLst>
            <p14:sldId id="288"/>
            <p14:sldId id="289"/>
            <p14:sldId id="290"/>
            <p14:sldId id="291"/>
            <p14:sldId id="292"/>
            <p14:sldId id="293"/>
            <p14:sldId id="294"/>
          </p14:sldIdLst>
        </p14:section>
        <p14:section name="DEMO" id="{7a6f833b-4762-2339-b9d8-38e2682708bb}">
          <p14:sldIdLst>
            <p14:sldId id="295"/>
            <p14:sldId id="296"/>
            <p14:sldId id="297"/>
            <p14:sldId id="298"/>
          </p14:sldIdLst>
        </p14:section>
        <p14:section name="APPENDIX" id="{13be5c1f-6107-fcc2-ebe5-a4a504a27eee}">
          <p14:sldIdLst>
            <p14:sldId id="299"/>
            <p14:sldId id="30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10h ghost</c:v>
                </c:pt>
              </c:strCache>
            </c:strRef>
          </c:tx>
          <c:spPr>
            <a:solidFill>
              <a:srgbClr val="BFBFB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Sheet1!$A$2:$A$7</c:f>
              <c:multiLvlStrCache>
                <c:ptCount val="6"/>
                <c:lvl>
                  <c:pt idx="0">
                    <c:v>ground + walls (solid layer)</c:v>
                  </c:pt>
                  <c:pt idx="1">
                    <c:v>spikes (spike layer)</c:v>
                  </c:pt>
                  <c:pt idx="2">
                    <c:v>finish line (goal layer)</c:v>
                  </c:pt>
                  <c:pt idx="3">
                    <c:v>own speed (vx, vy)</c:v>
                  </c:pt>
                  <c:pt idx="4">
                    <c:v>jump state (3 flags)</c:v>
                  </c:pt>
                  <c:pt idx="5">
                    <c:v>position in tile</c:v>
                  </c:pt>
                </c:lvl>
              </c:multiLvlStrCache>
            </c:multiLvlStrRef>
          </c:cat>
          <c:val>
            <c:numRef>
              <c:f>Sheet1!$B$2:$B$7</c:f>
              <c:numCache>
                <c:formatCode>General</c:formatCode>
                <c:ptCount val="6"/>
                <c:pt idx="0">
                  <c:v>0.354</c:v>
                </c:pt>
                <c:pt idx="1">
                  <c:v>0.472</c:v>
                </c:pt>
                <c:pt idx="2">
                  <c:v>0.1601</c:v>
                </c:pt>
                <c:pt idx="3">
                  <c:v>0.0037</c:v>
                </c:pt>
                <c:pt idx="4">
                  <c:v>0.0094</c:v>
                </c:pt>
                <c:pt idx="5">
                  <c:v>0.0008</c:v>
                </c:pt>
              </c:numCache>
            </c:numRef>
          </c:val>
        </c:ser>
        <c:ser>
          <c:idx val="1"/>
          <c:order val="1"/>
          <c:tx>
            <c:strRef>
              <c:f>Sheet1!$C$1</c:f>
              <c:strCache>
                <c:ptCount val="1"/>
                <c:pt idx="0">
                  <c:v>300h ghost</c:v>
                </c:pt>
              </c:strCache>
            </c:strRef>
          </c:tx>
          <c:spPr>
            <a:solidFill>
              <a:srgbClr val="0000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Sheet1!$A$2:$A$7</c:f>
              <c:multiLvlStrCache>
                <c:ptCount val="6"/>
                <c:lvl>
                  <c:pt idx="0">
                    <c:v>ground + walls (solid layer)</c:v>
                  </c:pt>
                  <c:pt idx="1">
                    <c:v>spikes (spike layer)</c:v>
                  </c:pt>
                  <c:pt idx="2">
                    <c:v>finish line (goal layer)</c:v>
                  </c:pt>
                  <c:pt idx="3">
                    <c:v>own speed (vx, vy)</c:v>
                  </c:pt>
                  <c:pt idx="4">
                    <c:v>jump state (3 flags)</c:v>
                  </c:pt>
                  <c:pt idx="5">
                    <c:v>position in tile</c:v>
                  </c:pt>
                </c:lvl>
              </c:multiLvlStrCache>
            </c:multiLvlStrRef>
          </c:cat>
          <c:val>
            <c:numRef>
              <c:f>Sheet1!$C$2:$C$7</c:f>
              <c:numCache>
                <c:formatCode>General</c:formatCode>
                <c:ptCount val="6"/>
                <c:pt idx="0">
                  <c:v>0.3444</c:v>
                </c:pt>
                <c:pt idx="1">
                  <c:v>0.4804</c:v>
                </c:pt>
                <c:pt idx="2">
                  <c:v>0.152</c:v>
                </c:pt>
                <c:pt idx="3">
                  <c:v>0.0057</c:v>
                </c:pt>
                <c:pt idx="4">
                  <c:v>0.0156</c:v>
                </c:pt>
                <c:pt idx="5">
                  <c:v>0.0019</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0.6"/>
          <c:min val="0"/>
        </c:scaling>
        <c:delete val="0"/>
        <c:axPos val="b"/>
        <c:majorGridlines>
          <c:spPr>
            <a:ln w="6350" cap="flat">
              <a:solidFill>
                <a:srgbClr val="E0E0E0"/>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5A5A"/>
                </a:solidFill>
                <a:latin typeface="+mn-lt"/>
              </a:defRPr>
            </a:pPr>
            <a:endParaRPr lang="en-US"/>
          </a:p>
        </c:txPr>
        <c:crossAx val="2094734554"/>
        <c:crosses val="autoZero"/>
        <c:crossBetween val="between"/>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levels completed</c:v>
                </c:pt>
              </c:strCache>
            </c:strRef>
          </c:tx>
          <c:spPr>
            <a:solidFill>
              <a:srgbClr val="0000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Sheet1!$A$2:$A$10</c:f>
              <c:multiLvlStrCache>
                <c:ptCount val="9"/>
                <c:lvl>
                  <c:pt idx="0">
                    <c:v>full input (normal)</c:v>
                  </c:pt>
                  <c:pt idx="1">
                    <c:v>no position in tile</c:v>
                  </c:pt>
                  <c:pt idx="2">
                    <c:v>no jump-state flags</c:v>
                  </c:pt>
                  <c:pt idx="3">
                    <c:v>no own speed</c:v>
                  </c:pt>
                  <c:pt idx="4">
                    <c:v>cannot see the finish line</c:v>
                  </c:pt>
                  <c:pt idx="5">
                    <c:v>cannot see spikes</c:v>
                  </c:pt>
                  <c:pt idx="6">
                    <c:v>sees only 8 tiles ahead</c:v>
                  </c:pt>
                  <c:pt idx="7">
                    <c:v>sees only 4 tiles ahead</c:v>
                  </c:pt>
                  <c:pt idx="8">
                    <c:v>sees only 2 tiles ahead</c:v>
                  </c:pt>
                </c:lvl>
              </c:multiLvlStrCache>
            </c:multiLvlStrRef>
          </c:cat>
          <c:val>
            <c:numRef>
              <c:f>Sheet1!$B$2:$B$10</c:f>
              <c:numCache>
                <c:formatCode>General</c:formatCode>
                <c:ptCount val="9"/>
                <c:pt idx="0">
                  <c:v>0.96</c:v>
                </c:pt>
                <c:pt idx="1">
                  <c:v>0.86</c:v>
                </c:pt>
                <c:pt idx="2">
                  <c:v>0.86</c:v>
                </c:pt>
                <c:pt idx="3">
                  <c:v>0.95</c:v>
                </c:pt>
                <c:pt idx="4">
                  <c:v>0.98</c:v>
                </c:pt>
                <c:pt idx="5">
                  <c:v>0.12</c:v>
                </c:pt>
                <c:pt idx="6">
                  <c:v>0.99</c:v>
                </c:pt>
                <c:pt idx="7">
                  <c:v>0.82</c:v>
                </c:pt>
                <c:pt idx="8">
                  <c:v>0.2</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b"/>
        <c:majorGridlines>
          <c:spPr>
            <a:ln w="6350" cap="flat">
              <a:solidFill>
                <a:srgbClr val="E0E0E0"/>
              </a:solidFill>
              <a:prstDash val="solid"/>
              <a:round/>
            </a:ln>
          </c:spPr>
        </c:majorGridlines>
        <c:numFmt formatCode="0%" sourceLinked="0"/>
        <c:majorTickMark val="out"/>
        <c:minorTickMark val="none"/>
        <c:tickLblPos val="low"/>
        <c:spPr>
          <a:ln w="12700" cap="flat">
            <a:solidFill>
              <a:srgbClr val="888888"/>
            </a:solidFill>
            <a:prstDash val="solid"/>
            <a:round/>
          </a:ln>
        </c:spPr>
        <c:txPr>
          <a:bodyPr/>
          <a:lstStyle/>
          <a:p>
            <a:pPr>
              <a:defRPr sz="1000" b="0" i="0" u="none" strike="noStrike">
                <a:solidFill>
                  <a:srgbClr val="5A5A5A"/>
                </a:solidFill>
                <a:latin typeface="+mn-lt"/>
              </a:defRPr>
            </a:pPr>
            <a:endParaRPr lang="en-US"/>
          </a:p>
        </c:txPr>
        <c:crossAx val="2094734554"/>
        <c:crosses val="autoZero"/>
        <c:crossBetween val="between"/>
        <c:majorUnit val="0.25"/>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levels it trained on</c:v>
                </c:pt>
              </c:strCache>
            </c:strRef>
          </c:tx>
          <c:spPr>
            <a:solidFill>
              <a:srgbClr val="BFBFBF"/>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10 levels</c:v>
                  </c:pt>
                  <c:pt idx="1">
                    <c:v>100 levels</c:v>
                  </c:pt>
                  <c:pt idx="2">
                    <c:v>1,000 levels</c:v>
                  </c:pt>
                  <c:pt idx="3">
                    <c:v>unlimited</c:v>
                  </c:pt>
                </c:lvl>
              </c:multiLvlStrCache>
            </c:multiLvlStrRef>
          </c:cat>
          <c:val>
            <c:numRef>
              <c:f>Sheet1!$B$2:$B$5</c:f>
              <c:numCache>
                <c:formatCode>General</c:formatCode>
                <c:ptCount val="4"/>
                <c:pt idx="0">
                  <c:v>1</c:v>
                </c:pt>
                <c:pt idx="1">
                  <c:v>0.95</c:v>
                </c:pt>
                <c:pt idx="2">
                  <c:v>0.95</c:v>
                </c:pt>
                <c:pt idx="3">
                  <c:v>0.95</c:v>
                </c:pt>
              </c:numCache>
            </c:numRef>
          </c:val>
        </c:ser>
        <c:ser>
          <c:idx val="1"/>
          <c:order val="1"/>
          <c:tx>
            <c:strRef>
              <c:f>Sheet1!$C$1</c:f>
              <c:strCache>
                <c:ptCount val="1"/>
                <c:pt idx="0">
                  <c:v>never-seen levels</c:v>
                </c:pt>
              </c:strCache>
            </c:strRef>
          </c:tx>
          <c:spPr>
            <a:solidFill>
              <a:srgbClr val="000000"/>
            </a:solidFill>
            <a:effectLst/>
          </c:spPr>
          <c:invertIfNegative val="0"/>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cat>
            <c:multiLvlStrRef>
              <c:f>Sheet1!$A$2:$A$5</c:f>
              <c:multiLvlStrCache>
                <c:ptCount val="4"/>
                <c:lvl>
                  <c:pt idx="0">
                    <c:v>10 levels</c:v>
                  </c:pt>
                  <c:pt idx="1">
                    <c:v>100 levels</c:v>
                  </c:pt>
                  <c:pt idx="2">
                    <c:v>1,000 levels</c:v>
                  </c:pt>
                  <c:pt idx="3">
                    <c:v>unlimited</c:v>
                  </c:pt>
                </c:lvl>
              </c:multiLvlStrCache>
            </c:multiLvlStrRef>
          </c:cat>
          <c:val>
            <c:numRef>
              <c:f>Sheet1!$C$2:$C$5</c:f>
              <c:numCache>
                <c:formatCode>General</c:formatCode>
                <c:ptCount val="4"/>
                <c:pt idx="0">
                  <c:v>0.6</c:v>
                </c:pt>
                <c:pt idx="1">
                  <c:v>0.91</c:v>
                </c:pt>
                <c:pt idx="2">
                  <c:v>0.96</c:v>
                </c:pt>
                <c:pt idx="3">
                  <c:v>0.95</c:v>
                </c:pt>
              </c:numCache>
            </c:numRef>
          </c:val>
        </c:ser>
        <c:dLbls>
          <c:numFmt formatCode="0%" sourceLinked="0"/>
          <c:txPr>
            <a:bodyPr/>
            <a:lstStyle/>
            <a:p>
              <a:pPr>
                <a:defRPr b="0" i="0" strike="noStrike" sz="1100" u="none">
                  <a:solidFill>
                    <a:srgbClr val="000000"/>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mn-lt"/>
              </a:defRPr>
            </a:pPr>
            <a:endParaRPr lang="en-US"/>
          </a:p>
        </c:txPr>
        <c:crossAx val="2094734552"/>
        <c:crosses val="autoZero"/>
        <c:auto val="1"/>
        <c:lblAlgn val="ctr"/>
        <c:noMultiLvlLbl val="1"/>
      </c:catAx>
      <c:valAx>
        <c:axId val="2094734552"/>
        <c:scaling>
          <c:orientation val="minMax"/>
          <c:max val="1.1"/>
          <c:min val="0"/>
        </c:scaling>
        <c:delete val="0"/>
        <c:axPos val="l"/>
        <c:majorGridlines>
          <c:spPr>
            <a:ln w="6350" cap="flat">
              <a:solidFill>
                <a:srgbClr val="E0E0E0"/>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A5A5A"/>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[name]. This project asks one question: can an agent learn to play a platformer in general, rather than memorising particular levels? Every level is generated on the fly, so the agent is always tested on levels it has never seen. I will show what the agent actually receives as input, what the neural network looks like inside, how it learns, and a debug mode that shows its decisions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has seven parts. Parts 2 to 5 are the technical core: what goes into the network, what the network is, how training changes it, and how we can see what it is paying attention 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Reinforcement learning in one slide. There is an agent, here a small neural network, and an environment, here the game. Fifteen times a second the game tells the agent what it sees, the agent picks one of six button combinations, and the game hands back a reward: a few points for moving forward, a penalty for dying, a bonus for the flag. Nobody ever shows it how to play. Training is just trial and error: whatever led to more points becomes more likely next time. The words on the left are the vocabulary I will use for the rest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Mario-style side-scroller kept deliberately simple. The picture is the same seed at five difficulty settings. Difficulty is one number from 0 to 1 that widens gaps, increases height changes and unlocks spikes and floating platforms. Enemies are planned for phase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seeds, same difficulty, four different levels. Levels are stitched together from chunks such as gaps, stairs, spikes and platforms using Python's seeded random generator, so the same seed always gives the same level on any machine. A search-based solver in the tests proves the levels are beatable. Training, evaluation and the demo use separate seed ranges, so the agent is always tested on levels it has never seen.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everything that happens for one decision. The game state is turned into a list of 847 numbers. Those go through the neural network, which outputs six numbers, one per action, turned into probabilities. The agent takes the most likely action and holds those buttons for four frames, a fifteenth of a second, then decides again. One decision takes well under a millisecond on the CPU. The same code runs in training, in evaluation and in the demo, so what you see in the demo is exactly what was trained.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Instead of pixels the agent gets a small grid of tiles centred on itself: 20 columns wide and 14 rows tall, 4 columns behind and 15 ahead, because the danger is ahead. Each tile is described by three yes-or-no layers: is it solid, is it a spike, is it past the finish line. That is 3 times 14 times 20, or 840 numbers. Below you can see the actual zeros and ones for this exact moment. On the right are the 7 numbers the agent gets about itself.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tile turns into three yes-or-no values. Air is 0 0 0, ground is 1 0 0, a spike is 0 1 0. Outside the level counts as a solid wall. Anything at or past the flag switches on the goal layer. Every input has a fixed number. For example, a spike two tiles ahead of the agent at foot level is always input number 407. Why three layers instead of one number per tile? If spike were 2 and solid were 1, the network would treat a spike as a bigger solid, which is meaningless. Separate yes-or-no layers, called one-hot encoding, avoid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tile window cannot tell the agent how fast it is moving or whether it is standing on the ground, so it gets seven extra numbers about itself. They are all scaled to roughly minus one to one, because neural networks train best on small numbers. In the example the agent is running at full speed and falling, so it is not on the ground and cannot jump.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together, the input is one flat list of 847 numbers. The network has no idea it is looking at a picture; it only knows that position 407 behaves in a certain way. Because the window moves with the agent, the same situation produces the same numbers anywhere in any level, which is the key to playing new levels. And nothing is hand-coded: the network has to discover by itself which combinations of inputs mean 'jump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the standard one for PPO in Stable-Baselines3: two separate fully connected networks with the same shape. The actor takes the 847 inputs, passes them through two hidden layers of 256 neurons with ReLU, and ends in 6 outputs, one per action, turned into probabilities. The critic has the same body but a single output: how much reward it expects from this moment on. The critic is only needed during training. Together that is about 570 thousand numbers, the weights, which is what training adjusts. A saved ghost is just those weights in a 2 megabyte 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layer does three simple things. First a weighted sum: every neuron multiplies each input by its own weight and adds them up, which measures how much the current view matches the pattern that neuron has learned. Second, ReLU: negative results are set to zero, so a neuron only fires when its pattern is present. Third, at the very end, softmax turns the six scores into probabilities. The weights and biases are the only things training changes.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one real decision of the 300-hour ghost, at the moment shown on the left. Of the 847 inputs, 103 are ones. In the first hidden layer 57 neurons fire, in the second only 16. The output layer gives a score to each action, and softmax turns those into probabilities. Right gets 44 percent, right plus jump 33, idle 19. That split is not confusion: the agent is in mid-air, where holding jump or not barely matters. The critic expects about 5.4 more points from here, which means it expects to finish the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critic is the second network. It never chooses actions; it only predicts how much reward is still to come from the current moment. On this unseen level the 300-hour ghost's critic stays high the whole way: it correctly expects to finish. The 5-hour ghost's critic wobbles and then collapses as it runs into a pit. So the critic is a kind of confidence meter, and the debug mode shows it live. In training its job is to be the baseline: if things went better than the critic expected, the action that was taken gets reinforced.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reward is deliberately simple. A tenth of a point for every new tile of ground reached, so the agent gets feedback long before it ever sees a flag. A tiny penalty every step against dawdling. Minus one for dying and plus five for the flag. Only new progress counts, so running back and forth to farm points earns nothing. An attempt also ends if the agent makes no progress for six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PPO in four steps. One: play. Eight copies of the game run in parallel and the current network plays 256 decisions in each, 2,048 in total. Two: score every decision. The advantage is how much better things went than the critic predicted. Three: update. Actions with a positive advantage are made more likely, negative ones less likely, but PPO clips the change so that no single round can move a probability by more than about 20 percent. That clipping is what makes PPO stable. Four: repeat, almost eight thousand times for the 300-hour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settings are mostly the Stable-Baselines3 defaults for this kind of problem. When I say a ghost has 300 hours of training, I mean 300 hours of gameplay: 16.2 million decisions at 15 decisions per second, counted across the 8 games running in parallel. Because the game runs without graphics, and 8 at a time, that took 4.7 hours of real time on a laptop CPU.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Throwing a random agent at the hardest levels wastes time, because it almost never earns anything. So training starts at difficulty 0.1 and moves up by 0.1 every time the agent completes 70 percent of its recent levels at the current ceiling. It reached 0.9 in 14 simulated hours, but the last step to 1.0 took until hour 33.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share of training levels completed, averaged over the last 200 attempts. The time axis is logarithmic. The curve is not smooth because the levels keep getting harder: every promotion of the curriculum causes a dip. By the end it completes almost 9 out of 10 training levels at full difficulty.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new debug mode in the demo. One ghost plays alone, and everything it computes is on screen. The white frame on the level is exactly what it sees, and the orange tiles are the ones its current decision depends on most. On the right: the three tile layers exactly as the network receives them, the seven numbers about itself, how much each group of inputs matters right now, and the network itself: every one of the 512 hidden neurons lit by how strongly it fires, with the strongest connections behind the chosen action drawn as lines. Bottom left are the six output probabilities. You can pause and step one decision at a time. Here it is about to land between two spikes: the orange tiles sit on the spike ahead, and it is 99 percent sure about pressing right without jumping.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Neural networks are often called black boxes, so here are two simple ways to look inside. The flip test changes one input at a time and measures how much the decision changes. Doing it for all 847 inputs takes one batched pass of the network, about 7 milliseconds, so the debug mode does it live for every decision. The blindfold test is the opposite: remove a whole group of inputs for an entire run and see whether the agent can still finish levels. The first measures sensitivity, the second measures real reliance; they answer different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Averaging the flip test over more than six thousand decisions on unseen levels gives a map of where the agent looks. It concentrates on the ground and spikes one to six tiles ahead, at and just below its own height, with a peak two tiles ahead: exactly where its next jump has to start. The tiles far ahead and behind it matter much less. Nobody told it to look there.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Grouping the flip test by type of input: about half of the agent's sensitivity is to the spike layer, a third to the solid ground, and most of the rest to the finish-line layer. The seven numbers about itself account for only about two percent. That does not mean they are useless; it means they change the decision only in a few moments, around take-off. The blindfold test on the next slide shows which of these it truly needs.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blindfold test, on 100 unseen levels. With everything it finishes 96 percent. Hide the spike layer and it drops to 12 percent: it really uses that layer to survive. Limit its sight to 8 tiles ahead and it still finishes 99 percent, so the far part of the window is spare. At 4 tiles it is 82 percent and at 2 tiles only 20, because it cannot plan a jump over a gap it sees too late. The jump flags and the position inside the tile are each worth about ten points. Hiding the finish line or its own speed barely matters, because it is running at full speed almost all the time anyway.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a single neuron do? For each neuron I took the moments when it fires most strongly and averaged what the agent saw, compared with an average moment. Red means more ground than usual at that position, blue means less. One neuron fires at the wall at the end of the level, one for flat ground under its feet, one when the ground ahead disappears, one for a step up. Nobody programmed these. Also interesting: as training goes on, fewer neurons fire per decision. The untrained network has about half of them active; the 300-hour one uses about 66 in the first layer and 30 in the second. It has become more specialised.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Which buttons does each ghost press? The untrained network mostly stands still. After 30 minutes it has found a crude strategy: hold right and jump all the time, hopping over everything, which works on easy levels but falls into pits. From then on it learns to jump only when needed: the 300-hour ghost runs without jumping 59 percent of the time and jumps 35 percent of the time, with a few short pauses. It never presses left. It worked out that right is the useful direction purely from the reward.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debug mode also explains failures. This is the 5-hour ghost at the edge of the pit where it dies. It is torn between running and jumping, 47 against 42 percent, and many more of its neurons are firing than in the trained network. It takes the wrong one, runs off the edge, and you can watch its critic drop as it falls. The 300-hour ghost reaches the same spot confident and jumps in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numbers for the main run. 300 hours of simulated gameplay took under five hours of real time on a laptop CPU. The final ghost was tested on 100 levels it had never seen at each difficulty: it finishes 96 percent at 0.75 and 85 percent at the hardest training setting.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per ghost, one column per difficulty, 100 unseen levels per cell. Reading across, harder levels always need more training. Reading down, improvement is quick and then levels off. That spread is exactly what the demo needs: early ghosts are easy to beat, middle ones are a fair race, late ones are very hard to beat.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static version of the demo: five ghosts on the same unseen level. The untrained ghost barely moves; the 30-minute one falls into the first pit; the 5-hour one gets past halfway. The 50 and 300-hour ghosts both finish, in almost the same time, because once an agent can finish it already runs flat out. More training buys reliability on hard levels, not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prove that procedural generation matters, I trained four more agents identically except for how many different levels they practised on. The one that saw only ten levels finishes every one of them but only 60 percent of new levels: it memorised instead of learning. With 100 levels the gap is 4 points, and from 1,000 levels on there is no gap at all. This matches the Procgen benchmark paper by Cobbe and colleagues from 2019.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same experiment over time, measured on new levels. The ten-level agent peaks at 83 percent after 5 hours and then falls to 60: extra training fits its ten levels better and the game worse. That is overfitting happening live. And variety alone is not enough: the unlimited agent trained only at difficulty 0.5 finishes 64 percent of the hardest levels, while the curriculum agent finishes 89.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Difficulty 1 was the top of the training range, so I added expert levels from 1 to 2 for the demo: the same tiles and physics pushed towards what a jump can just clear. The ghosts were never trained there. Their skills partly carry over, 60 percent at 1.25, but collapse at 1.75, where gaps and spike runs are longer than anything they practised. An agent generalises well inside its training range and less and less beyond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Time for the live demo. You play the red character; every other character is the same agent at a different point in training. The level is new every round and comes from a seed range never used in training, so nobody has seen it before, including the ghosts. You can usually beat everything up to about 2 hours. Then I will press I to switch to the debug mode and step through a few decisions of the 300-hour ghost.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takeaways. The design choices that mattered most were the agent-centred observation, the curriculum and the endless supply of new levels, and the generalisation experiment shows the last one directly. A lot of the work was engineering: making random levels fair, shaping the reward, making overnight training survive a crash. And the debug mode shows the agent is not a mystery: it looks a few tiles ahead, relies on the spike layer, and has learned its own detectors for ground and gaps.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for listening. Happy to take questions, and anyone who wants to try beating the 300-hour ghost can have a go on the demo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for questions about training stability. Reward goes up, entropy, the randomness of the policy, decreases gradually instead of collapsing, and the change between successive policies stays small. The weak spot is the critic: explained variance never gets above about 0.4, so its predictions are rough. That is plausible, because whether the agent survives an unseen level is hard to predict.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glossary for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
    <p:bg>
      <p:bgPr>
        <a:solidFill>
          <a:srgbClr val="000000"/>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58368"/>
          </a:xfrm>
          <a:prstGeom prst="rect">
            <a:avLst/>
          </a:prstGeom>
          <a:solidFill>
            <a:srgbClr val="000000"/>
          </a:solidFill>
          <a:ln w="12700">
            <a:solidFill>
              <a:srgbClr val="000000"/>
            </a:solidFill>
            <a:prstDash val="solid"/>
          </a:ln>
        </p:spPr>
      </p:sp>
      <p:sp>
        <p:nvSpPr>
          <p:cNvPr id="3" name="Text 1"/>
          <p:cNvSpPr/>
          <p:nvPr>
            <p:ph idx="101" type="title" hasCustomPrompt="1"/>
          </p:nvPr>
        </p:nvSpPr>
        <p:spPr>
          <a:xfrm>
            <a:off x="320040" y="73152"/>
            <a:ext cx="9966960" cy="512064"/>
          </a:xfrm>
          <a:prstGeom prst="rect">
            <a:avLst/>
          </a:prstGeom>
          <a:noFill/>
          <a:ln/>
        </p:spPr>
        <p:txBody>
          <a:bodyPr wrap="square" rtlCol="0"/>
          <a:lstStyle>
            <a:lvl1pPr algn="l" indent="0" marL="0">
              <a:buNone/>
              <a:defRPr lang="en-US" sz="2400" b="1" dirty="0">
                <a:solidFill>
                  <a:srgbClr val="FFFFFF"/>
                </a:solidFill>
                <a:latin typeface="Consolas" pitchFamily="34" charset="0"/>
                <a:ea typeface="Consolas" pitchFamily="34" charset="-122"/>
                <a:cs typeface="Consolas" pitchFamily="34" charset="-120"/>
              </a:defRPr>
            </a:lvl1pPr>
          </a:lstStyle>
          <a:p>
            <a:pPr algn="l" indent="0" marL="0">
              <a:buNone/>
            </a:pPr>
            <a:endParaRPr lang="en-US" sz="24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5.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5.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5.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5.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5.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5.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5.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5.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5.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5.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5.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914400" y="1051560"/>
            <a:ext cx="10515600" cy="4069080"/>
          </a:xfrm>
          <a:prstGeom prst="rect">
            <a:avLst/>
          </a:prstGeom>
          <a:solidFill>
            <a:srgbClr val="000000"/>
          </a:solidFill>
          <a:ln w="12700">
            <a:solidFill>
              <a:srgbClr val="000000"/>
            </a:solidFill>
            <a:prstDash val="solid"/>
          </a:ln>
        </p:spPr>
      </p:sp>
      <p:sp>
        <p:nvSpPr>
          <p:cNvPr id="3" name="Shape 1"/>
          <p:cNvSpPr/>
          <p:nvPr/>
        </p:nvSpPr>
        <p:spPr>
          <a:xfrm>
            <a:off x="822960" y="960120"/>
            <a:ext cx="10515600" cy="4069080"/>
          </a:xfrm>
          <a:prstGeom prst="rect">
            <a:avLst/>
          </a:prstGeom>
          <a:solidFill>
            <a:srgbClr val="FFFFFF"/>
          </a:solidFill>
          <a:ln w="25400">
            <a:solidFill>
              <a:srgbClr val="000000"/>
            </a:solidFill>
            <a:prstDash val="solid"/>
          </a:ln>
        </p:spPr>
      </p:sp>
      <p:sp>
        <p:nvSpPr>
          <p:cNvPr id="4" name="Shape 2"/>
          <p:cNvSpPr/>
          <p:nvPr/>
        </p:nvSpPr>
        <p:spPr>
          <a:xfrm>
            <a:off x="822960" y="960120"/>
            <a:ext cx="10515600" cy="384048"/>
          </a:xfrm>
          <a:prstGeom prst="rect">
            <a:avLst/>
          </a:prstGeom>
          <a:solidFill>
            <a:srgbClr val="000000"/>
          </a:solidFill>
          <a:ln w="12700">
            <a:solidFill>
              <a:srgbClr val="000000"/>
            </a:solidFill>
            <a:prstDash val="solid"/>
          </a:ln>
        </p:spPr>
      </p:sp>
      <p:sp>
        <p:nvSpPr>
          <p:cNvPr id="5" name="Text 3"/>
          <p:cNvSpPr txBox="1"/>
          <p:nvPr/>
        </p:nvSpPr>
        <p:spPr>
          <a:xfrm>
            <a:off x="1005840" y="960120"/>
            <a:ext cx="1371600" cy="384048"/>
          </a:xfrm>
          <a:prstGeom prst="rect">
            <a:avLst/>
          </a:prstGeom>
          <a:noFill/>
          <a:ln/>
        </p:spPr>
        <p:txBody>
          <a:bodyPr wrap="square" lIns="0" tIns="0" rIns="0" bIns="0" rtlCol="0" anchor="ctr"/>
          <a:lstStyle/>
          <a:p>
            <a:pPr indent="0" marL="0">
              <a:buNone/>
            </a:pPr>
            <a:r>
              <a:rPr lang="en-US" sz="1400" dirty="0">
                <a:solidFill>
                  <a:srgbClr val="FFFFFF"/>
                </a:solidFill>
              </a:rPr>
              <a:t>■ ■ ■</a:t>
            </a:r>
            <a:endParaRPr lang="en-US" sz="1400" dirty="0"/>
          </a:p>
        </p:txBody>
      </p:sp>
      <p:sp>
        <p:nvSpPr>
          <p:cNvPr id="6" name="Text 4"/>
          <p:cNvSpPr txBox="1"/>
          <p:nvPr/>
        </p:nvSpPr>
        <p:spPr>
          <a:xfrm>
            <a:off x="822960" y="960120"/>
            <a:ext cx="10515600" cy="384048"/>
          </a:xfrm>
          <a:prstGeom prst="rect">
            <a:avLst/>
          </a:prstGeom>
          <a:noFill/>
          <a:ln/>
        </p:spPr>
        <p:txBody>
          <a:bodyPr wrap="square" lIns="0" tIns="0" rIns="0" bIns="0" rtlCol="0" anchor="ctr"/>
          <a:lstStyle/>
          <a:p>
            <a:pPr algn="ctr" indent="0" marL="0">
              <a:buNone/>
            </a:pPr>
            <a:r>
              <a:rPr lang="en-US" sz="1400" b="1" dirty="0">
                <a:solidFill>
                  <a:srgbClr val="FFFFFF"/>
                </a:solidFill>
              </a:rPr>
              <a:t>procgen_rl.py</a:t>
            </a:r>
            <a:endParaRPr lang="en-US" sz="1400" dirty="0"/>
          </a:p>
        </p:txBody>
      </p:sp>
      <p:sp>
        <p:nvSpPr>
          <p:cNvPr id="7" name="Text 5"/>
          <p:cNvSpPr txBox="1"/>
          <p:nvPr/>
        </p:nvSpPr>
        <p:spPr>
          <a:xfrm>
            <a:off x="1234440" y="1600200"/>
            <a:ext cx="9692640" cy="777240"/>
          </a:xfrm>
          <a:prstGeom prst="rect">
            <a:avLst/>
          </a:prstGeom>
          <a:noFill/>
          <a:ln/>
        </p:spPr>
        <p:txBody>
          <a:bodyPr wrap="square" lIns="0" tIns="0" rIns="0" bIns="0" rtlCol="0" anchor="ctr"/>
          <a:lstStyle/>
          <a:p>
            <a:pPr indent="0" marL="0">
              <a:buNone/>
            </a:pPr>
            <a:r>
              <a:rPr lang="en-US" sz="4400" b="1" dirty="0">
                <a:solidFill>
                  <a:srgbClr val="000000"/>
                </a:solidFill>
              </a:rPr>
              <a:t>PROCGEN RL</a:t>
            </a:r>
            <a:endParaRPr lang="en-US" sz="4400" dirty="0"/>
          </a:p>
        </p:txBody>
      </p:sp>
      <p:sp>
        <p:nvSpPr>
          <p:cNvPr id="8" name="Text 6"/>
          <p:cNvSpPr txBox="1"/>
          <p:nvPr/>
        </p:nvSpPr>
        <p:spPr>
          <a:xfrm>
            <a:off x="1234440" y="2377440"/>
            <a:ext cx="9692640" cy="457200"/>
          </a:xfrm>
          <a:prstGeom prst="rect">
            <a:avLst/>
          </a:prstGeom>
          <a:noFill/>
          <a:ln/>
        </p:spPr>
        <p:txBody>
          <a:bodyPr wrap="square" lIns="0" tIns="0" rIns="0" bIns="0" rtlCol="0" anchor="ctr"/>
          <a:lstStyle/>
          <a:p>
            <a:pPr indent="0" marL="0">
              <a:buNone/>
            </a:pPr>
            <a:r>
              <a:rPr lang="en-US" sz="2000" dirty="0">
                <a:solidFill>
                  <a:srgbClr val="000000"/>
                </a:solidFill>
              </a:rPr>
              <a:t>Teaching an agent to play levels it has never seen</a:t>
            </a:r>
            <a:endParaRPr lang="en-US" sz="2000" dirty="0"/>
          </a:p>
        </p:txBody>
      </p:sp>
      <p:sp>
        <p:nvSpPr>
          <p:cNvPr id="9" name="Text 7"/>
          <p:cNvSpPr txBox="1"/>
          <p:nvPr/>
        </p:nvSpPr>
        <p:spPr>
          <a:xfrm>
            <a:off x="1234440" y="3063240"/>
            <a:ext cx="9692640" cy="1691640"/>
          </a:xfrm>
          <a:prstGeom prst="rect">
            <a:avLst/>
          </a:prstGeom>
          <a:noFill/>
          <a:ln/>
        </p:spPr>
        <p:txBody>
          <a:bodyPr wrap="square" lIns="0" tIns="0" rIns="0" bIns="0" rtlCol="0" anchor="t"/>
          <a:lstStyle/>
          <a:p>
            <a:pPr indent="0" marL="0">
              <a:spcAft>
                <a:spcPts val="300"/>
              </a:spcAft>
              <a:buNone/>
            </a:pPr>
            <a:r>
              <a:rPr lang="en-US" sz="1600" dirty="0">
                <a:solidFill>
                  <a:srgbClr val="000000"/>
                </a:solidFill>
              </a:rPr>
              <a:t>$ python train.py --hours 300</a:t>
            </a:r>
            <a:endParaRPr lang="en-US" sz="1600" dirty="0"/>
          </a:p>
          <a:p>
            <a:pPr indent="0" marL="0">
              <a:spcAft>
                <a:spcPts val="300"/>
              </a:spcAft>
              <a:buNone/>
            </a:pPr>
            <a:r>
              <a:rPr lang="en-US" sz="1600" dirty="0">
                <a:solidFill>
                  <a:srgbClr val="000000"/>
                </a:solidFill>
              </a:rPr>
              <a:t>&gt; generating levels ............. ok</a:t>
            </a:r>
            <a:endParaRPr lang="en-US" sz="1600" dirty="0"/>
          </a:p>
          <a:p>
            <a:pPr indent="0" marL="0">
              <a:spcAft>
                <a:spcPts val="300"/>
              </a:spcAft>
              <a:buNone/>
            </a:pPr>
            <a:r>
              <a:rPr lang="en-US" sz="1600" dirty="0">
                <a:solidFill>
                  <a:srgbClr val="000000"/>
                </a:solidFill>
              </a:rPr>
              <a:t>&gt; training the agent (PPO) ...... ok</a:t>
            </a:r>
            <a:endParaRPr lang="en-US" sz="1600" dirty="0"/>
          </a:p>
          <a:p>
            <a:pPr indent="0" marL="0">
              <a:spcAft>
                <a:spcPts val="300"/>
              </a:spcAft>
              <a:buNone/>
            </a:pPr>
            <a:r>
              <a:rPr lang="en-US" sz="1600" dirty="0">
                <a:solidFill>
                  <a:srgbClr val="000000"/>
                </a:solidFill>
              </a:rPr>
              <a:t>&gt; explaining its decisions ...... ok</a:t>
            </a:r>
            <a:endParaRPr lang="en-US" sz="1600" dirty="0"/>
          </a:p>
          <a:p>
            <a:pPr indent="0" marL="0">
              <a:spcAft>
                <a:spcPts val="300"/>
              </a:spcAft>
              <a:buNone/>
            </a:pPr>
            <a:r>
              <a:rPr lang="en-US" sz="1600" dirty="0">
                <a:solidFill>
                  <a:srgbClr val="000000"/>
                </a:solidFill>
              </a:rPr>
              <a:t>&gt; racing the ghosts ............. ok </a:t>
            </a:r>
            <a:pPr indent="0" marL="0">
              <a:spcAft>
                <a:spcPts val="300"/>
              </a:spcAft>
              <a:buNone/>
            </a:pPr>
            <a:r>
              <a:rPr lang="en-US" sz="1600" dirty="0">
                <a:solidFill>
                  <a:srgbClr val="000000"/>
                </a:solidFill>
              </a:rPr>
              <a:t>█</a:t>
            </a:r>
            <a:endParaRPr lang="en-US" sz="1600" dirty="0"/>
          </a:p>
        </p:txBody>
      </p:sp>
      <p:sp>
        <p:nvSpPr>
          <p:cNvPr id="10" name="Text 8"/>
          <p:cNvSpPr txBox="1"/>
          <p:nvPr/>
        </p:nvSpPr>
        <p:spPr>
          <a:xfrm>
            <a:off x="822960" y="5486400"/>
            <a:ext cx="10515600" cy="365760"/>
          </a:xfrm>
          <a:prstGeom prst="rect">
            <a:avLst/>
          </a:prstGeom>
          <a:noFill/>
          <a:ln/>
        </p:spPr>
        <p:txBody>
          <a:bodyPr wrap="square" lIns="0" tIns="0" rIns="0" bIns="0" rtlCol="0" anchor="ctr"/>
          <a:lstStyle/>
          <a:p>
            <a:pPr indent="0" marL="0">
              <a:buNone/>
            </a:pPr>
            <a:r>
              <a:rPr lang="en-US" sz="1500" dirty="0">
                <a:solidFill>
                  <a:srgbClr val="000000"/>
                </a:solidFill>
              </a:rPr>
              <a:t>[Your Name]  //  [Course]  //  October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AGENDA</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[ 00 ]</a:t>
            </a:r>
            <a:endParaRPr lang="en-US" sz="1400" dirty="0"/>
          </a:p>
        </p:txBody>
      </p:sp>
      <p:sp>
        <p:nvSpPr>
          <p:cNvPr id="4" name="Shape 2"/>
          <p:cNvSpPr/>
          <p:nvPr/>
        </p:nvSpPr>
        <p:spPr>
          <a:xfrm>
            <a:off x="2176272" y="1490472"/>
            <a:ext cx="7955280" cy="3749040"/>
          </a:xfrm>
          <a:prstGeom prst="rect">
            <a:avLst/>
          </a:prstGeom>
          <a:solidFill>
            <a:srgbClr val="000000"/>
          </a:solidFill>
          <a:ln w="9525">
            <a:solidFill>
              <a:srgbClr val="000000"/>
            </a:solidFill>
            <a:prstDash val="solid"/>
          </a:ln>
        </p:spPr>
      </p:sp>
      <p:sp>
        <p:nvSpPr>
          <p:cNvPr id="5" name="Shape 3"/>
          <p:cNvSpPr/>
          <p:nvPr/>
        </p:nvSpPr>
        <p:spPr>
          <a:xfrm>
            <a:off x="2103120" y="1417320"/>
            <a:ext cx="7955280" cy="3749040"/>
          </a:xfrm>
          <a:prstGeom prst="rect">
            <a:avLst/>
          </a:prstGeom>
          <a:solidFill>
            <a:srgbClr val="FFFFFF"/>
          </a:solidFill>
          <a:ln w="19050">
            <a:solidFill>
              <a:srgbClr val="000000"/>
            </a:solidFill>
            <a:prstDash val="solid"/>
          </a:ln>
        </p:spPr>
      </p:sp>
      <p:sp>
        <p:nvSpPr>
          <p:cNvPr id="6" name="Shape 4"/>
          <p:cNvSpPr/>
          <p:nvPr/>
        </p:nvSpPr>
        <p:spPr>
          <a:xfrm>
            <a:off x="2103120" y="1417320"/>
            <a:ext cx="7955280" cy="347472"/>
          </a:xfrm>
          <a:prstGeom prst="rect">
            <a:avLst/>
          </a:prstGeom>
          <a:solidFill>
            <a:srgbClr val="000000"/>
          </a:solidFill>
          <a:ln w="19050">
            <a:solidFill>
              <a:srgbClr val="000000"/>
            </a:solidFill>
            <a:prstDash val="solid"/>
          </a:ln>
        </p:spPr>
      </p:sp>
      <p:sp>
        <p:nvSpPr>
          <p:cNvPr id="7" name="Text 5"/>
          <p:cNvSpPr txBox="1"/>
          <p:nvPr/>
        </p:nvSpPr>
        <p:spPr>
          <a:xfrm>
            <a:off x="2231136" y="1417320"/>
            <a:ext cx="7699248" cy="347472"/>
          </a:xfrm>
          <a:prstGeom prst="rect">
            <a:avLst/>
          </a:prstGeom>
          <a:noFill/>
          <a:ln/>
        </p:spPr>
        <p:txBody>
          <a:bodyPr wrap="square" lIns="0" tIns="0" rIns="0" bIns="0" rtlCol="0" anchor="ctr"/>
          <a:lstStyle/>
          <a:p>
            <a:pPr algn="l" indent="0" marL="0">
              <a:buNone/>
            </a:pPr>
            <a:r>
              <a:rPr lang="en-US" sz="1300" b="1" dirty="0">
                <a:solidFill>
                  <a:srgbClr val="FFFFFF"/>
                </a:solidFill>
              </a:rPr>
              <a:t>&gt; ls talk/</a:t>
            </a:r>
            <a:endParaRPr lang="en-US" sz="1300" dirty="0"/>
          </a:p>
        </p:txBody>
      </p:sp>
      <p:sp>
        <p:nvSpPr>
          <p:cNvPr id="8" name="Text 6"/>
          <p:cNvSpPr txBox="1"/>
          <p:nvPr/>
        </p:nvSpPr>
        <p:spPr>
          <a:xfrm>
            <a:off x="2267712" y="1874520"/>
            <a:ext cx="7626096" cy="3182112"/>
          </a:xfrm>
          <a:prstGeom prst="rect">
            <a:avLst/>
          </a:prstGeom>
          <a:noFill/>
          <a:ln/>
        </p:spPr>
        <p:txBody>
          <a:bodyPr wrap="square" lIns="0" tIns="0" rIns="0" bIns="0" rtlCol="0" anchor="t"/>
          <a:lstStyle/>
          <a:p>
            <a:pPr indent="0" marL="0">
              <a:spcAft>
                <a:spcPts val="900"/>
              </a:spcAft>
              <a:buNone/>
            </a:pPr>
            <a:r>
              <a:rPr lang="en-US" sz="1700" dirty="0">
                <a:solidFill>
                  <a:srgbClr val="000000"/>
                </a:solidFill>
                <a:latin typeface="Consolas" pitchFamily="34" charset="0"/>
                <a:ea typeface="Consolas" pitchFamily="34" charset="-122"/>
                <a:cs typeface="Consolas" pitchFamily="34" charset="-120"/>
              </a:rPr>
              <a:t>01  the problem: a game it can't memorise</a:t>
            </a:r>
            <a:endParaRPr lang="en-US" sz="1700" dirty="0"/>
          </a:p>
          <a:p>
            <a:pPr indent="0" marL="0">
              <a:spcAft>
                <a:spcPts val="900"/>
              </a:spcAft>
              <a:buNone/>
            </a:pPr>
            <a:r>
              <a:rPr lang="en-US" sz="1700" dirty="0">
                <a:solidFill>
                  <a:srgbClr val="000000"/>
                </a:solidFill>
                <a:latin typeface="Consolas" pitchFamily="34" charset="0"/>
                <a:ea typeface="Consolas" pitchFamily="34" charset="-122"/>
                <a:cs typeface="Consolas" pitchFamily="34" charset="-120"/>
              </a:rPr>
              <a:t>02  what the agent sees: its 847 inputs</a:t>
            </a:r>
            <a:endParaRPr lang="en-US" sz="1700" dirty="0"/>
          </a:p>
          <a:p>
            <a:pPr indent="0" marL="0">
              <a:spcAft>
                <a:spcPts val="900"/>
              </a:spcAft>
              <a:buNone/>
            </a:pPr>
            <a:r>
              <a:rPr lang="en-US" sz="1700" dirty="0">
                <a:solidFill>
                  <a:srgbClr val="000000"/>
                </a:solidFill>
                <a:latin typeface="Consolas" pitchFamily="34" charset="0"/>
                <a:ea typeface="Consolas" pitchFamily="34" charset="-122"/>
                <a:cs typeface="Consolas" pitchFamily="34" charset="-120"/>
              </a:rPr>
              <a:t>03  the model: network and one decision</a:t>
            </a:r>
            <a:endParaRPr lang="en-US" sz="1700" dirty="0"/>
          </a:p>
          <a:p>
            <a:pPr indent="0" marL="0">
              <a:spcAft>
                <a:spcPts val="900"/>
              </a:spcAft>
              <a:buNone/>
            </a:pPr>
            <a:r>
              <a:rPr lang="en-US" sz="1700" dirty="0">
                <a:solidFill>
                  <a:srgbClr val="000000"/>
                </a:solidFill>
                <a:latin typeface="Consolas" pitchFamily="34" charset="0"/>
                <a:ea typeface="Consolas" pitchFamily="34" charset="-122"/>
                <a:cs typeface="Consolas" pitchFamily="34" charset="-120"/>
              </a:rPr>
              <a:t>04  how it learns: reward and PPO</a:t>
            </a:r>
            <a:endParaRPr lang="en-US" sz="1700" dirty="0"/>
          </a:p>
          <a:p>
            <a:pPr indent="0" marL="0">
              <a:spcAft>
                <a:spcPts val="900"/>
              </a:spcAft>
              <a:buNone/>
            </a:pPr>
            <a:r>
              <a:rPr lang="en-US" sz="1700" dirty="0">
                <a:solidFill>
                  <a:srgbClr val="000000"/>
                </a:solidFill>
                <a:latin typeface="Consolas" pitchFamily="34" charset="0"/>
                <a:ea typeface="Consolas" pitchFamily="34" charset="-122"/>
                <a:cs typeface="Consolas" pitchFamily="34" charset="-120"/>
              </a:rPr>
              <a:t>05  opening the black box: debug mode</a:t>
            </a:r>
            <a:endParaRPr lang="en-US" sz="1700" dirty="0"/>
          </a:p>
          <a:p>
            <a:pPr indent="0" marL="0">
              <a:spcAft>
                <a:spcPts val="900"/>
              </a:spcAft>
              <a:buNone/>
            </a:pPr>
            <a:r>
              <a:rPr lang="en-US" sz="1700" dirty="0">
                <a:solidFill>
                  <a:srgbClr val="000000"/>
                </a:solidFill>
                <a:latin typeface="Consolas" pitchFamily="34" charset="0"/>
                <a:ea typeface="Consolas" pitchFamily="34" charset="-122"/>
                <a:cs typeface="Consolas" pitchFamily="34" charset="-120"/>
              </a:rPr>
              <a:t>06  results and generalisation</a:t>
            </a:r>
            <a:endParaRPr lang="en-US" sz="1700" dirty="0"/>
          </a:p>
          <a:p>
            <a:pPr indent="0" marL="0">
              <a:spcAft>
                <a:spcPts val="900"/>
              </a:spcAft>
              <a:buNone/>
            </a:pPr>
            <a:r>
              <a:rPr lang="en-US" sz="1700" dirty="0">
                <a:solidFill>
                  <a:srgbClr val="000000"/>
                </a:solidFill>
                <a:latin typeface="Consolas" pitchFamily="34" charset="0"/>
                <a:ea typeface="Consolas" pitchFamily="34" charset="-122"/>
                <a:cs typeface="Consolas" pitchFamily="34" charset="-120"/>
              </a:rPr>
              <a:t>07  live demo: race the ghosts</a:t>
            </a:r>
            <a:endParaRPr lang="en-US" sz="1700" dirty="0"/>
          </a:p>
        </p:txBody>
      </p:sp>
      <p:sp>
        <p:nvSpPr>
          <p:cNvPr id="10"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agenda</a:t>
            </a:r>
            <a:endParaRPr lang="en-US" sz="900" dirty="0"/>
          </a:p>
        </p:txBody>
      </p:sp>
      <p:sp>
        <p:nvSpPr>
          <p:cNvPr id="11"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[ 01/42 ]</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822960" y="2331720"/>
            <a:ext cx="7315200" cy="365760"/>
          </a:xfrm>
          <a:prstGeom prst="rect">
            <a:avLst/>
          </a:prstGeom>
          <a:noFill/>
          <a:ln/>
        </p:spPr>
        <p:txBody>
          <a:bodyPr wrap="square" lIns="0" tIns="0" rIns="0" bIns="0" rtlCol="0" anchor="ctr"/>
          <a:lstStyle/>
          <a:p>
            <a:pPr indent="0" marL="0">
              <a:buNone/>
            </a:pPr>
            <a:r>
              <a:rPr lang="en-US" sz="1600" dirty="0">
                <a:solidFill>
                  <a:srgbClr val="D9D9D9"/>
                </a:solidFill>
              </a:rPr>
              <a:t>&gt; cd section_01</a:t>
            </a:r>
            <a:endParaRPr lang="en-US" sz="1600" dirty="0"/>
          </a:p>
        </p:txBody>
      </p:sp>
      <p:sp>
        <p:nvSpPr>
          <p:cNvPr id="3" name="Text 1"/>
          <p:cNvSpPr txBox="1"/>
          <p:nvPr/>
        </p:nvSpPr>
        <p:spPr>
          <a:xfrm>
            <a:off x="822960" y="2697480"/>
            <a:ext cx="7315200" cy="1143000"/>
          </a:xfrm>
          <a:prstGeom prst="rect">
            <a:avLst/>
          </a:prstGeom>
          <a:noFill/>
          <a:ln/>
        </p:spPr>
        <p:txBody>
          <a:bodyPr wrap="square" lIns="0" tIns="0" rIns="0" bIns="0" rtlCol="0" anchor="ctr"/>
          <a:lstStyle/>
          <a:p>
            <a:pPr indent="0" marL="0">
              <a:buNone/>
            </a:pPr>
            <a:r>
              <a:rPr lang="en-US" sz="8000" b="1" dirty="0">
                <a:solidFill>
                  <a:srgbClr val="FFFFFF"/>
                </a:solidFill>
              </a:rPr>
              <a:t>01</a:t>
            </a:r>
            <a:endParaRPr lang="en-US" sz="8000" dirty="0"/>
          </a:p>
        </p:txBody>
      </p:sp>
      <p:sp>
        <p:nvSpPr>
          <p:cNvPr id="4" name="Text 2"/>
          <p:cNvSpPr txBox="1"/>
          <p:nvPr/>
        </p:nvSpPr>
        <p:spPr>
          <a:xfrm>
            <a:off x="822960" y="3840480"/>
            <a:ext cx="10515600" cy="685800"/>
          </a:xfrm>
          <a:prstGeom prst="rect">
            <a:avLst/>
          </a:prstGeom>
          <a:noFill/>
          <a:ln/>
        </p:spPr>
        <p:txBody>
          <a:bodyPr wrap="square" lIns="0" tIns="0" rIns="0" bIns="0" rtlCol="0" anchor="ctr"/>
          <a:lstStyle/>
          <a:p>
            <a:pPr indent="0" marL="0">
              <a:buNone/>
            </a:pPr>
            <a:r>
              <a:rPr lang="en-US" sz="3400" b="1" dirty="0">
                <a:solidFill>
                  <a:srgbClr val="FFFFFF"/>
                </a:solidFill>
              </a:rPr>
              <a:t>THE PROBLEM</a:t>
            </a:r>
            <a:pPr indent="0" marL="0">
              <a:buNone/>
            </a:pPr>
            <a:r>
              <a:rPr lang="en-US" sz="3400" b="1" dirty="0">
                <a:solidFill>
                  <a:srgbClr val="FFFFFF"/>
                </a:solidFill>
              </a:rPr>
              <a:t>█</a:t>
            </a:r>
            <a:endParaRPr lang="en-US" sz="3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RL IN ONE SLIDE</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[ 01 ]</a:t>
            </a:r>
            <a:endParaRPr lang="en-US" sz="1400" dirty="0"/>
          </a:p>
        </p:txBody>
      </p:sp>
      <p:sp>
        <p:nvSpPr>
          <p:cNvPr id="4" name="Shape 2"/>
          <p:cNvSpPr/>
          <p:nvPr/>
        </p:nvSpPr>
        <p:spPr>
          <a:xfrm>
            <a:off x="621792" y="1216152"/>
            <a:ext cx="2286000" cy="1325880"/>
          </a:xfrm>
          <a:prstGeom prst="rect">
            <a:avLst/>
          </a:prstGeom>
          <a:solidFill>
            <a:srgbClr val="000000"/>
          </a:solidFill>
          <a:ln w="9525">
            <a:solidFill>
              <a:srgbClr val="000000"/>
            </a:solidFill>
            <a:prstDash val="solid"/>
          </a:ln>
        </p:spPr>
      </p:sp>
      <p:sp>
        <p:nvSpPr>
          <p:cNvPr id="5" name="Shape 3"/>
          <p:cNvSpPr/>
          <p:nvPr/>
        </p:nvSpPr>
        <p:spPr>
          <a:xfrm>
            <a:off x="548640" y="1143000"/>
            <a:ext cx="2286000" cy="1325880"/>
          </a:xfrm>
          <a:prstGeom prst="rect">
            <a:avLst/>
          </a:prstGeom>
          <a:solidFill>
            <a:srgbClr val="FFFFFF"/>
          </a:solidFill>
          <a:ln w="19050">
            <a:solidFill>
              <a:srgbClr val="000000"/>
            </a:solidFill>
            <a:prstDash val="solid"/>
          </a:ln>
        </p:spPr>
      </p:sp>
      <p:sp>
        <p:nvSpPr>
          <p:cNvPr id="6" name="Shape 4"/>
          <p:cNvSpPr/>
          <p:nvPr/>
        </p:nvSpPr>
        <p:spPr>
          <a:xfrm>
            <a:off x="548640" y="1143000"/>
            <a:ext cx="2286000" cy="347472"/>
          </a:xfrm>
          <a:prstGeom prst="rect">
            <a:avLst/>
          </a:prstGeom>
          <a:solidFill>
            <a:srgbClr val="000000"/>
          </a:solidFill>
          <a:ln w="19050">
            <a:solidFill>
              <a:srgbClr val="000000"/>
            </a:solidFill>
            <a:prstDash val="solid"/>
          </a:ln>
        </p:spPr>
      </p:sp>
      <p:sp>
        <p:nvSpPr>
          <p:cNvPr id="7" name="Text 5"/>
          <p:cNvSpPr txBox="1"/>
          <p:nvPr/>
        </p:nvSpPr>
        <p:spPr>
          <a:xfrm>
            <a:off x="676656" y="1143000"/>
            <a:ext cx="2029968" cy="347472"/>
          </a:xfrm>
          <a:prstGeom prst="rect">
            <a:avLst/>
          </a:prstGeom>
          <a:noFill/>
          <a:ln/>
        </p:spPr>
        <p:txBody>
          <a:bodyPr wrap="square" lIns="0" tIns="0" rIns="0" bIns="0" rtlCol="0" anchor="ctr"/>
          <a:lstStyle/>
          <a:p>
            <a:pPr algn="l" indent="0" marL="0">
              <a:buNone/>
            </a:pPr>
            <a:r>
              <a:rPr lang="en-US" sz="1300" b="1" dirty="0">
                <a:solidFill>
                  <a:srgbClr val="FFFFFF"/>
                </a:solidFill>
              </a:rPr>
              <a:t>&gt; agent</a:t>
            </a:r>
            <a:endParaRPr lang="en-US" sz="1300" dirty="0"/>
          </a:p>
        </p:txBody>
      </p:sp>
      <p:sp>
        <p:nvSpPr>
          <p:cNvPr id="8" name="Text 6"/>
          <p:cNvSpPr txBox="1"/>
          <p:nvPr/>
        </p:nvSpPr>
        <p:spPr>
          <a:xfrm>
            <a:off x="713232" y="1600200"/>
            <a:ext cx="1956816" cy="758952"/>
          </a:xfrm>
          <a:prstGeom prst="rect">
            <a:avLst/>
          </a:prstGeom>
          <a:noFill/>
          <a:ln/>
        </p:spPr>
        <p:txBody>
          <a:bodyPr wrap="square" lIns="0" tIns="0" rIns="0" bIns="0" rtlCol="0" anchor="t"/>
          <a:lstStyle/>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neural network</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(the policy)</a:t>
            </a:r>
            <a:endParaRPr lang="en-US" sz="1400" dirty="0"/>
          </a:p>
        </p:txBody>
      </p:sp>
      <p:sp>
        <p:nvSpPr>
          <p:cNvPr id="9" name="Shape 7"/>
          <p:cNvSpPr/>
          <p:nvPr/>
        </p:nvSpPr>
        <p:spPr>
          <a:xfrm>
            <a:off x="4873752" y="1216152"/>
            <a:ext cx="2286000" cy="1325880"/>
          </a:xfrm>
          <a:prstGeom prst="rect">
            <a:avLst/>
          </a:prstGeom>
          <a:solidFill>
            <a:srgbClr val="000000"/>
          </a:solidFill>
          <a:ln w="9525">
            <a:solidFill>
              <a:srgbClr val="000000"/>
            </a:solidFill>
            <a:prstDash val="solid"/>
          </a:ln>
        </p:spPr>
      </p:sp>
      <p:sp>
        <p:nvSpPr>
          <p:cNvPr id="10" name="Shape 8"/>
          <p:cNvSpPr/>
          <p:nvPr/>
        </p:nvSpPr>
        <p:spPr>
          <a:xfrm>
            <a:off x="4800600" y="1143000"/>
            <a:ext cx="2286000" cy="1325880"/>
          </a:xfrm>
          <a:prstGeom prst="rect">
            <a:avLst/>
          </a:prstGeom>
          <a:solidFill>
            <a:srgbClr val="FFFFFF"/>
          </a:solidFill>
          <a:ln w="19050">
            <a:solidFill>
              <a:srgbClr val="000000"/>
            </a:solidFill>
            <a:prstDash val="solid"/>
          </a:ln>
        </p:spPr>
      </p:sp>
      <p:sp>
        <p:nvSpPr>
          <p:cNvPr id="11" name="Shape 9"/>
          <p:cNvSpPr/>
          <p:nvPr/>
        </p:nvSpPr>
        <p:spPr>
          <a:xfrm>
            <a:off x="4800600" y="1143000"/>
            <a:ext cx="2286000" cy="347472"/>
          </a:xfrm>
          <a:prstGeom prst="rect">
            <a:avLst/>
          </a:prstGeom>
          <a:solidFill>
            <a:srgbClr val="000000"/>
          </a:solidFill>
          <a:ln w="19050">
            <a:solidFill>
              <a:srgbClr val="000000"/>
            </a:solidFill>
            <a:prstDash val="solid"/>
          </a:ln>
        </p:spPr>
      </p:sp>
      <p:sp>
        <p:nvSpPr>
          <p:cNvPr id="12" name="Text 10"/>
          <p:cNvSpPr txBox="1"/>
          <p:nvPr/>
        </p:nvSpPr>
        <p:spPr>
          <a:xfrm>
            <a:off x="4928616" y="1143000"/>
            <a:ext cx="2029968" cy="347472"/>
          </a:xfrm>
          <a:prstGeom prst="rect">
            <a:avLst/>
          </a:prstGeom>
          <a:noFill/>
          <a:ln/>
        </p:spPr>
        <p:txBody>
          <a:bodyPr wrap="square" lIns="0" tIns="0" rIns="0" bIns="0" rtlCol="0" anchor="ctr"/>
          <a:lstStyle/>
          <a:p>
            <a:pPr algn="l" indent="0" marL="0">
              <a:buNone/>
            </a:pPr>
            <a:r>
              <a:rPr lang="en-US" sz="1300" b="1" dirty="0">
                <a:solidFill>
                  <a:srgbClr val="FFFFFF"/>
                </a:solidFill>
              </a:rPr>
              <a:t>&gt; game</a:t>
            </a:r>
            <a:endParaRPr lang="en-US" sz="1300" dirty="0"/>
          </a:p>
        </p:txBody>
      </p:sp>
      <p:sp>
        <p:nvSpPr>
          <p:cNvPr id="13" name="Text 11"/>
          <p:cNvSpPr txBox="1"/>
          <p:nvPr/>
        </p:nvSpPr>
        <p:spPr>
          <a:xfrm>
            <a:off x="4965192" y="1600200"/>
            <a:ext cx="1956816" cy="758952"/>
          </a:xfrm>
          <a:prstGeom prst="rect">
            <a:avLst/>
          </a:prstGeom>
          <a:noFill/>
          <a:ln/>
        </p:spPr>
        <p:txBody>
          <a:bodyPr wrap="square" lIns="0" tIns="0" rIns="0" bIns="0" rtlCol="0" anchor="t"/>
          <a:lstStyle/>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level + physics</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60 frames / s</a:t>
            </a:r>
            <a:endParaRPr lang="en-US" sz="1400" dirty="0"/>
          </a:p>
        </p:txBody>
      </p:sp>
      <p:sp>
        <p:nvSpPr>
          <p:cNvPr id="14" name="Shape 12"/>
          <p:cNvSpPr/>
          <p:nvPr/>
        </p:nvSpPr>
        <p:spPr>
          <a:xfrm>
            <a:off x="2926080" y="1600200"/>
            <a:ext cx="1783080" cy="914"/>
          </a:xfrm>
          <a:prstGeom prst="line">
            <a:avLst/>
          </a:prstGeom>
          <a:noFill/>
          <a:ln w="22225">
            <a:solidFill>
              <a:srgbClr val="000000"/>
            </a:solidFill>
            <a:prstDash val="solid"/>
            <a:tailEnd type="triangle"/>
          </a:ln>
        </p:spPr>
      </p:sp>
      <p:sp>
        <p:nvSpPr>
          <p:cNvPr id="15" name="Text 13"/>
          <p:cNvSpPr txBox="1"/>
          <p:nvPr/>
        </p:nvSpPr>
        <p:spPr>
          <a:xfrm>
            <a:off x="2926080" y="1271016"/>
            <a:ext cx="1783080" cy="292608"/>
          </a:xfrm>
          <a:prstGeom prst="rect">
            <a:avLst/>
          </a:prstGeom>
          <a:noFill/>
          <a:ln/>
        </p:spPr>
        <p:txBody>
          <a:bodyPr wrap="square" lIns="0" tIns="0" rIns="0" bIns="0" rtlCol="0" anchor="ctr"/>
          <a:lstStyle/>
          <a:p>
            <a:pPr algn="ctr" indent="0" marL="0">
              <a:buNone/>
            </a:pPr>
            <a:r>
              <a:rPr lang="en-US" sz="1100" dirty="0">
                <a:solidFill>
                  <a:srgbClr val="000000"/>
                </a:solidFill>
              </a:rPr>
              <a:t>action: 1 of 6</a:t>
            </a:r>
            <a:endParaRPr lang="en-US" sz="1100" dirty="0"/>
          </a:p>
        </p:txBody>
      </p:sp>
      <p:sp>
        <p:nvSpPr>
          <p:cNvPr id="16" name="Shape 14"/>
          <p:cNvSpPr/>
          <p:nvPr/>
        </p:nvSpPr>
        <p:spPr>
          <a:xfrm flipH="1">
            <a:off x="2926080" y="2103120"/>
            <a:ext cx="1783080" cy="914"/>
          </a:xfrm>
          <a:prstGeom prst="line">
            <a:avLst/>
          </a:prstGeom>
          <a:noFill/>
          <a:ln w="22225">
            <a:solidFill>
              <a:srgbClr val="000000"/>
            </a:solidFill>
            <a:prstDash val="solid"/>
            <a:tailEnd type="triangle"/>
          </a:ln>
        </p:spPr>
      </p:sp>
      <p:sp>
        <p:nvSpPr>
          <p:cNvPr id="17" name="Text 15"/>
          <p:cNvSpPr txBox="1"/>
          <p:nvPr/>
        </p:nvSpPr>
        <p:spPr>
          <a:xfrm>
            <a:off x="2926080" y="2139696"/>
            <a:ext cx="1783080" cy="292608"/>
          </a:xfrm>
          <a:prstGeom prst="rect">
            <a:avLst/>
          </a:prstGeom>
          <a:noFill/>
          <a:ln/>
        </p:spPr>
        <p:txBody>
          <a:bodyPr wrap="square" lIns="0" tIns="0" rIns="0" bIns="0" rtlCol="0" anchor="ctr"/>
          <a:lstStyle/>
          <a:p>
            <a:pPr algn="ctr" indent="0" marL="0">
              <a:buNone/>
            </a:pPr>
            <a:r>
              <a:rPr lang="en-US" sz="1100" dirty="0">
                <a:solidFill>
                  <a:srgbClr val="000000"/>
                </a:solidFill>
              </a:rPr>
              <a:t>what it sees + reward</a:t>
            </a:r>
            <a:endParaRPr lang="en-US" sz="1100" dirty="0"/>
          </a:p>
        </p:txBody>
      </p:sp>
      <p:sp>
        <p:nvSpPr>
          <p:cNvPr id="18" name="Text 16"/>
          <p:cNvSpPr txBox="1"/>
          <p:nvPr/>
        </p:nvSpPr>
        <p:spPr>
          <a:xfrm>
            <a:off x="548640" y="2971800"/>
            <a:ext cx="6675120" cy="2926080"/>
          </a:xfrm>
          <a:prstGeom prst="rect">
            <a:avLst/>
          </a:prstGeom>
          <a:noFill/>
          <a:ln/>
        </p:spPr>
        <p:txBody>
          <a:bodyPr wrap="square" lIns="0" tIns="0" rIns="0" bIns="0" rtlCol="0" anchor="t"/>
          <a:lstStyle/>
          <a:p>
            <a:pPr marL="254000" indent="-254000">
              <a:spcAft>
                <a:spcPts val="700"/>
              </a:spcAft>
              <a:buSzPct val="100000"/>
              <a:buChar char="&gt;"/>
            </a:pPr>
            <a:r>
              <a:rPr lang="en-US" b="1" dirty="0">
                <a:solidFill>
                  <a:srgbClr val="000000"/>
                </a:solidFill>
              </a:rPr>
              <a:t>agent</a:t>
            </a:r>
            <a:pPr indent="0" marL="0">
              <a:spcAft>
                <a:spcPts val="700"/>
              </a:spcAft>
              <a:buNone/>
            </a:pPr>
            <a:r>
              <a:rPr lang="en-US" dirty="0">
                <a:solidFill>
                  <a:srgbClr val="000000"/>
                </a:solidFill>
              </a:rPr>
              <a:t>        the player the network controls</a:t>
            </a:r>
            <a:endParaRPr lang="en-US" dirty="0"/>
          </a:p>
          <a:p>
            <a:pPr marL="254000" indent="-254000">
              <a:spcAft>
                <a:spcPts val="700"/>
              </a:spcAft>
              <a:buSzPct val="100000"/>
              <a:buChar char="&gt;"/>
            </a:pPr>
            <a:r>
              <a:rPr lang="en-US" b="1" dirty="0">
                <a:solidFill>
                  <a:srgbClr val="000000"/>
                </a:solidFill>
              </a:rPr>
              <a:t>observation</a:t>
            </a:r>
            <a:pPr indent="0" marL="0">
              <a:spcAft>
                <a:spcPts val="700"/>
              </a:spcAft>
              <a:buNone/>
            </a:pPr>
            <a:r>
              <a:rPr lang="en-US" dirty="0">
                <a:solidFill>
                  <a:srgbClr val="000000"/>
                </a:solidFill>
              </a:rPr>
              <a:t>  what it sees: 847 numbers</a:t>
            </a:r>
            <a:endParaRPr lang="en-US" dirty="0"/>
          </a:p>
          <a:p>
            <a:pPr marL="254000" indent="-254000">
              <a:spcAft>
                <a:spcPts val="700"/>
              </a:spcAft>
              <a:buSzPct val="100000"/>
              <a:buChar char="&gt;"/>
            </a:pPr>
            <a:r>
              <a:rPr lang="en-US" b="1" dirty="0">
                <a:solidFill>
                  <a:srgbClr val="000000"/>
                </a:solidFill>
              </a:rPr>
              <a:t>action</a:t>
            </a:r>
            <a:pPr indent="0" marL="0">
              <a:spcAft>
                <a:spcPts val="700"/>
              </a:spcAft>
              <a:buNone/>
            </a:pPr>
            <a:r>
              <a:rPr lang="en-US" dirty="0">
                <a:solidFill>
                  <a:srgbClr val="000000"/>
                </a:solidFill>
              </a:rPr>
              <a:t>       one of 6 button combinations</a:t>
            </a:r>
            <a:endParaRPr lang="en-US" dirty="0"/>
          </a:p>
          <a:p>
            <a:pPr marL="254000" indent="-254000">
              <a:spcAft>
                <a:spcPts val="700"/>
              </a:spcAft>
              <a:buSzPct val="100000"/>
              <a:buChar char="&gt;"/>
            </a:pPr>
            <a:r>
              <a:rPr lang="en-US" b="1" dirty="0">
                <a:solidFill>
                  <a:srgbClr val="000000"/>
                </a:solidFill>
              </a:rPr>
              <a:t>reward</a:t>
            </a:r>
            <a:pPr indent="0" marL="0">
              <a:spcAft>
                <a:spcPts val="700"/>
              </a:spcAft>
              <a:buNone/>
            </a:pPr>
            <a:r>
              <a:rPr lang="en-US" dirty="0">
                <a:solidFill>
                  <a:srgbClr val="000000"/>
                </a:solidFill>
              </a:rPr>
              <a:t>       points: + progress, - dying, + flag</a:t>
            </a:r>
            <a:endParaRPr lang="en-US" dirty="0"/>
          </a:p>
          <a:p>
            <a:pPr marL="254000" indent="-254000">
              <a:spcAft>
                <a:spcPts val="700"/>
              </a:spcAft>
              <a:buSzPct val="100000"/>
              <a:buChar char="&gt;"/>
            </a:pPr>
            <a:r>
              <a:rPr lang="en-US" b="1" dirty="0">
                <a:solidFill>
                  <a:srgbClr val="000000"/>
                </a:solidFill>
              </a:rPr>
              <a:t>episode</a:t>
            </a:r>
            <a:pPr indent="0" marL="0">
              <a:spcAft>
                <a:spcPts val="700"/>
              </a:spcAft>
              <a:buNone/>
            </a:pPr>
            <a:r>
              <a:rPr lang="en-US" dirty="0">
                <a:solidFill>
                  <a:srgbClr val="000000"/>
                </a:solidFill>
              </a:rPr>
              <a:t>      one attempt at one level</a:t>
            </a:r>
            <a:endParaRPr lang="en-US" dirty="0"/>
          </a:p>
          <a:p>
            <a:pPr marL="254000" indent="-254000">
              <a:spcAft>
                <a:spcPts val="700"/>
              </a:spcAft>
              <a:buSzPct val="100000"/>
              <a:buChar char="&gt;"/>
            </a:pPr>
            <a:r>
              <a:rPr lang="en-US" b="1" dirty="0">
                <a:solidFill>
                  <a:srgbClr val="000000"/>
                </a:solidFill>
              </a:rPr>
              <a:t>policy</a:t>
            </a:r>
            <a:pPr indent="0" marL="0">
              <a:spcAft>
                <a:spcPts val="700"/>
              </a:spcAft>
              <a:buNone/>
            </a:pPr>
            <a:r>
              <a:rPr lang="en-US" dirty="0">
                <a:solidFill>
                  <a:srgbClr val="000000"/>
                </a:solidFill>
              </a:rPr>
              <a:t>       the rule from observation to action</a:t>
            </a:r>
            <a:endParaRPr lang="en-US" dirty="0"/>
          </a:p>
        </p:txBody>
      </p:sp>
      <p:sp>
        <p:nvSpPr>
          <p:cNvPr id="19" name="Shape 17"/>
          <p:cNvSpPr/>
          <p:nvPr/>
        </p:nvSpPr>
        <p:spPr>
          <a:xfrm>
            <a:off x="7754112" y="1216152"/>
            <a:ext cx="4069080" cy="3337560"/>
          </a:xfrm>
          <a:prstGeom prst="rect">
            <a:avLst/>
          </a:prstGeom>
          <a:solidFill>
            <a:srgbClr val="000000"/>
          </a:solidFill>
          <a:ln w="9525">
            <a:solidFill>
              <a:srgbClr val="000000"/>
            </a:solidFill>
            <a:prstDash val="solid"/>
          </a:ln>
        </p:spPr>
      </p:sp>
      <p:sp>
        <p:nvSpPr>
          <p:cNvPr id="20" name="Shape 18"/>
          <p:cNvSpPr/>
          <p:nvPr/>
        </p:nvSpPr>
        <p:spPr>
          <a:xfrm>
            <a:off x="7680960" y="1143000"/>
            <a:ext cx="4069080" cy="3337560"/>
          </a:xfrm>
          <a:prstGeom prst="rect">
            <a:avLst/>
          </a:prstGeom>
          <a:solidFill>
            <a:srgbClr val="FFFFFF"/>
          </a:solidFill>
          <a:ln w="19050">
            <a:solidFill>
              <a:srgbClr val="000000"/>
            </a:solidFill>
            <a:prstDash val="solid"/>
          </a:ln>
        </p:spPr>
      </p:sp>
      <p:sp>
        <p:nvSpPr>
          <p:cNvPr id="21" name="Shape 19"/>
          <p:cNvSpPr/>
          <p:nvPr/>
        </p:nvSpPr>
        <p:spPr>
          <a:xfrm>
            <a:off x="7680960" y="1143000"/>
            <a:ext cx="4069080" cy="347472"/>
          </a:xfrm>
          <a:prstGeom prst="rect">
            <a:avLst/>
          </a:prstGeom>
          <a:solidFill>
            <a:srgbClr val="000000"/>
          </a:solidFill>
          <a:ln w="19050">
            <a:solidFill>
              <a:srgbClr val="000000"/>
            </a:solidFill>
            <a:prstDash val="solid"/>
          </a:ln>
        </p:spPr>
      </p:sp>
      <p:sp>
        <p:nvSpPr>
          <p:cNvPr id="22" name="Text 20"/>
          <p:cNvSpPr txBox="1"/>
          <p:nvPr/>
        </p:nvSpPr>
        <p:spPr>
          <a:xfrm>
            <a:off x="7808976" y="1143000"/>
            <a:ext cx="3813048" cy="347472"/>
          </a:xfrm>
          <a:prstGeom prst="rect">
            <a:avLst/>
          </a:prstGeom>
          <a:noFill/>
          <a:ln/>
        </p:spPr>
        <p:txBody>
          <a:bodyPr wrap="square" lIns="0" tIns="0" rIns="0" bIns="0" rtlCol="0" anchor="ctr"/>
          <a:lstStyle/>
          <a:p>
            <a:pPr algn="l" indent="0" marL="0">
              <a:buNone/>
            </a:pPr>
            <a:r>
              <a:rPr lang="en-US" sz="1300" b="1" dirty="0">
                <a:solidFill>
                  <a:srgbClr val="FFFFFF"/>
                </a:solidFill>
              </a:rPr>
              <a:t>&gt; in plain words</a:t>
            </a:r>
            <a:endParaRPr lang="en-US" sz="1300" dirty="0"/>
          </a:p>
        </p:txBody>
      </p:sp>
      <p:sp>
        <p:nvSpPr>
          <p:cNvPr id="23" name="Text 21"/>
          <p:cNvSpPr txBox="1"/>
          <p:nvPr/>
        </p:nvSpPr>
        <p:spPr>
          <a:xfrm>
            <a:off x="7845552" y="1600200"/>
            <a:ext cx="3739896" cy="2770632"/>
          </a:xfrm>
          <a:prstGeom prst="rect">
            <a:avLst/>
          </a:prstGeom>
          <a:noFill/>
          <a:ln/>
        </p:spPr>
        <p:txBody>
          <a:bodyPr wrap="square" lIns="0" tIns="0" rIns="0" bIns="0" rtlCol="0" anchor="t"/>
          <a:lstStyle/>
          <a:p>
            <a:pPr indent="0" marL="0">
              <a:spcAft>
                <a:spcPts val="200"/>
              </a:spcAft>
              <a:buNone/>
            </a:pPr>
            <a:r>
              <a:rPr lang="en-US" sz="1400" dirty="0">
                <a:solidFill>
                  <a:srgbClr val="000000"/>
                </a:solidFill>
                <a:latin typeface="Consolas" pitchFamily="34" charset="0"/>
                <a:ea typeface="Consolas" pitchFamily="34" charset="-122"/>
                <a:cs typeface="Consolas" pitchFamily="34" charset="-120"/>
              </a:rPr>
              <a:t>Nobody tells the agent how to play.</a:t>
            </a:r>
            <a:endParaRPr lang="en-US" sz="1400" dirty="0"/>
          </a:p>
          <a:p>
            <a:pPr indent="0" marL="0">
              <a:spcAft>
                <a:spcPts val="200"/>
              </a:spcAft>
              <a:buNone/>
            </a:pPr>
            <a:r>
              <a:rPr lang="en-US" sz="1400" dirty="0">
                <a:solidFill>
                  <a:srgbClr val="000000"/>
                </a:solidFill>
                <a:latin typeface="Consolas" pitchFamily="34" charset="0"/>
                <a:ea typeface="Consolas" pitchFamily="34" charset="-122"/>
                <a:cs typeface="Consolas" pitchFamily="34" charset="-120"/>
              </a:rPr>
              <a:t> </a:t>
            </a:r>
            <a:endParaRPr lang="en-US" sz="1400" dirty="0"/>
          </a:p>
          <a:p>
            <a:pPr indent="0" marL="0">
              <a:spcAft>
                <a:spcPts val="200"/>
              </a:spcAft>
              <a:buNone/>
            </a:pPr>
            <a:r>
              <a:rPr lang="en-US" sz="1400" dirty="0">
                <a:solidFill>
                  <a:srgbClr val="000000"/>
                </a:solidFill>
                <a:latin typeface="Consolas" pitchFamily="34" charset="0"/>
                <a:ea typeface="Consolas" pitchFamily="34" charset="-122"/>
                <a:cs typeface="Consolas" pitchFamily="34" charset="-120"/>
              </a:rPr>
              <a:t>It starts by pressing random buttons. Actions that led to more points become more likely; actions that led to dying become less likely.</a:t>
            </a:r>
            <a:endParaRPr lang="en-US" sz="1400" dirty="0"/>
          </a:p>
          <a:p>
            <a:pPr indent="0" marL="0">
              <a:spcAft>
                <a:spcPts val="200"/>
              </a:spcAft>
              <a:buNone/>
            </a:pPr>
            <a:r>
              <a:rPr lang="en-US" sz="1400" dirty="0">
                <a:solidFill>
                  <a:srgbClr val="000000"/>
                </a:solidFill>
                <a:latin typeface="Consolas" pitchFamily="34" charset="0"/>
                <a:ea typeface="Consolas" pitchFamily="34" charset="-122"/>
                <a:cs typeface="Consolas" pitchFamily="34" charset="-120"/>
              </a:rPr>
              <a:t> </a:t>
            </a:r>
            <a:endParaRPr lang="en-US" sz="1400" dirty="0"/>
          </a:p>
          <a:p>
            <a:pPr indent="0" marL="0">
              <a:spcAft>
                <a:spcPts val="200"/>
              </a:spcAft>
              <a:buNone/>
            </a:pPr>
            <a:r>
              <a:rPr lang="en-US" sz="1400" dirty="0">
                <a:solidFill>
                  <a:srgbClr val="000000"/>
                </a:solidFill>
                <a:latin typeface="Consolas" pitchFamily="34" charset="0"/>
                <a:ea typeface="Consolas" pitchFamily="34" charset="-122"/>
                <a:cs typeface="Consolas" pitchFamily="34" charset="-120"/>
              </a:rPr>
              <a:t>Repeat 16 million times.</a:t>
            </a:r>
            <a:endParaRPr lang="en-US" sz="1400" dirty="0"/>
          </a:p>
        </p:txBody>
      </p:sp>
      <p:sp>
        <p:nvSpPr>
          <p:cNvPr id="24" name="Shape 22"/>
          <p:cNvSpPr/>
          <p:nvPr/>
        </p:nvSpPr>
        <p:spPr>
          <a:xfrm>
            <a:off x="7680960" y="4846320"/>
            <a:ext cx="4142232" cy="548640"/>
          </a:xfrm>
          <a:prstGeom prst="rect">
            <a:avLst/>
          </a:prstGeom>
          <a:solidFill>
            <a:srgbClr val="000000"/>
          </a:solidFill>
          <a:ln w="12700">
            <a:solidFill>
              <a:srgbClr val="000000"/>
            </a:solidFill>
            <a:prstDash val="solid"/>
          </a:ln>
        </p:spPr>
      </p:sp>
      <p:sp>
        <p:nvSpPr>
          <p:cNvPr id="25" name="Text 23"/>
          <p:cNvSpPr txBox="1"/>
          <p:nvPr/>
        </p:nvSpPr>
        <p:spPr>
          <a:xfrm>
            <a:off x="7818120" y="4846320"/>
            <a:ext cx="3867912" cy="548640"/>
          </a:xfrm>
          <a:prstGeom prst="rect">
            <a:avLst/>
          </a:prstGeom>
          <a:noFill/>
          <a:ln/>
        </p:spPr>
        <p:txBody>
          <a:bodyPr wrap="square" lIns="0" tIns="0" rIns="0" bIns="0" rtlCol="0" anchor="ctr"/>
          <a:lstStyle/>
          <a:p>
            <a:pPr algn="ctr" indent="0" marL="0">
              <a:buNone/>
            </a:pPr>
            <a:r>
              <a:rPr lang="en-US" sz="1600" b="1" dirty="0">
                <a:solidFill>
                  <a:srgbClr val="FFFFFF"/>
                </a:solidFill>
              </a:rPr>
              <a:t>trial and error, at scale</a:t>
            </a:r>
            <a:endParaRPr lang="en-US" sz="1600" dirty="0"/>
          </a:p>
        </p:txBody>
      </p:sp>
      <p:sp>
        <p:nvSpPr>
          <p:cNvPr id="27"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the problem</a:t>
            </a:r>
            <a:endParaRPr lang="en-US" sz="900" dirty="0"/>
          </a:p>
        </p:txBody>
      </p:sp>
      <p:sp>
        <p:nvSpPr>
          <p:cNvPr id="28"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[ 03/42 ]</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THE GAME</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[ 01 ]</a:t>
            </a:r>
            <a:endParaRPr lang="en-US" sz="1400" dirty="0"/>
          </a:p>
        </p:txBody>
      </p:sp>
      <p:pic>
        <p:nvPicPr>
          <p:cNvPr id="4" name="01_level_gallery.png" descr="C:/Users/dynam/Desktop/rl da3/ProcGen_RL/runs/presentation/01_level_gallery.png">    </p:cNvPr>
          <p:cNvPicPr>
            <a:picLocks noChangeAspect="1"/>
          </p:cNvPicPr>
          <p:nvPr/>
        </p:nvPicPr>
        <p:blipFill>
          <a:blip r:embed="rId1"/>
          <a:stretch>
            <a:fillRect/>
          </a:stretch>
        </p:blipFill>
        <p:spPr>
          <a:xfrm>
            <a:off x="457200" y="914400"/>
            <a:ext cx="5793493" cy="5074920"/>
          </a:xfrm>
          <a:prstGeom prst="rect">
            <a:avLst/>
          </a:prstGeom>
        </p:spPr>
      </p:pic>
      <p:sp>
        <p:nvSpPr>
          <p:cNvPr id="5" name="Shape 2"/>
          <p:cNvSpPr/>
          <p:nvPr/>
        </p:nvSpPr>
        <p:spPr>
          <a:xfrm>
            <a:off x="457200" y="914400"/>
            <a:ext cx="5793493" cy="5074920"/>
          </a:xfrm>
          <a:prstGeom prst="rect">
            <a:avLst/>
          </a:prstGeom>
          <a:ln w="12700">
            <a:solidFill>
              <a:srgbClr val="000000"/>
            </a:solidFill>
            <a:prstDash val="solid"/>
          </a:ln>
        </p:spPr>
      </p:sp>
      <p:sp>
        <p:nvSpPr>
          <p:cNvPr id="6" name="Text 3"/>
          <p:cNvSpPr txBox="1"/>
          <p:nvPr/>
        </p:nvSpPr>
        <p:spPr>
          <a:xfrm>
            <a:off x="6675120" y="1097280"/>
            <a:ext cx="5074920" cy="4206240"/>
          </a:xfrm>
          <a:prstGeom prst="rect">
            <a:avLst/>
          </a:prstGeom>
          <a:noFill/>
          <a:ln/>
        </p:spPr>
        <p:txBody>
          <a:bodyPr wrap="square" lIns="0" tIns="0" rIns="0" bIns="0" rtlCol="0" anchor="t"/>
          <a:lstStyle/>
          <a:p>
            <a:pPr marL="254000" indent="-254000">
              <a:spcAft>
                <a:spcPts val="1000"/>
              </a:spcAft>
              <a:buSzPct val="100000"/>
              <a:buChar char="&gt;"/>
            </a:pPr>
            <a:r>
              <a:rPr lang="en-US" b="1" dirty="0">
                <a:solidFill>
                  <a:srgbClr val="000000"/>
                </a:solidFill>
              </a:rPr>
              <a:t>Goal:</a:t>
            </a:r>
            <a:pPr indent="0" marL="0">
              <a:spcAft>
                <a:spcPts val="1000"/>
              </a:spcAft>
              <a:buNone/>
            </a:pPr>
            <a:r>
              <a:rPr lang="en-US" dirty="0">
                <a:solidFill>
                  <a:srgbClr val="000000"/>
                </a:solidFill>
              </a:rPr>
              <a:t> run right and touch the flag</a:t>
            </a:r>
            <a:endParaRPr lang="en-US" dirty="0"/>
          </a:p>
          <a:p>
            <a:pPr marL="254000" indent="-254000">
              <a:spcAft>
                <a:spcPts val="1000"/>
              </a:spcAft>
              <a:buSzPct val="100000"/>
              <a:buChar char="&gt;"/>
            </a:pPr>
            <a:r>
              <a:rPr lang="en-US" b="1" dirty="0">
                <a:solidFill>
                  <a:srgbClr val="000000"/>
                </a:solidFill>
              </a:rPr>
              <a:t>Terrain:</a:t>
            </a:r>
            <a:pPr indent="0" marL="0">
              <a:spcAft>
                <a:spcPts val="1000"/>
              </a:spcAft>
              <a:buNone/>
            </a:pPr>
            <a:r>
              <a:rPr lang="en-US" dirty="0">
                <a:solidFill>
                  <a:srgbClr val="000000"/>
                </a:solidFill>
              </a:rPr>
              <a:t> flat ground, steps, stairs, gaps</a:t>
            </a:r>
            <a:endParaRPr lang="en-US" dirty="0"/>
          </a:p>
          <a:p>
            <a:pPr marL="254000" indent="-254000">
              <a:spcAft>
                <a:spcPts val="1000"/>
              </a:spcAft>
              <a:buSzPct val="100000"/>
              <a:buChar char="&gt;"/>
            </a:pPr>
            <a:r>
              <a:rPr lang="en-US" b="1" dirty="0">
                <a:solidFill>
                  <a:srgbClr val="000000"/>
                </a:solidFill>
              </a:rPr>
              <a:t>Hazards:</a:t>
            </a:r>
            <a:pPr indent="0" marL="0">
              <a:spcAft>
                <a:spcPts val="1000"/>
              </a:spcAft>
              <a:buNone/>
            </a:pPr>
            <a:r>
              <a:rPr lang="en-US" dirty="0">
                <a:solidFill>
                  <a:srgbClr val="000000"/>
                </a:solidFill>
              </a:rPr>
              <a:t> spikes from difficulty 0.25, floating platforms from 0.35</a:t>
            </a:r>
            <a:endParaRPr lang="en-US" dirty="0"/>
          </a:p>
          <a:p>
            <a:pPr marL="254000" indent="-254000">
              <a:spcAft>
                <a:spcPts val="1000"/>
              </a:spcAft>
              <a:buSzPct val="100000"/>
              <a:buChar char="&gt;"/>
            </a:pPr>
            <a:r>
              <a:rPr lang="en-US" b="1" dirty="0">
                <a:solidFill>
                  <a:srgbClr val="000000"/>
                </a:solidFill>
              </a:rPr>
              <a:t>Physics:</a:t>
            </a:r>
            <a:pPr indent="0" marL="0">
              <a:spcAft>
                <a:spcPts val="1000"/>
              </a:spcAft>
              <a:buNone/>
            </a:pPr>
            <a:r>
              <a:rPr lang="en-US" dirty="0">
                <a:solidFill>
                  <a:srgbClr val="000000"/>
                </a:solidFill>
              </a:rPr>
              <a:t> 60 frames/s, jumps up to 3.8 tiles, hold jump to go higher</a:t>
            </a:r>
            <a:endParaRPr lang="en-US" dirty="0"/>
          </a:p>
          <a:p>
            <a:pPr marL="254000" indent="-254000">
              <a:spcAft>
                <a:spcPts val="1000"/>
              </a:spcAft>
              <a:buSzPct val="100000"/>
              <a:buChar char="&gt;"/>
            </a:pPr>
            <a:r>
              <a:rPr lang="en-US" b="1" dirty="0">
                <a:solidFill>
                  <a:srgbClr val="000000"/>
                </a:solidFill>
              </a:rPr>
              <a:t>Difficulty:</a:t>
            </a:r>
            <a:pPr indent="0" marL="0">
              <a:spcAft>
                <a:spcPts val="1000"/>
              </a:spcAft>
              <a:buNone/>
            </a:pPr>
            <a:r>
              <a:rPr lang="en-US" dirty="0">
                <a:solidFill>
                  <a:srgbClr val="000000"/>
                </a:solidFill>
              </a:rPr>
              <a:t> one number from 0 to 1 widens gaps and adds hazards (the demo goes up to 2)</a:t>
            </a:r>
            <a:endParaRPr lang="en-US" dirty="0"/>
          </a:p>
        </p:txBody>
      </p:sp>
      <p:sp>
        <p:nvSpPr>
          <p:cNvPr id="7" name="Text 4"/>
          <p:cNvSpPr txBox="1"/>
          <p:nvPr/>
        </p:nvSpPr>
        <p:spPr>
          <a:xfrm>
            <a:off x="457200" y="6053328"/>
            <a:ext cx="11247120" cy="274320"/>
          </a:xfrm>
          <a:prstGeom prst="rect">
            <a:avLst/>
          </a:prstGeom>
          <a:noFill/>
          <a:ln/>
        </p:spPr>
        <p:txBody>
          <a:bodyPr wrap="square" lIns="0" tIns="0" rIns="0" bIns="0" rtlCol="0" anchor="ctr"/>
          <a:lstStyle/>
          <a:p>
            <a:pPr indent="0" marL="0">
              <a:buNone/>
            </a:pPr>
            <a:r>
              <a:rPr lang="en-US" sz="1100" i="1" dirty="0">
                <a:solidFill>
                  <a:srgbClr val="5A5A5A"/>
                </a:solidFill>
              </a:rPr>
              <a:t>one seed at five difficulties</a:t>
            </a:r>
            <a:endParaRPr lang="en-US" sz="1100" dirty="0"/>
          </a:p>
        </p:txBody>
      </p:sp>
      <p:sp>
        <p:nvSpPr>
          <p:cNvPr id="9"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the problem</a:t>
            </a:r>
            <a:endParaRPr lang="en-US" sz="900" dirty="0"/>
          </a:p>
        </p:txBody>
      </p:sp>
      <p:sp>
        <p:nvSpPr>
          <p:cNvPr id="10"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[ 04/42 ]</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EVERY LEVEL IS NEW</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[ 01 ]</a:t>
            </a:r>
            <a:endParaRPr lang="en-US" sz="1400" dirty="0"/>
          </a:p>
        </p:txBody>
      </p:sp>
      <p:pic>
        <p:nvPicPr>
          <p:cNvPr id="4" name="02_level_variety.png" descr="C:/Users/dynam/Desktop/rl da3/ProcGen_RL/runs/presentation/02_level_variety.png">    </p:cNvPr>
          <p:cNvPicPr>
            <a:picLocks noChangeAspect="1"/>
          </p:cNvPicPr>
          <p:nvPr/>
        </p:nvPicPr>
        <p:blipFill>
          <a:blip r:embed="rId1"/>
          <a:stretch>
            <a:fillRect/>
          </a:stretch>
        </p:blipFill>
        <p:spPr>
          <a:xfrm>
            <a:off x="457200" y="914400"/>
            <a:ext cx="6309360" cy="4516042"/>
          </a:xfrm>
          <a:prstGeom prst="rect">
            <a:avLst/>
          </a:prstGeom>
        </p:spPr>
      </p:pic>
      <p:sp>
        <p:nvSpPr>
          <p:cNvPr id="5" name="Shape 2"/>
          <p:cNvSpPr/>
          <p:nvPr/>
        </p:nvSpPr>
        <p:spPr>
          <a:xfrm>
            <a:off x="457200" y="914400"/>
            <a:ext cx="6309360" cy="4516042"/>
          </a:xfrm>
          <a:prstGeom prst="rect">
            <a:avLst/>
          </a:prstGeom>
          <a:ln w="12700">
            <a:solidFill>
              <a:srgbClr val="000000"/>
            </a:solidFill>
            <a:prstDash val="solid"/>
          </a:ln>
        </p:spPr>
      </p:sp>
      <p:sp>
        <p:nvSpPr>
          <p:cNvPr id="6" name="Text 3"/>
          <p:cNvSpPr txBox="1"/>
          <p:nvPr/>
        </p:nvSpPr>
        <p:spPr>
          <a:xfrm>
            <a:off x="7315200" y="1051560"/>
            <a:ext cx="4389120" cy="566928"/>
          </a:xfrm>
          <a:prstGeom prst="rect">
            <a:avLst/>
          </a:prstGeom>
          <a:noFill/>
          <a:ln/>
        </p:spPr>
        <p:txBody>
          <a:bodyPr wrap="square" lIns="0" tIns="0" rIns="0" bIns="0" rtlCol="0" anchor="b"/>
          <a:lstStyle/>
          <a:p>
            <a:pPr indent="0" marL="0">
              <a:buNone/>
            </a:pPr>
            <a:r>
              <a:rPr lang="en-US" sz="3400" b="1" dirty="0">
                <a:solidFill>
                  <a:srgbClr val="000000"/>
                </a:solidFill>
              </a:rPr>
              <a:t>1,000,000</a:t>
            </a:r>
            <a:endParaRPr lang="en-US" sz="3400" dirty="0"/>
          </a:p>
        </p:txBody>
      </p:sp>
      <p:sp>
        <p:nvSpPr>
          <p:cNvPr id="7" name="Text 4"/>
          <p:cNvSpPr txBox="1"/>
          <p:nvPr/>
        </p:nvSpPr>
        <p:spPr>
          <a:xfrm>
            <a:off x="7315200" y="1655064"/>
            <a:ext cx="4389120" cy="566928"/>
          </a:xfrm>
          <a:prstGeom prst="rect">
            <a:avLst/>
          </a:prstGeom>
          <a:noFill/>
          <a:ln/>
        </p:spPr>
        <p:txBody>
          <a:bodyPr wrap="square" lIns="0" tIns="0" rIns="0" bIns="0" rtlCol="0" anchor="t"/>
          <a:lstStyle/>
          <a:p>
            <a:pPr indent="0" marL="0">
              <a:buNone/>
            </a:pPr>
            <a:r>
              <a:rPr lang="en-US" sz="1300" dirty="0">
                <a:solidFill>
                  <a:srgbClr val="5A5A5A"/>
                </a:solidFill>
              </a:rPr>
              <a:t>training seeds: a fresh level for every attempt</a:t>
            </a:r>
            <a:endParaRPr lang="en-US" sz="1300" dirty="0"/>
          </a:p>
        </p:txBody>
      </p:sp>
      <p:sp>
        <p:nvSpPr>
          <p:cNvPr id="8" name="Text 5"/>
          <p:cNvSpPr txBox="1"/>
          <p:nvPr/>
        </p:nvSpPr>
        <p:spPr>
          <a:xfrm>
            <a:off x="7315200" y="2514600"/>
            <a:ext cx="4389120" cy="566928"/>
          </a:xfrm>
          <a:prstGeom prst="rect">
            <a:avLst/>
          </a:prstGeom>
          <a:noFill/>
          <a:ln/>
        </p:spPr>
        <p:txBody>
          <a:bodyPr wrap="square" lIns="0" tIns="0" rIns="0" bIns="0" rtlCol="0" anchor="b"/>
          <a:lstStyle/>
          <a:p>
            <a:pPr indent="0" marL="0">
              <a:buNone/>
            </a:pPr>
            <a:r>
              <a:rPr lang="en-US" sz="3400" b="1" dirty="0">
                <a:solidFill>
                  <a:srgbClr val="000000"/>
                </a:solidFill>
              </a:rPr>
              <a:t>100%</a:t>
            </a:r>
            <a:endParaRPr lang="en-US" sz="3400" dirty="0"/>
          </a:p>
        </p:txBody>
      </p:sp>
      <p:sp>
        <p:nvSpPr>
          <p:cNvPr id="9" name="Text 6"/>
          <p:cNvSpPr txBox="1"/>
          <p:nvPr/>
        </p:nvSpPr>
        <p:spPr>
          <a:xfrm>
            <a:off x="7315200" y="3118104"/>
            <a:ext cx="4389120" cy="566928"/>
          </a:xfrm>
          <a:prstGeom prst="rect">
            <a:avLst/>
          </a:prstGeom>
          <a:noFill/>
          <a:ln/>
        </p:spPr>
        <p:txBody>
          <a:bodyPr wrap="square" lIns="0" tIns="0" rIns="0" bIns="0" rtlCol="0" anchor="t"/>
          <a:lstStyle/>
          <a:p>
            <a:pPr indent="0" marL="0">
              <a:buNone/>
            </a:pPr>
            <a:r>
              <a:rPr lang="en-US" sz="1300" dirty="0">
                <a:solidFill>
                  <a:srgbClr val="5A5A5A"/>
                </a:solidFill>
              </a:rPr>
              <a:t>of tested levels solvable: a search solver beats every one</a:t>
            </a:r>
            <a:endParaRPr lang="en-US" sz="1300" dirty="0"/>
          </a:p>
        </p:txBody>
      </p:sp>
      <p:sp>
        <p:nvSpPr>
          <p:cNvPr id="10" name="Text 7"/>
          <p:cNvSpPr txBox="1"/>
          <p:nvPr/>
        </p:nvSpPr>
        <p:spPr>
          <a:xfrm>
            <a:off x="7315200" y="3977640"/>
            <a:ext cx="4389120" cy="566928"/>
          </a:xfrm>
          <a:prstGeom prst="rect">
            <a:avLst/>
          </a:prstGeom>
          <a:noFill/>
          <a:ln/>
        </p:spPr>
        <p:txBody>
          <a:bodyPr wrap="square" lIns="0" tIns="0" rIns="0" bIns="0" rtlCol="0" anchor="b"/>
          <a:lstStyle/>
          <a:p>
            <a:pPr indent="0" marL="0">
              <a:buNone/>
            </a:pPr>
            <a:r>
              <a:rPr lang="en-US" sz="3400" b="1" dirty="0">
                <a:solidFill>
                  <a:srgbClr val="000000"/>
                </a:solidFill>
              </a:rPr>
              <a:t>3 ranges</a:t>
            </a:r>
            <a:endParaRPr lang="en-US" sz="3400" dirty="0"/>
          </a:p>
        </p:txBody>
      </p:sp>
      <p:sp>
        <p:nvSpPr>
          <p:cNvPr id="11" name="Text 8"/>
          <p:cNvSpPr txBox="1"/>
          <p:nvPr/>
        </p:nvSpPr>
        <p:spPr>
          <a:xfrm>
            <a:off x="7315200" y="4581144"/>
            <a:ext cx="4389120" cy="566928"/>
          </a:xfrm>
          <a:prstGeom prst="rect">
            <a:avLst/>
          </a:prstGeom>
          <a:noFill/>
          <a:ln/>
        </p:spPr>
        <p:txBody>
          <a:bodyPr wrap="square" lIns="0" tIns="0" rIns="0" bIns="0" rtlCol="0" anchor="t"/>
          <a:lstStyle/>
          <a:p>
            <a:pPr indent="0" marL="0">
              <a:buNone/>
            </a:pPr>
            <a:r>
              <a:rPr lang="en-US" sz="1300" dirty="0">
                <a:solidFill>
                  <a:srgbClr val="5A5A5A"/>
                </a:solidFill>
              </a:rPr>
              <a:t>of seeds that never overlap: training, testing, demo</a:t>
            </a:r>
            <a:endParaRPr lang="en-US" sz="1300" dirty="0"/>
          </a:p>
        </p:txBody>
      </p:sp>
      <p:sp>
        <p:nvSpPr>
          <p:cNvPr id="13"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the problem</a:t>
            </a:r>
            <a:endParaRPr lang="en-US" sz="900" dirty="0"/>
          </a:p>
        </p:txBody>
      </p:sp>
      <p:sp>
        <p:nvSpPr>
          <p:cNvPr id="14"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[ 05/42 ]</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822960" y="2331720"/>
            <a:ext cx="7315200" cy="365760"/>
          </a:xfrm>
          <a:prstGeom prst="rect">
            <a:avLst/>
          </a:prstGeom>
          <a:noFill/>
          <a:ln/>
        </p:spPr>
        <p:txBody>
          <a:bodyPr wrap="square" lIns="0" tIns="0" rIns="0" bIns="0" rtlCol="0" anchor="ctr"/>
          <a:lstStyle/>
          <a:p>
            <a:pPr indent="0" marL="0">
              <a:buNone/>
            </a:pPr>
            <a:r>
              <a:rPr lang="en-US" sz="1600" dirty="0">
                <a:solidFill>
                  <a:srgbClr val="D9D9D9"/>
                </a:solidFill>
              </a:rPr>
              <a:t>&gt; cd section_02</a:t>
            </a:r>
            <a:endParaRPr lang="en-US" sz="1600" dirty="0"/>
          </a:p>
        </p:txBody>
      </p:sp>
      <p:sp>
        <p:nvSpPr>
          <p:cNvPr id="3" name="Text 1"/>
          <p:cNvSpPr txBox="1"/>
          <p:nvPr/>
        </p:nvSpPr>
        <p:spPr>
          <a:xfrm>
            <a:off x="822960" y="2697480"/>
            <a:ext cx="7315200" cy="1143000"/>
          </a:xfrm>
          <a:prstGeom prst="rect">
            <a:avLst/>
          </a:prstGeom>
          <a:noFill/>
          <a:ln/>
        </p:spPr>
        <p:txBody>
          <a:bodyPr wrap="square" lIns="0" tIns="0" rIns="0" bIns="0" rtlCol="0" anchor="ctr"/>
          <a:lstStyle/>
          <a:p>
            <a:pPr indent="0" marL="0">
              <a:buNone/>
            </a:pPr>
            <a:r>
              <a:rPr lang="en-US" sz="8000" b="1" dirty="0">
                <a:solidFill>
                  <a:srgbClr val="FFFFFF"/>
                </a:solidFill>
              </a:rPr>
              <a:t>02</a:t>
            </a:r>
            <a:endParaRPr lang="en-US" sz="8000" dirty="0"/>
          </a:p>
        </p:txBody>
      </p:sp>
      <p:sp>
        <p:nvSpPr>
          <p:cNvPr id="4" name="Text 2"/>
          <p:cNvSpPr txBox="1"/>
          <p:nvPr/>
        </p:nvSpPr>
        <p:spPr>
          <a:xfrm>
            <a:off x="822960" y="3840480"/>
            <a:ext cx="10515600" cy="685800"/>
          </a:xfrm>
          <a:prstGeom prst="rect">
            <a:avLst/>
          </a:prstGeom>
          <a:noFill/>
          <a:ln/>
        </p:spPr>
        <p:txBody>
          <a:bodyPr wrap="square" lIns="0" tIns="0" rIns="0" bIns="0" rtlCol="0" anchor="ctr"/>
          <a:lstStyle/>
          <a:p>
            <a:pPr indent="0" marL="0">
              <a:buNone/>
            </a:pPr>
            <a:r>
              <a:rPr lang="en-US" sz="3400" b="1" dirty="0">
                <a:solidFill>
                  <a:srgbClr val="FFFFFF"/>
                </a:solidFill>
              </a:rPr>
              <a:t>WHAT THE AGENT SEES</a:t>
            </a:r>
            <a:pPr indent="0" marL="0">
              <a:buNone/>
            </a:pPr>
            <a:r>
              <a:rPr lang="en-US" sz="3400" b="1" dirty="0">
                <a:solidFill>
                  <a:srgbClr val="FFFFFF"/>
                </a:solidFill>
              </a:rPr>
              <a:t>█</a:t>
            </a:r>
            <a:endParaRPr lang="en-US" sz="3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ONE DECISION, START TO END</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[ 02 ]</a:t>
            </a:r>
            <a:endParaRPr lang="en-US" sz="1400" dirty="0"/>
          </a:p>
        </p:txBody>
      </p:sp>
      <p:sp>
        <p:nvSpPr>
          <p:cNvPr id="4" name="Shape 2"/>
          <p:cNvSpPr/>
          <p:nvPr/>
        </p:nvSpPr>
        <p:spPr>
          <a:xfrm>
            <a:off x="530352" y="1307592"/>
            <a:ext cx="1920240" cy="1600200"/>
          </a:xfrm>
          <a:prstGeom prst="rect">
            <a:avLst/>
          </a:prstGeom>
          <a:solidFill>
            <a:srgbClr val="000000"/>
          </a:solidFill>
          <a:ln w="9525">
            <a:solidFill>
              <a:srgbClr val="000000"/>
            </a:solidFill>
            <a:prstDash val="solid"/>
          </a:ln>
        </p:spPr>
      </p:sp>
      <p:sp>
        <p:nvSpPr>
          <p:cNvPr id="5" name="Shape 3"/>
          <p:cNvSpPr/>
          <p:nvPr/>
        </p:nvSpPr>
        <p:spPr>
          <a:xfrm>
            <a:off x="457200" y="1234440"/>
            <a:ext cx="1920240" cy="1600200"/>
          </a:xfrm>
          <a:prstGeom prst="rect">
            <a:avLst/>
          </a:prstGeom>
          <a:solidFill>
            <a:srgbClr val="FFFFFF"/>
          </a:solidFill>
          <a:ln w="19050">
            <a:solidFill>
              <a:srgbClr val="000000"/>
            </a:solidFill>
            <a:prstDash val="solid"/>
          </a:ln>
        </p:spPr>
      </p:sp>
      <p:sp>
        <p:nvSpPr>
          <p:cNvPr id="6" name="Shape 4"/>
          <p:cNvSpPr/>
          <p:nvPr/>
        </p:nvSpPr>
        <p:spPr>
          <a:xfrm>
            <a:off x="457200" y="1234440"/>
            <a:ext cx="1920240" cy="347472"/>
          </a:xfrm>
          <a:prstGeom prst="rect">
            <a:avLst/>
          </a:prstGeom>
          <a:solidFill>
            <a:srgbClr val="000000"/>
          </a:solidFill>
          <a:ln w="19050">
            <a:solidFill>
              <a:srgbClr val="000000"/>
            </a:solidFill>
            <a:prstDash val="solid"/>
          </a:ln>
        </p:spPr>
      </p:sp>
      <p:sp>
        <p:nvSpPr>
          <p:cNvPr id="7" name="Text 5"/>
          <p:cNvSpPr txBox="1"/>
          <p:nvPr/>
        </p:nvSpPr>
        <p:spPr>
          <a:xfrm>
            <a:off x="585216" y="1234440"/>
            <a:ext cx="1664208" cy="347472"/>
          </a:xfrm>
          <a:prstGeom prst="rect">
            <a:avLst/>
          </a:prstGeom>
          <a:noFill/>
          <a:ln/>
        </p:spPr>
        <p:txBody>
          <a:bodyPr wrap="square" lIns="0" tIns="0" rIns="0" bIns="0" rtlCol="0" anchor="ctr"/>
          <a:lstStyle/>
          <a:p>
            <a:pPr algn="l" indent="0" marL="0">
              <a:buNone/>
            </a:pPr>
            <a:r>
              <a:rPr lang="en-US" sz="1300" b="1" dirty="0">
                <a:solidFill>
                  <a:srgbClr val="FFFFFF"/>
                </a:solidFill>
              </a:rPr>
              <a:t>&gt; game state</a:t>
            </a:r>
            <a:endParaRPr lang="en-US" sz="1300" dirty="0"/>
          </a:p>
        </p:txBody>
      </p:sp>
      <p:sp>
        <p:nvSpPr>
          <p:cNvPr id="8" name="Text 6"/>
          <p:cNvSpPr txBox="1"/>
          <p:nvPr/>
        </p:nvSpPr>
        <p:spPr>
          <a:xfrm>
            <a:off x="621792" y="1691640"/>
            <a:ext cx="1591056" cy="103327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position, speed,</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the level's tiles</a:t>
            </a:r>
            <a:endParaRPr lang="en-US" sz="1300" dirty="0"/>
          </a:p>
        </p:txBody>
      </p:sp>
      <p:sp>
        <p:nvSpPr>
          <p:cNvPr id="9" name="Shape 7"/>
          <p:cNvSpPr/>
          <p:nvPr/>
        </p:nvSpPr>
        <p:spPr>
          <a:xfrm>
            <a:off x="2468880" y="2148840"/>
            <a:ext cx="283464" cy="914"/>
          </a:xfrm>
          <a:prstGeom prst="line">
            <a:avLst/>
          </a:prstGeom>
          <a:noFill/>
          <a:ln w="22225">
            <a:solidFill>
              <a:srgbClr val="000000"/>
            </a:solidFill>
            <a:prstDash val="solid"/>
            <a:tailEnd type="triangle"/>
          </a:ln>
        </p:spPr>
      </p:sp>
      <p:sp>
        <p:nvSpPr>
          <p:cNvPr id="10" name="Shape 8"/>
          <p:cNvSpPr/>
          <p:nvPr/>
        </p:nvSpPr>
        <p:spPr>
          <a:xfrm>
            <a:off x="2862072" y="1307592"/>
            <a:ext cx="1920240" cy="1600200"/>
          </a:xfrm>
          <a:prstGeom prst="rect">
            <a:avLst/>
          </a:prstGeom>
          <a:solidFill>
            <a:srgbClr val="000000"/>
          </a:solidFill>
          <a:ln w="9525">
            <a:solidFill>
              <a:srgbClr val="000000"/>
            </a:solidFill>
            <a:prstDash val="solid"/>
          </a:ln>
        </p:spPr>
      </p:sp>
      <p:sp>
        <p:nvSpPr>
          <p:cNvPr id="11" name="Shape 9"/>
          <p:cNvSpPr/>
          <p:nvPr/>
        </p:nvSpPr>
        <p:spPr>
          <a:xfrm>
            <a:off x="2788920" y="1234440"/>
            <a:ext cx="1920240" cy="1600200"/>
          </a:xfrm>
          <a:prstGeom prst="rect">
            <a:avLst/>
          </a:prstGeom>
          <a:solidFill>
            <a:srgbClr val="FFFFFF"/>
          </a:solidFill>
          <a:ln w="19050">
            <a:solidFill>
              <a:srgbClr val="000000"/>
            </a:solidFill>
            <a:prstDash val="solid"/>
          </a:ln>
        </p:spPr>
      </p:sp>
      <p:sp>
        <p:nvSpPr>
          <p:cNvPr id="12" name="Shape 10"/>
          <p:cNvSpPr/>
          <p:nvPr/>
        </p:nvSpPr>
        <p:spPr>
          <a:xfrm>
            <a:off x="2788920" y="1234440"/>
            <a:ext cx="1920240" cy="347472"/>
          </a:xfrm>
          <a:prstGeom prst="rect">
            <a:avLst/>
          </a:prstGeom>
          <a:solidFill>
            <a:srgbClr val="000000"/>
          </a:solidFill>
          <a:ln w="19050">
            <a:solidFill>
              <a:srgbClr val="000000"/>
            </a:solidFill>
            <a:prstDash val="solid"/>
          </a:ln>
        </p:spPr>
      </p:sp>
      <p:sp>
        <p:nvSpPr>
          <p:cNvPr id="13" name="Text 11"/>
          <p:cNvSpPr txBox="1"/>
          <p:nvPr/>
        </p:nvSpPr>
        <p:spPr>
          <a:xfrm>
            <a:off x="2916936" y="1234440"/>
            <a:ext cx="1664208" cy="347472"/>
          </a:xfrm>
          <a:prstGeom prst="rect">
            <a:avLst/>
          </a:prstGeom>
          <a:noFill/>
          <a:ln/>
        </p:spPr>
        <p:txBody>
          <a:bodyPr wrap="square" lIns="0" tIns="0" rIns="0" bIns="0" rtlCol="0" anchor="ctr"/>
          <a:lstStyle/>
          <a:p>
            <a:pPr algn="l" indent="0" marL="0">
              <a:buNone/>
            </a:pPr>
            <a:r>
              <a:rPr lang="en-US" sz="1300" b="1" dirty="0">
                <a:solidFill>
                  <a:srgbClr val="FFFFFF"/>
                </a:solidFill>
              </a:rPr>
              <a:t>&gt; observation</a:t>
            </a:r>
            <a:endParaRPr lang="en-US" sz="1300" dirty="0"/>
          </a:p>
        </p:txBody>
      </p:sp>
      <p:sp>
        <p:nvSpPr>
          <p:cNvPr id="14" name="Text 12"/>
          <p:cNvSpPr txBox="1"/>
          <p:nvPr/>
        </p:nvSpPr>
        <p:spPr>
          <a:xfrm>
            <a:off x="2953512" y="1691640"/>
            <a:ext cx="1591056" cy="103327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847 numbers:</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840 tiles + 7</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about itself</a:t>
            </a:r>
            <a:endParaRPr lang="en-US" sz="1300" dirty="0"/>
          </a:p>
        </p:txBody>
      </p:sp>
      <p:sp>
        <p:nvSpPr>
          <p:cNvPr id="15" name="Shape 13"/>
          <p:cNvSpPr/>
          <p:nvPr/>
        </p:nvSpPr>
        <p:spPr>
          <a:xfrm>
            <a:off x="4800600" y="2148840"/>
            <a:ext cx="283464" cy="914"/>
          </a:xfrm>
          <a:prstGeom prst="line">
            <a:avLst/>
          </a:prstGeom>
          <a:noFill/>
          <a:ln w="22225">
            <a:solidFill>
              <a:srgbClr val="000000"/>
            </a:solidFill>
            <a:prstDash val="solid"/>
            <a:tailEnd type="triangle"/>
          </a:ln>
        </p:spPr>
      </p:sp>
      <p:sp>
        <p:nvSpPr>
          <p:cNvPr id="16" name="Shape 14"/>
          <p:cNvSpPr/>
          <p:nvPr/>
        </p:nvSpPr>
        <p:spPr>
          <a:xfrm>
            <a:off x="5193792" y="1307592"/>
            <a:ext cx="1920240" cy="1600200"/>
          </a:xfrm>
          <a:prstGeom prst="rect">
            <a:avLst/>
          </a:prstGeom>
          <a:solidFill>
            <a:srgbClr val="000000"/>
          </a:solidFill>
          <a:ln w="9525">
            <a:solidFill>
              <a:srgbClr val="000000"/>
            </a:solidFill>
            <a:prstDash val="solid"/>
          </a:ln>
        </p:spPr>
      </p:sp>
      <p:sp>
        <p:nvSpPr>
          <p:cNvPr id="17" name="Shape 15"/>
          <p:cNvSpPr/>
          <p:nvPr/>
        </p:nvSpPr>
        <p:spPr>
          <a:xfrm>
            <a:off x="5120640" y="1234440"/>
            <a:ext cx="1920240" cy="1600200"/>
          </a:xfrm>
          <a:prstGeom prst="rect">
            <a:avLst/>
          </a:prstGeom>
          <a:solidFill>
            <a:srgbClr val="FFFFFF"/>
          </a:solidFill>
          <a:ln w="19050">
            <a:solidFill>
              <a:srgbClr val="000000"/>
            </a:solidFill>
            <a:prstDash val="solid"/>
          </a:ln>
        </p:spPr>
      </p:sp>
      <p:sp>
        <p:nvSpPr>
          <p:cNvPr id="18" name="Shape 16"/>
          <p:cNvSpPr/>
          <p:nvPr/>
        </p:nvSpPr>
        <p:spPr>
          <a:xfrm>
            <a:off x="5120640" y="1234440"/>
            <a:ext cx="1920240" cy="347472"/>
          </a:xfrm>
          <a:prstGeom prst="rect">
            <a:avLst/>
          </a:prstGeom>
          <a:solidFill>
            <a:srgbClr val="000000"/>
          </a:solidFill>
          <a:ln w="19050">
            <a:solidFill>
              <a:srgbClr val="000000"/>
            </a:solidFill>
            <a:prstDash val="solid"/>
          </a:ln>
        </p:spPr>
      </p:sp>
      <p:sp>
        <p:nvSpPr>
          <p:cNvPr id="19" name="Text 17"/>
          <p:cNvSpPr txBox="1"/>
          <p:nvPr/>
        </p:nvSpPr>
        <p:spPr>
          <a:xfrm>
            <a:off x="5248656" y="1234440"/>
            <a:ext cx="1664208" cy="347472"/>
          </a:xfrm>
          <a:prstGeom prst="rect">
            <a:avLst/>
          </a:prstGeom>
          <a:noFill/>
          <a:ln/>
        </p:spPr>
        <p:txBody>
          <a:bodyPr wrap="square" lIns="0" tIns="0" rIns="0" bIns="0" rtlCol="0" anchor="ctr"/>
          <a:lstStyle/>
          <a:p>
            <a:pPr algn="l" indent="0" marL="0">
              <a:buNone/>
            </a:pPr>
            <a:r>
              <a:rPr lang="en-US" sz="1300" b="1" dirty="0">
                <a:solidFill>
                  <a:srgbClr val="FFFFFF"/>
                </a:solidFill>
              </a:rPr>
              <a:t>&gt; network</a:t>
            </a:r>
            <a:endParaRPr lang="en-US" sz="1300" dirty="0"/>
          </a:p>
        </p:txBody>
      </p:sp>
      <p:sp>
        <p:nvSpPr>
          <p:cNvPr id="20" name="Text 18"/>
          <p:cNvSpPr txBox="1"/>
          <p:nvPr/>
        </p:nvSpPr>
        <p:spPr>
          <a:xfrm>
            <a:off x="5285232" y="1691640"/>
            <a:ext cx="1591056" cy="103327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847 -&gt; 256</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-&gt; 256 -&gt; 6</a:t>
            </a:r>
            <a:endParaRPr lang="en-US" sz="1300" dirty="0"/>
          </a:p>
        </p:txBody>
      </p:sp>
      <p:sp>
        <p:nvSpPr>
          <p:cNvPr id="21" name="Shape 19"/>
          <p:cNvSpPr/>
          <p:nvPr/>
        </p:nvSpPr>
        <p:spPr>
          <a:xfrm>
            <a:off x="7132320" y="2148840"/>
            <a:ext cx="283464" cy="914"/>
          </a:xfrm>
          <a:prstGeom prst="line">
            <a:avLst/>
          </a:prstGeom>
          <a:noFill/>
          <a:ln w="22225">
            <a:solidFill>
              <a:srgbClr val="000000"/>
            </a:solidFill>
            <a:prstDash val="solid"/>
            <a:tailEnd type="triangle"/>
          </a:ln>
        </p:spPr>
      </p:sp>
      <p:sp>
        <p:nvSpPr>
          <p:cNvPr id="22" name="Shape 20"/>
          <p:cNvSpPr/>
          <p:nvPr/>
        </p:nvSpPr>
        <p:spPr>
          <a:xfrm>
            <a:off x="7525512" y="1307592"/>
            <a:ext cx="1920240" cy="1600200"/>
          </a:xfrm>
          <a:prstGeom prst="rect">
            <a:avLst/>
          </a:prstGeom>
          <a:solidFill>
            <a:srgbClr val="000000"/>
          </a:solidFill>
          <a:ln w="9525">
            <a:solidFill>
              <a:srgbClr val="000000"/>
            </a:solidFill>
            <a:prstDash val="solid"/>
          </a:ln>
        </p:spPr>
      </p:sp>
      <p:sp>
        <p:nvSpPr>
          <p:cNvPr id="23" name="Shape 21"/>
          <p:cNvSpPr/>
          <p:nvPr/>
        </p:nvSpPr>
        <p:spPr>
          <a:xfrm>
            <a:off x="7452360" y="1234440"/>
            <a:ext cx="1920240" cy="1600200"/>
          </a:xfrm>
          <a:prstGeom prst="rect">
            <a:avLst/>
          </a:prstGeom>
          <a:solidFill>
            <a:srgbClr val="FFFFFF"/>
          </a:solidFill>
          <a:ln w="19050">
            <a:solidFill>
              <a:srgbClr val="000000"/>
            </a:solidFill>
            <a:prstDash val="solid"/>
          </a:ln>
        </p:spPr>
      </p:sp>
      <p:sp>
        <p:nvSpPr>
          <p:cNvPr id="24" name="Shape 22"/>
          <p:cNvSpPr/>
          <p:nvPr/>
        </p:nvSpPr>
        <p:spPr>
          <a:xfrm>
            <a:off x="7452360" y="1234440"/>
            <a:ext cx="1920240" cy="347472"/>
          </a:xfrm>
          <a:prstGeom prst="rect">
            <a:avLst/>
          </a:prstGeom>
          <a:solidFill>
            <a:srgbClr val="000000"/>
          </a:solidFill>
          <a:ln w="19050">
            <a:solidFill>
              <a:srgbClr val="000000"/>
            </a:solidFill>
            <a:prstDash val="solid"/>
          </a:ln>
        </p:spPr>
      </p:sp>
      <p:sp>
        <p:nvSpPr>
          <p:cNvPr id="25" name="Text 23"/>
          <p:cNvSpPr txBox="1"/>
          <p:nvPr/>
        </p:nvSpPr>
        <p:spPr>
          <a:xfrm>
            <a:off x="7580376" y="1234440"/>
            <a:ext cx="1664208" cy="347472"/>
          </a:xfrm>
          <a:prstGeom prst="rect">
            <a:avLst/>
          </a:prstGeom>
          <a:noFill/>
          <a:ln/>
        </p:spPr>
        <p:txBody>
          <a:bodyPr wrap="square" lIns="0" tIns="0" rIns="0" bIns="0" rtlCol="0" anchor="ctr"/>
          <a:lstStyle/>
          <a:p>
            <a:pPr algn="l" indent="0" marL="0">
              <a:buNone/>
            </a:pPr>
            <a:r>
              <a:rPr lang="en-US" sz="1300" b="1" dirty="0">
                <a:solidFill>
                  <a:srgbClr val="FFFFFF"/>
                </a:solidFill>
              </a:rPr>
              <a:t>&gt; probabilities</a:t>
            </a:r>
            <a:endParaRPr lang="en-US" sz="1300" dirty="0"/>
          </a:p>
        </p:txBody>
      </p:sp>
      <p:sp>
        <p:nvSpPr>
          <p:cNvPr id="26" name="Text 24"/>
          <p:cNvSpPr txBox="1"/>
          <p:nvPr/>
        </p:nvSpPr>
        <p:spPr>
          <a:xfrm>
            <a:off x="7616952" y="1691640"/>
            <a:ext cx="1591056" cy="103327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6 numbers that</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add up to 100%</a:t>
            </a:r>
            <a:endParaRPr lang="en-US" sz="1300" dirty="0"/>
          </a:p>
        </p:txBody>
      </p:sp>
      <p:sp>
        <p:nvSpPr>
          <p:cNvPr id="27" name="Shape 25"/>
          <p:cNvSpPr/>
          <p:nvPr/>
        </p:nvSpPr>
        <p:spPr>
          <a:xfrm>
            <a:off x="9464040" y="2148840"/>
            <a:ext cx="283464" cy="914"/>
          </a:xfrm>
          <a:prstGeom prst="line">
            <a:avLst/>
          </a:prstGeom>
          <a:noFill/>
          <a:ln w="22225">
            <a:solidFill>
              <a:srgbClr val="000000"/>
            </a:solidFill>
            <a:prstDash val="solid"/>
            <a:tailEnd type="triangle"/>
          </a:ln>
        </p:spPr>
      </p:sp>
      <p:sp>
        <p:nvSpPr>
          <p:cNvPr id="28" name="Shape 26"/>
          <p:cNvSpPr/>
          <p:nvPr/>
        </p:nvSpPr>
        <p:spPr>
          <a:xfrm>
            <a:off x="9857232" y="1307592"/>
            <a:ext cx="1920240" cy="1600200"/>
          </a:xfrm>
          <a:prstGeom prst="rect">
            <a:avLst/>
          </a:prstGeom>
          <a:solidFill>
            <a:srgbClr val="000000"/>
          </a:solidFill>
          <a:ln w="9525">
            <a:solidFill>
              <a:srgbClr val="000000"/>
            </a:solidFill>
            <a:prstDash val="solid"/>
          </a:ln>
        </p:spPr>
      </p:sp>
      <p:sp>
        <p:nvSpPr>
          <p:cNvPr id="29" name="Shape 27"/>
          <p:cNvSpPr/>
          <p:nvPr/>
        </p:nvSpPr>
        <p:spPr>
          <a:xfrm>
            <a:off x="9784080" y="1234440"/>
            <a:ext cx="1920240" cy="1600200"/>
          </a:xfrm>
          <a:prstGeom prst="rect">
            <a:avLst/>
          </a:prstGeom>
          <a:solidFill>
            <a:srgbClr val="FFFFFF"/>
          </a:solidFill>
          <a:ln w="19050">
            <a:solidFill>
              <a:srgbClr val="000000"/>
            </a:solidFill>
            <a:prstDash val="solid"/>
          </a:ln>
        </p:spPr>
      </p:sp>
      <p:sp>
        <p:nvSpPr>
          <p:cNvPr id="30" name="Shape 28"/>
          <p:cNvSpPr/>
          <p:nvPr/>
        </p:nvSpPr>
        <p:spPr>
          <a:xfrm>
            <a:off x="9784080" y="1234440"/>
            <a:ext cx="1920240" cy="347472"/>
          </a:xfrm>
          <a:prstGeom prst="rect">
            <a:avLst/>
          </a:prstGeom>
          <a:solidFill>
            <a:srgbClr val="000000"/>
          </a:solidFill>
          <a:ln w="19050">
            <a:solidFill>
              <a:srgbClr val="000000"/>
            </a:solidFill>
            <a:prstDash val="solid"/>
          </a:ln>
        </p:spPr>
      </p:sp>
      <p:sp>
        <p:nvSpPr>
          <p:cNvPr id="31" name="Text 29"/>
          <p:cNvSpPr txBox="1"/>
          <p:nvPr/>
        </p:nvSpPr>
        <p:spPr>
          <a:xfrm>
            <a:off x="9912096" y="1234440"/>
            <a:ext cx="1664208" cy="347472"/>
          </a:xfrm>
          <a:prstGeom prst="rect">
            <a:avLst/>
          </a:prstGeom>
          <a:noFill/>
          <a:ln/>
        </p:spPr>
        <p:txBody>
          <a:bodyPr wrap="square" lIns="0" tIns="0" rIns="0" bIns="0" rtlCol="0" anchor="ctr"/>
          <a:lstStyle/>
          <a:p>
            <a:pPr algn="l" indent="0" marL="0">
              <a:buNone/>
            </a:pPr>
            <a:r>
              <a:rPr lang="en-US" sz="1300" b="1" dirty="0">
                <a:solidFill>
                  <a:srgbClr val="FFFFFF"/>
                </a:solidFill>
              </a:rPr>
              <a:t>&gt; action</a:t>
            </a:r>
            <a:endParaRPr lang="en-US" sz="1300" dirty="0"/>
          </a:p>
        </p:txBody>
      </p:sp>
      <p:sp>
        <p:nvSpPr>
          <p:cNvPr id="32" name="Text 30"/>
          <p:cNvSpPr txBox="1"/>
          <p:nvPr/>
        </p:nvSpPr>
        <p:spPr>
          <a:xfrm>
            <a:off x="9948672" y="1691640"/>
            <a:ext cx="1591056" cy="103327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the most likely</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one, held for</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4 frames</a:t>
            </a:r>
            <a:endParaRPr lang="en-US" sz="1300" dirty="0"/>
          </a:p>
        </p:txBody>
      </p:sp>
      <p:sp>
        <p:nvSpPr>
          <p:cNvPr id="33" name="Text 31"/>
          <p:cNvSpPr txBox="1"/>
          <p:nvPr/>
        </p:nvSpPr>
        <p:spPr>
          <a:xfrm>
            <a:off x="548640" y="3383280"/>
            <a:ext cx="3474720" cy="566928"/>
          </a:xfrm>
          <a:prstGeom prst="rect">
            <a:avLst/>
          </a:prstGeom>
          <a:noFill/>
          <a:ln/>
        </p:spPr>
        <p:txBody>
          <a:bodyPr wrap="square" lIns="0" tIns="0" rIns="0" bIns="0" rtlCol="0" anchor="b"/>
          <a:lstStyle/>
          <a:p>
            <a:pPr indent="0" marL="0">
              <a:buNone/>
            </a:pPr>
            <a:r>
              <a:rPr lang="en-US" sz="3400" b="1" dirty="0">
                <a:solidFill>
                  <a:srgbClr val="000000"/>
                </a:solidFill>
              </a:rPr>
              <a:t>15 / s</a:t>
            </a:r>
            <a:endParaRPr lang="en-US" sz="3400" dirty="0"/>
          </a:p>
        </p:txBody>
      </p:sp>
      <p:sp>
        <p:nvSpPr>
          <p:cNvPr id="34" name="Text 32"/>
          <p:cNvSpPr txBox="1"/>
          <p:nvPr/>
        </p:nvSpPr>
        <p:spPr>
          <a:xfrm>
            <a:off x="548640" y="3986784"/>
            <a:ext cx="3474720" cy="566928"/>
          </a:xfrm>
          <a:prstGeom prst="rect">
            <a:avLst/>
          </a:prstGeom>
          <a:noFill/>
          <a:ln/>
        </p:spPr>
        <p:txBody>
          <a:bodyPr wrap="square" lIns="0" tIns="0" rIns="0" bIns="0" rtlCol="0" anchor="t"/>
          <a:lstStyle/>
          <a:p>
            <a:pPr indent="0" marL="0">
              <a:buNone/>
            </a:pPr>
            <a:r>
              <a:rPr lang="en-US" sz="1300" dirty="0">
                <a:solidFill>
                  <a:srgbClr val="5A5A5A"/>
                </a:solidFill>
              </a:rPr>
              <a:t>decisions per second of play (every 4th frame)</a:t>
            </a:r>
            <a:endParaRPr lang="en-US" sz="1300" dirty="0"/>
          </a:p>
        </p:txBody>
      </p:sp>
      <p:sp>
        <p:nvSpPr>
          <p:cNvPr id="35" name="Text 33"/>
          <p:cNvSpPr txBox="1"/>
          <p:nvPr/>
        </p:nvSpPr>
        <p:spPr>
          <a:xfrm>
            <a:off x="4343400" y="3383280"/>
            <a:ext cx="3474720" cy="566928"/>
          </a:xfrm>
          <a:prstGeom prst="rect">
            <a:avLst/>
          </a:prstGeom>
          <a:noFill/>
          <a:ln/>
        </p:spPr>
        <p:txBody>
          <a:bodyPr wrap="square" lIns="0" tIns="0" rIns="0" bIns="0" rtlCol="0" anchor="b"/>
          <a:lstStyle/>
          <a:p>
            <a:pPr indent="0" marL="0">
              <a:buNone/>
            </a:pPr>
            <a:r>
              <a:rPr lang="en-US" sz="3400" b="1" dirty="0">
                <a:solidFill>
                  <a:srgbClr val="000000"/>
                </a:solidFill>
              </a:rPr>
              <a:t>&lt; 1 ms</a:t>
            </a:r>
            <a:endParaRPr lang="en-US" sz="3400" dirty="0"/>
          </a:p>
        </p:txBody>
      </p:sp>
      <p:sp>
        <p:nvSpPr>
          <p:cNvPr id="36" name="Text 34"/>
          <p:cNvSpPr txBox="1"/>
          <p:nvPr/>
        </p:nvSpPr>
        <p:spPr>
          <a:xfrm>
            <a:off x="4343400" y="3986784"/>
            <a:ext cx="3474720" cy="566928"/>
          </a:xfrm>
          <a:prstGeom prst="rect">
            <a:avLst/>
          </a:prstGeom>
          <a:noFill/>
          <a:ln/>
        </p:spPr>
        <p:txBody>
          <a:bodyPr wrap="square" lIns="0" tIns="0" rIns="0" bIns="0" rtlCol="0" anchor="t"/>
          <a:lstStyle/>
          <a:p>
            <a:pPr indent="0" marL="0">
              <a:buNone/>
            </a:pPr>
            <a:r>
              <a:rPr lang="en-US" sz="1300" dirty="0">
                <a:solidFill>
                  <a:srgbClr val="5A5A5A"/>
                </a:solidFill>
              </a:rPr>
              <a:t>per decision, plain NumPy, no GPU</a:t>
            </a:r>
            <a:endParaRPr lang="en-US" sz="1300" dirty="0"/>
          </a:p>
        </p:txBody>
      </p:sp>
      <p:sp>
        <p:nvSpPr>
          <p:cNvPr id="37" name="Text 35"/>
          <p:cNvSpPr txBox="1"/>
          <p:nvPr/>
        </p:nvSpPr>
        <p:spPr>
          <a:xfrm>
            <a:off x="8138160" y="3383280"/>
            <a:ext cx="3566160" cy="566928"/>
          </a:xfrm>
          <a:prstGeom prst="rect">
            <a:avLst/>
          </a:prstGeom>
          <a:noFill/>
          <a:ln/>
        </p:spPr>
        <p:txBody>
          <a:bodyPr wrap="square" lIns="0" tIns="0" rIns="0" bIns="0" rtlCol="0" anchor="b"/>
          <a:lstStyle/>
          <a:p>
            <a:pPr indent="0" marL="0">
              <a:buNone/>
            </a:pPr>
            <a:r>
              <a:rPr lang="en-US" sz="3400" b="1" dirty="0">
                <a:solidFill>
                  <a:srgbClr val="000000"/>
                </a:solidFill>
              </a:rPr>
              <a:t>1 code path</a:t>
            </a:r>
            <a:endParaRPr lang="en-US" sz="3400" dirty="0"/>
          </a:p>
        </p:txBody>
      </p:sp>
      <p:sp>
        <p:nvSpPr>
          <p:cNvPr id="38" name="Text 36"/>
          <p:cNvSpPr txBox="1"/>
          <p:nvPr/>
        </p:nvSpPr>
        <p:spPr>
          <a:xfrm>
            <a:off x="8138160" y="3986784"/>
            <a:ext cx="3566160" cy="566928"/>
          </a:xfrm>
          <a:prstGeom prst="rect">
            <a:avLst/>
          </a:prstGeom>
          <a:noFill/>
          <a:ln/>
        </p:spPr>
        <p:txBody>
          <a:bodyPr wrap="square" lIns="0" tIns="0" rIns="0" bIns="0" rtlCol="0" anchor="t"/>
          <a:lstStyle/>
          <a:p>
            <a:pPr indent="0" marL="0">
              <a:buNone/>
            </a:pPr>
            <a:r>
              <a:rPr lang="en-US" sz="1300" dirty="0">
                <a:solidFill>
                  <a:srgbClr val="5A5A5A"/>
                </a:solidFill>
              </a:rPr>
              <a:t>the same stepping code in training, testing and the demo</a:t>
            </a:r>
            <a:endParaRPr lang="en-US" sz="1300" dirty="0"/>
          </a:p>
        </p:txBody>
      </p:sp>
      <p:sp>
        <p:nvSpPr>
          <p:cNvPr id="39" name="Shape 37"/>
          <p:cNvSpPr/>
          <p:nvPr/>
        </p:nvSpPr>
        <p:spPr>
          <a:xfrm>
            <a:off x="548640" y="5074920"/>
            <a:ext cx="11155680" cy="566928"/>
          </a:xfrm>
          <a:prstGeom prst="rect">
            <a:avLst/>
          </a:prstGeom>
          <a:solidFill>
            <a:srgbClr val="000000"/>
          </a:solidFill>
          <a:ln w="12700">
            <a:solidFill>
              <a:srgbClr val="000000"/>
            </a:solidFill>
            <a:prstDash val="solid"/>
          </a:ln>
        </p:spPr>
      </p:sp>
      <p:sp>
        <p:nvSpPr>
          <p:cNvPr id="40" name="Text 38"/>
          <p:cNvSpPr txBox="1"/>
          <p:nvPr/>
        </p:nvSpPr>
        <p:spPr>
          <a:xfrm>
            <a:off x="685800" y="5074920"/>
            <a:ext cx="10881360" cy="566928"/>
          </a:xfrm>
          <a:prstGeom prst="rect">
            <a:avLst/>
          </a:prstGeom>
          <a:noFill/>
          <a:ln/>
        </p:spPr>
        <p:txBody>
          <a:bodyPr wrap="square" lIns="0" tIns="0" rIns="0" bIns="0" rtlCol="0" anchor="ctr"/>
          <a:lstStyle/>
          <a:p>
            <a:pPr algn="ctr" indent="0" marL="0">
              <a:buNone/>
            </a:pPr>
            <a:r>
              <a:rPr lang="en-US" sz="1500" b="1" dirty="0">
                <a:solidFill>
                  <a:srgbClr val="FFFFFF"/>
                </a:solidFill>
              </a:rPr>
              <a:t>frame 0: decide  -&gt;  frames 0-3: hold the buttons  -&gt;  frame 4: decide again</a:t>
            </a:r>
            <a:endParaRPr lang="en-US" sz="1500" dirty="0"/>
          </a:p>
        </p:txBody>
      </p:sp>
      <p:sp>
        <p:nvSpPr>
          <p:cNvPr id="42"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what the agent sees</a:t>
            </a:r>
            <a:endParaRPr lang="en-US" sz="900" dirty="0"/>
          </a:p>
        </p:txBody>
      </p:sp>
      <p:sp>
        <p:nvSpPr>
          <p:cNvPr id="43"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[ 07/42 ]</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INPUT 1: THE TILE WINDOW</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[ 02 ]</a:t>
            </a:r>
            <a:endParaRPr lang="en-US" sz="1400" dirty="0"/>
          </a:p>
        </p:txBody>
      </p:sp>
      <p:pic>
        <p:nvPicPr>
          <p:cNvPr id="4" name="20_observation_numbers.png" descr="C:/Users/dynam/Desktop/rl da3/ProcGen_RL/runs/presentation/20_observation_numbers.png">    </p:cNvPr>
          <p:cNvPicPr>
            <a:picLocks noChangeAspect="1"/>
          </p:cNvPicPr>
          <p:nvPr/>
        </p:nvPicPr>
        <p:blipFill>
          <a:blip r:embed="rId1"/>
          <a:stretch>
            <a:fillRect/>
          </a:stretch>
        </p:blipFill>
        <p:spPr>
          <a:xfrm>
            <a:off x="1608348" y="841248"/>
            <a:ext cx="8944824" cy="5230368"/>
          </a:xfrm>
          <a:prstGeom prst="rect">
            <a:avLst/>
          </a:prstGeom>
        </p:spPr>
      </p:pic>
      <p:sp>
        <p:nvSpPr>
          <p:cNvPr id="5" name="Shape 2"/>
          <p:cNvSpPr/>
          <p:nvPr/>
        </p:nvSpPr>
        <p:spPr>
          <a:xfrm>
            <a:off x="1608348" y="841248"/>
            <a:ext cx="8944824" cy="5230368"/>
          </a:xfrm>
          <a:prstGeom prst="rect">
            <a:avLst/>
          </a:prstGeom>
          <a:ln w="12700">
            <a:solidFill>
              <a:srgbClr val="000000"/>
            </a:solidFill>
            <a:prstDash val="solid"/>
          </a:ln>
        </p:spPr>
      </p:sp>
      <p:sp>
        <p:nvSpPr>
          <p:cNvPr id="6" name="Text 3"/>
          <p:cNvSpPr txBox="1"/>
          <p:nvPr/>
        </p:nvSpPr>
        <p:spPr>
          <a:xfrm>
            <a:off x="457200" y="6144768"/>
            <a:ext cx="11247120" cy="274320"/>
          </a:xfrm>
          <a:prstGeom prst="rect">
            <a:avLst/>
          </a:prstGeom>
          <a:noFill/>
          <a:ln/>
        </p:spPr>
        <p:txBody>
          <a:bodyPr wrap="square" lIns="0" tIns="0" rIns="0" bIns="0" rtlCol="0" anchor="ctr"/>
          <a:lstStyle/>
          <a:p>
            <a:pPr indent="0" marL="0">
              <a:buNone/>
            </a:pPr>
            <a:r>
              <a:rPr lang="en-US" sz="1100" i="1" dirty="0">
                <a:solidFill>
                  <a:srgbClr val="5A5A5A"/>
                </a:solidFill>
              </a:rPr>
              <a:t>A real moment of the 300h ghost (seed 1000500, difficulty 0.6). Grey squares in the level are spikes; the blue square is the agent's own tile.</a:t>
            </a:r>
            <a:endParaRPr lang="en-US" sz="1100" dirty="0"/>
          </a:p>
        </p:txBody>
      </p:sp>
      <p:sp>
        <p:nvSpPr>
          <p:cNvPr id="8"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what the agent sees</a:t>
            </a:r>
            <a:endParaRPr lang="en-US" sz="900" dirty="0"/>
          </a:p>
        </p:txBody>
      </p:sp>
      <p:sp>
        <p:nvSpPr>
          <p:cNvPr id="9"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[ 08/42 ]</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HOW A TILE BECOMES NUMBERS</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[ 02 ]</a:t>
            </a:r>
            <a:endParaRPr lang="en-US" sz="1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188720"/>
          <a:ext cx="5760720" cy="914400"/>
        </p:xfrm>
        <a:graphic>
          <a:graphicData uri="http://schemas.openxmlformats.org/drawingml/2006/table">
            <a:tbl>
              <a:tblPr/>
              <a:tblGrid>
                <a:gridCol w="3291840"/>
                <a:gridCol w="822960"/>
                <a:gridCol w="822960"/>
                <a:gridCol w="822960"/>
              </a:tblGrid>
              <a:tr h="438912">
                <a:tc>
                  <a:txBody>
                    <a:bodyPr/>
                    <a:lstStyle/>
                    <a:p>
                      <a:pPr indent="0" marL="0">
                        <a:buNone/>
                      </a:pPr>
                      <a:r>
                        <a:rPr lang="en-US" sz="1400" b="1" dirty="0">
                          <a:solidFill>
                            <a:srgbClr val="FFFFFF"/>
                          </a:solidFill>
                          <a:latin typeface="Consolas" pitchFamily="34" charset="0"/>
                          <a:ea typeface="Consolas" pitchFamily="34" charset="-122"/>
                          <a:cs typeface="Consolas" pitchFamily="34" charset="-120"/>
                        </a:rPr>
                        <a:t>tile</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400" b="1" dirty="0">
                          <a:solidFill>
                            <a:srgbClr val="FFFFFF"/>
                          </a:solidFill>
                          <a:latin typeface="Consolas" pitchFamily="34" charset="0"/>
                          <a:ea typeface="Consolas" pitchFamily="34" charset="-122"/>
                          <a:cs typeface="Consolas" pitchFamily="34" charset="-120"/>
                        </a:rPr>
                        <a:t>solid</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400" b="1" dirty="0">
                          <a:solidFill>
                            <a:srgbClr val="FFFFFF"/>
                          </a:solidFill>
                          <a:latin typeface="Consolas" pitchFamily="34" charset="0"/>
                          <a:ea typeface="Consolas" pitchFamily="34" charset="-122"/>
                          <a:cs typeface="Consolas" pitchFamily="34" charset="-120"/>
                        </a:rPr>
                        <a:t>spike</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400" b="1" dirty="0">
                          <a:solidFill>
                            <a:srgbClr val="FFFFFF"/>
                          </a:solidFill>
                          <a:latin typeface="Consolas" pitchFamily="34" charset="0"/>
                          <a:ea typeface="Consolas" pitchFamily="34" charset="-122"/>
                          <a:cs typeface="Consolas" pitchFamily="34" charset="-120"/>
                        </a:rPr>
                        <a:t>goal</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r>
              <a:tr h="438912">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air</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ground / platform</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38912">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spike</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38912">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outside the level (wall)</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38912">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air past the finish line</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1</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sp>
        <p:nvSpPr>
          <p:cNvPr id="5" name="Shape 2"/>
          <p:cNvSpPr/>
          <p:nvPr/>
        </p:nvSpPr>
        <p:spPr>
          <a:xfrm>
            <a:off x="6885432" y="1261872"/>
            <a:ext cx="4937760" cy="2926080"/>
          </a:xfrm>
          <a:prstGeom prst="rect">
            <a:avLst/>
          </a:prstGeom>
          <a:solidFill>
            <a:srgbClr val="000000"/>
          </a:solidFill>
          <a:ln w="9525">
            <a:solidFill>
              <a:srgbClr val="000000"/>
            </a:solidFill>
            <a:prstDash val="solid"/>
          </a:ln>
        </p:spPr>
      </p:sp>
      <p:sp>
        <p:nvSpPr>
          <p:cNvPr id="6" name="Shape 3"/>
          <p:cNvSpPr/>
          <p:nvPr/>
        </p:nvSpPr>
        <p:spPr>
          <a:xfrm>
            <a:off x="6812280" y="1188720"/>
            <a:ext cx="4937760" cy="2926080"/>
          </a:xfrm>
          <a:prstGeom prst="rect">
            <a:avLst/>
          </a:prstGeom>
          <a:solidFill>
            <a:srgbClr val="FFFFFF"/>
          </a:solidFill>
          <a:ln w="19050">
            <a:solidFill>
              <a:srgbClr val="000000"/>
            </a:solidFill>
            <a:prstDash val="solid"/>
          </a:ln>
        </p:spPr>
      </p:sp>
      <p:sp>
        <p:nvSpPr>
          <p:cNvPr id="7" name="Shape 4"/>
          <p:cNvSpPr/>
          <p:nvPr/>
        </p:nvSpPr>
        <p:spPr>
          <a:xfrm>
            <a:off x="6812280" y="1188720"/>
            <a:ext cx="4937760" cy="347472"/>
          </a:xfrm>
          <a:prstGeom prst="rect">
            <a:avLst/>
          </a:prstGeom>
          <a:solidFill>
            <a:srgbClr val="000000"/>
          </a:solidFill>
          <a:ln w="19050">
            <a:solidFill>
              <a:srgbClr val="000000"/>
            </a:solidFill>
            <a:prstDash val="solid"/>
          </a:ln>
        </p:spPr>
      </p:sp>
      <p:sp>
        <p:nvSpPr>
          <p:cNvPr id="8" name="Text 5"/>
          <p:cNvSpPr txBox="1"/>
          <p:nvPr/>
        </p:nvSpPr>
        <p:spPr>
          <a:xfrm>
            <a:off x="6940296" y="1188720"/>
            <a:ext cx="4681728" cy="347472"/>
          </a:xfrm>
          <a:prstGeom prst="rect">
            <a:avLst/>
          </a:prstGeom>
          <a:noFill/>
          <a:ln/>
        </p:spPr>
        <p:txBody>
          <a:bodyPr wrap="square" lIns="0" tIns="0" rIns="0" bIns="0" rtlCol="0" anchor="ctr"/>
          <a:lstStyle/>
          <a:p>
            <a:pPr algn="l" indent="0" marL="0">
              <a:buNone/>
            </a:pPr>
            <a:r>
              <a:rPr lang="en-US" sz="1300" b="1" dirty="0">
                <a:solidFill>
                  <a:srgbClr val="FFFFFF"/>
                </a:solidFill>
              </a:rPr>
              <a:t>&gt; numbering</a:t>
            </a:r>
            <a:endParaRPr lang="en-US" sz="1300" dirty="0"/>
          </a:p>
        </p:txBody>
      </p:sp>
      <p:sp>
        <p:nvSpPr>
          <p:cNvPr id="9" name="Text 6"/>
          <p:cNvSpPr txBox="1"/>
          <p:nvPr/>
        </p:nvSpPr>
        <p:spPr>
          <a:xfrm>
            <a:off x="6976872" y="1645920"/>
            <a:ext cx="4608576" cy="2359152"/>
          </a:xfrm>
          <a:prstGeom prst="rect">
            <a:avLst/>
          </a:prstGeom>
          <a:noFill/>
          <a:ln/>
        </p:spPr>
        <p:txBody>
          <a:bodyPr wrap="square" lIns="0" tIns="0" rIns="0" bIns="0" rtlCol="0" anchor="t"/>
          <a:lstStyle/>
          <a:p>
            <a:pPr indent="0" marL="0">
              <a:spcAft>
                <a:spcPts val="100"/>
              </a:spcAft>
              <a:buNone/>
            </a:pPr>
            <a:r>
              <a:rPr lang="en-US" sz="1300" dirty="0">
                <a:solidFill>
                  <a:srgbClr val="000000"/>
                </a:solidFill>
                <a:latin typeface="Consolas" pitchFamily="34" charset="0"/>
                <a:ea typeface="Consolas" pitchFamily="34" charset="-122"/>
                <a:cs typeface="Consolas" pitchFamily="34" charset="-120"/>
              </a:rPr>
              <a:t>input = layer x 280 + row x 20</a:t>
            </a:r>
            <a:endParaRPr lang="en-US" sz="1300" dirty="0"/>
          </a:p>
          <a:p>
            <a:pPr indent="0" marL="0">
              <a:spcAft>
                <a:spcPts val="100"/>
              </a:spcAft>
              <a:buNone/>
            </a:pPr>
            <a:r>
              <a:rPr lang="en-US" sz="1300" dirty="0">
                <a:solidFill>
                  <a:srgbClr val="000000"/>
                </a:solidFill>
                <a:latin typeface="Consolas" pitchFamily="34" charset="0"/>
                <a:ea typeface="Consolas" pitchFamily="34" charset="-122"/>
                <a:cs typeface="Consolas" pitchFamily="34" charset="-120"/>
              </a:rPr>
              <a:t>        + column + 1</a:t>
            </a:r>
            <a:endParaRPr lang="en-US" sz="1300" dirty="0"/>
          </a:p>
          <a:p>
            <a:pPr indent="0" marL="0">
              <a:spcAft>
                <a:spcPts val="1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100"/>
              </a:spcAft>
              <a:buNone/>
            </a:pPr>
            <a:r>
              <a:rPr lang="en-US" sz="1300" dirty="0">
                <a:solidFill>
                  <a:srgbClr val="000000"/>
                </a:solidFill>
                <a:latin typeface="Consolas" pitchFamily="34" charset="0"/>
                <a:ea typeface="Consolas" pitchFamily="34" charset="-122"/>
                <a:cs typeface="Consolas" pitchFamily="34" charset="-120"/>
              </a:rPr>
              <a:t>layer   0 solid, 1 spike, 2 goal</a:t>
            </a:r>
            <a:endParaRPr lang="en-US" sz="1300" dirty="0"/>
          </a:p>
          <a:p>
            <a:pPr indent="0" marL="0">
              <a:spcAft>
                <a:spcPts val="100"/>
              </a:spcAft>
              <a:buNone/>
            </a:pPr>
            <a:r>
              <a:rPr lang="en-US" sz="1300" dirty="0">
                <a:solidFill>
                  <a:srgbClr val="000000"/>
                </a:solidFill>
                <a:latin typeface="Consolas" pitchFamily="34" charset="0"/>
                <a:ea typeface="Consolas" pitchFamily="34" charset="-122"/>
                <a:cs typeface="Consolas" pitchFamily="34" charset="-120"/>
              </a:rPr>
              <a:t>row     0 (6 up) .. 13 (7 down)</a:t>
            </a:r>
            <a:endParaRPr lang="en-US" sz="1300" dirty="0"/>
          </a:p>
          <a:p>
            <a:pPr indent="0" marL="0">
              <a:spcAft>
                <a:spcPts val="100"/>
              </a:spcAft>
              <a:buNone/>
            </a:pPr>
            <a:r>
              <a:rPr lang="en-US" sz="1300" dirty="0">
                <a:solidFill>
                  <a:srgbClr val="000000"/>
                </a:solidFill>
                <a:latin typeface="Consolas" pitchFamily="34" charset="0"/>
                <a:ea typeface="Consolas" pitchFamily="34" charset="-122"/>
                <a:cs typeface="Consolas" pitchFamily="34" charset="-120"/>
              </a:rPr>
              <a:t>column  0 (4 behind) .. 19 (15 ahead)</a:t>
            </a:r>
            <a:endParaRPr lang="en-US" sz="1300" dirty="0"/>
          </a:p>
          <a:p>
            <a:pPr indent="0" marL="0">
              <a:spcAft>
                <a:spcPts val="1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100"/>
              </a:spcAft>
              <a:buNone/>
            </a:pPr>
            <a:r>
              <a:rPr lang="en-US" sz="1300" b="1" dirty="0">
                <a:solidFill>
                  <a:srgbClr val="000000"/>
                </a:solidFill>
                <a:latin typeface="Consolas" pitchFamily="34" charset="0"/>
                <a:ea typeface="Consolas" pitchFamily="34" charset="-122"/>
                <a:cs typeface="Consolas" pitchFamily="34" charset="-120"/>
              </a:rPr>
              <a:t>spike 2 tiles ahead, at foot level</a:t>
            </a:r>
            <a:endParaRPr lang="en-US" sz="1300" dirty="0"/>
          </a:p>
          <a:p>
            <a:pPr indent="0" marL="0">
              <a:spcAft>
                <a:spcPts val="100"/>
              </a:spcAft>
              <a:buNone/>
            </a:pPr>
            <a:r>
              <a:rPr lang="en-US" sz="1300" dirty="0">
                <a:solidFill>
                  <a:srgbClr val="000000"/>
                </a:solidFill>
                <a:latin typeface="Consolas" pitchFamily="34" charset="0"/>
                <a:ea typeface="Consolas" pitchFamily="34" charset="-122"/>
                <a:cs typeface="Consolas" pitchFamily="34" charset="-120"/>
              </a:rPr>
              <a:t>= 1x280 + 6x20 + 6 + 1 = </a:t>
            </a:r>
            <a:pPr indent="0" marL="0">
              <a:spcAft>
                <a:spcPts val="100"/>
              </a:spcAft>
              <a:buNone/>
            </a:pPr>
            <a:r>
              <a:rPr lang="en-US" sz="1300" b="1" dirty="0">
                <a:solidFill>
                  <a:srgbClr val="000000"/>
                </a:solidFill>
                <a:latin typeface="Consolas" pitchFamily="34" charset="0"/>
                <a:ea typeface="Consolas" pitchFamily="34" charset="-122"/>
                <a:cs typeface="Consolas" pitchFamily="34" charset="-120"/>
              </a:rPr>
              <a:t>input 407</a:t>
            </a:r>
            <a:endParaRPr lang="en-US" sz="1300" dirty="0"/>
          </a:p>
        </p:txBody>
      </p:sp>
      <p:sp>
        <p:nvSpPr>
          <p:cNvPr id="10" name="Shape 7"/>
          <p:cNvSpPr/>
          <p:nvPr/>
        </p:nvSpPr>
        <p:spPr>
          <a:xfrm>
            <a:off x="548640" y="4526280"/>
            <a:ext cx="11201400" cy="1143000"/>
          </a:xfrm>
          <a:prstGeom prst="rect">
            <a:avLst/>
          </a:prstGeom>
          <a:solidFill>
            <a:srgbClr val="000000"/>
          </a:solidFill>
          <a:ln w="12700">
            <a:solidFill>
              <a:srgbClr val="000000"/>
            </a:solidFill>
            <a:prstDash val="solid"/>
          </a:ln>
        </p:spPr>
      </p:sp>
      <p:sp>
        <p:nvSpPr>
          <p:cNvPr id="11" name="Text 8"/>
          <p:cNvSpPr txBox="1"/>
          <p:nvPr/>
        </p:nvSpPr>
        <p:spPr>
          <a:xfrm>
            <a:off x="685800" y="4526280"/>
            <a:ext cx="10927080" cy="1143000"/>
          </a:xfrm>
          <a:prstGeom prst="rect">
            <a:avLst/>
          </a:prstGeom>
          <a:noFill/>
          <a:ln/>
        </p:spPr>
        <p:txBody>
          <a:bodyPr wrap="square" lIns="0" tIns="0" rIns="0" bIns="0" rtlCol="0" anchor="ctr"/>
          <a:lstStyle/>
          <a:p>
            <a:pPr algn="l" indent="0" marL="0">
              <a:buNone/>
            </a:pPr>
            <a:r>
              <a:rPr lang="en-US" sz="1400" b="1" dirty="0">
                <a:solidFill>
                  <a:srgbClr val="FFFFFF"/>
                </a:solidFill>
              </a:rPr>
              <a:t>Why 3 yes/no layers and not one number per tile?</a:t>
            </a:r>
            <a:endParaRPr lang="en-US" sz="1400" dirty="0"/>
          </a:p>
          <a:p>
            <a:pPr algn="l" indent="0" marL="0">
              <a:buNone/>
            </a:pPr>
            <a:r>
              <a:rPr lang="en-US" sz="1400" b="1" dirty="0">
                <a:solidFill>
                  <a:srgbClr val="FFFFFF"/>
                </a:solidFill>
              </a:rPr>
              <a:t>"air = 0, solid = 1, spike = 2" would tell the network a spike is "twice a solid". Separate yes/no layers carry no fake ordering (one-hot encoding).</a:t>
            </a:r>
            <a:endParaRPr lang="en-US" sz="1400" dirty="0"/>
          </a:p>
        </p:txBody>
      </p:sp>
      <p:sp>
        <p:nvSpPr>
          <p:cNvPr id="13"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what the agent sees</a:t>
            </a:r>
            <a:endParaRPr lang="en-US" sz="900" dirty="0"/>
          </a:p>
        </p:txBody>
      </p:sp>
      <p:sp>
        <p:nvSpPr>
          <p:cNvPr id="14"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[ 09/42 ]</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INPUT 2: 7 NUMBERS ABOUT ITSELF</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[ 02 ]</a:t>
            </a:r>
            <a:endParaRPr lang="en-US" sz="14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57200" y="1143000"/>
          <a:ext cx="11247120" cy="914400"/>
        </p:xfrm>
        <a:graphic>
          <a:graphicData uri="http://schemas.openxmlformats.org/drawingml/2006/table">
            <a:tbl>
              <a:tblPr/>
              <a:tblGrid>
                <a:gridCol w="640080"/>
                <a:gridCol w="1280160"/>
                <a:gridCol w="3429000"/>
                <a:gridCol w="1188720"/>
                <a:gridCol w="3337560"/>
                <a:gridCol w="1371600"/>
              </a:tblGrid>
              <a:tr h="457200">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name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computed as</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range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why it needs it</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example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r>
              <a:tr h="45720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841</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vx</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run speed / 0.15</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-1 .. 1</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how far a jump will carry</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+1.00</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842</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vy</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vertical speed / 0.5 (+ = down)</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-0.8 .. 1</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rising or falling</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+0.56</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5720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843</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on_ground</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1 if standing on something</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 / 1</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can it jump right now</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+0.00</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844</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can_jump</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1 up to 5 frames after a ledge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 / 1</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late jumps still work</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+0.00</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5720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845</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jumping</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1 while rising with jump held</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 / 1</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letting go cuts the jump</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+0.00</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5720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846</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x in tile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position inside its tile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0 .. 1</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exact take-off point</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+0.17</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5720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847</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y in tile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position inside its tile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0 .. 1</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exact height</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+0.95</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457200" y="5074920"/>
            <a:ext cx="11247120" cy="274320"/>
          </a:xfrm>
          <a:prstGeom prst="rect">
            <a:avLst/>
          </a:prstGeom>
          <a:noFill/>
          <a:ln/>
        </p:spPr>
        <p:txBody>
          <a:bodyPr wrap="square" lIns="0" tIns="0" rIns="0" bIns="0" rtlCol="0" anchor="ctr"/>
          <a:lstStyle/>
          <a:p>
            <a:pPr indent="0" marL="0">
              <a:buNone/>
            </a:pPr>
            <a:r>
              <a:rPr lang="en-US" sz="1100" i="1" dirty="0">
                <a:solidFill>
                  <a:srgbClr val="5A5A5A"/>
                </a:solidFill>
              </a:rPr>
              <a:t>example = the moment on the previous slides: running at full speed, in the air, falling</a:t>
            </a:r>
            <a:endParaRPr lang="en-US" sz="1100" dirty="0"/>
          </a:p>
        </p:txBody>
      </p:sp>
      <p:sp>
        <p:nvSpPr>
          <p:cNvPr id="6" name="Shape 3"/>
          <p:cNvSpPr/>
          <p:nvPr/>
        </p:nvSpPr>
        <p:spPr>
          <a:xfrm>
            <a:off x="457200" y="5486400"/>
            <a:ext cx="11247120" cy="502920"/>
          </a:xfrm>
          <a:prstGeom prst="rect">
            <a:avLst/>
          </a:prstGeom>
          <a:solidFill>
            <a:srgbClr val="000000"/>
          </a:solidFill>
          <a:ln w="12700">
            <a:solidFill>
              <a:srgbClr val="000000"/>
            </a:solidFill>
            <a:prstDash val="solid"/>
          </a:ln>
        </p:spPr>
      </p:sp>
      <p:sp>
        <p:nvSpPr>
          <p:cNvPr id="7" name="Text 4"/>
          <p:cNvSpPr txBox="1"/>
          <p:nvPr/>
        </p:nvSpPr>
        <p:spPr>
          <a:xfrm>
            <a:off x="594360" y="5486400"/>
            <a:ext cx="10972800" cy="502920"/>
          </a:xfrm>
          <a:prstGeom prst="rect">
            <a:avLst/>
          </a:prstGeom>
          <a:noFill/>
          <a:ln/>
        </p:spPr>
        <p:txBody>
          <a:bodyPr wrap="square" lIns="0" tIns="0" rIns="0" bIns="0" rtlCol="0" anchor="ctr"/>
          <a:lstStyle/>
          <a:p>
            <a:pPr algn="ctr" indent="0" marL="0">
              <a:buNone/>
            </a:pPr>
            <a:r>
              <a:rPr lang="en-US" sz="1400" b="1" dirty="0">
                <a:solidFill>
                  <a:srgbClr val="FFFFFF"/>
                </a:solidFill>
              </a:rPr>
              <a:t>all 847 inputs are between -1 and 1: neural networks learn best on small numbers</a:t>
            </a:r>
            <a:endParaRPr lang="en-US" sz="1400" dirty="0"/>
          </a:p>
        </p:txBody>
      </p:sp>
      <p:sp>
        <p:nvSpPr>
          <p:cNvPr id="9"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what the agent sees</a:t>
            </a:r>
            <a:endParaRPr lang="en-US" sz="900" dirty="0"/>
          </a:p>
        </p:txBody>
      </p:sp>
      <p:sp>
        <p:nvSpPr>
          <p:cNvPr id="10"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[ 10/42 ]</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HOW THE NETWORK READS 847 NUMBERS</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[ 02 ]</a:t>
            </a:r>
            <a:endParaRPr lang="en-US" sz="1400" dirty="0"/>
          </a:p>
        </p:txBody>
      </p:sp>
      <p:sp>
        <p:nvSpPr>
          <p:cNvPr id="4" name="Shape 2"/>
          <p:cNvSpPr/>
          <p:nvPr/>
        </p:nvSpPr>
        <p:spPr>
          <a:xfrm>
            <a:off x="502920" y="1005840"/>
            <a:ext cx="3566160" cy="502920"/>
          </a:xfrm>
          <a:prstGeom prst="rect">
            <a:avLst/>
          </a:prstGeom>
          <a:solidFill>
            <a:srgbClr val="000000"/>
          </a:solidFill>
          <a:ln w="12700">
            <a:solidFill>
              <a:srgbClr val="000000"/>
            </a:solidFill>
            <a:prstDash val="solid"/>
          </a:ln>
        </p:spPr>
      </p:sp>
      <p:sp>
        <p:nvSpPr>
          <p:cNvPr id="5" name="Text 3"/>
          <p:cNvSpPr txBox="1"/>
          <p:nvPr/>
        </p:nvSpPr>
        <p:spPr>
          <a:xfrm>
            <a:off x="502920" y="1005840"/>
            <a:ext cx="3566160" cy="502920"/>
          </a:xfrm>
          <a:prstGeom prst="rect">
            <a:avLst/>
          </a:prstGeom>
          <a:noFill/>
          <a:ln/>
        </p:spPr>
        <p:txBody>
          <a:bodyPr wrap="square" lIns="0" tIns="0" rIns="0" bIns="0" rtlCol="0" anchor="ctr"/>
          <a:lstStyle/>
          <a:p>
            <a:pPr algn="ctr" indent="0" marL="0">
              <a:buNone/>
            </a:pPr>
            <a:r>
              <a:rPr lang="en-US" sz="1200" b="1" dirty="0">
                <a:solidFill>
                  <a:srgbClr val="FFFFFF"/>
                </a:solidFill>
              </a:rPr>
              <a:t>solid  1-280</a:t>
            </a:r>
            <a:endParaRPr lang="en-US" sz="1200" dirty="0"/>
          </a:p>
        </p:txBody>
      </p:sp>
      <p:sp>
        <p:nvSpPr>
          <p:cNvPr id="6" name="Shape 4"/>
          <p:cNvSpPr/>
          <p:nvPr/>
        </p:nvSpPr>
        <p:spPr>
          <a:xfrm>
            <a:off x="4069080" y="1005840"/>
            <a:ext cx="3566160" cy="502920"/>
          </a:xfrm>
          <a:prstGeom prst="rect">
            <a:avLst/>
          </a:prstGeom>
          <a:solidFill>
            <a:srgbClr val="4D4D4D"/>
          </a:solidFill>
          <a:ln w="12700">
            <a:solidFill>
              <a:srgbClr val="000000"/>
            </a:solidFill>
            <a:prstDash val="solid"/>
          </a:ln>
        </p:spPr>
      </p:sp>
      <p:sp>
        <p:nvSpPr>
          <p:cNvPr id="7" name="Text 5"/>
          <p:cNvSpPr txBox="1"/>
          <p:nvPr/>
        </p:nvSpPr>
        <p:spPr>
          <a:xfrm>
            <a:off x="4069080" y="1005840"/>
            <a:ext cx="3566160" cy="502920"/>
          </a:xfrm>
          <a:prstGeom prst="rect">
            <a:avLst/>
          </a:prstGeom>
          <a:noFill/>
          <a:ln/>
        </p:spPr>
        <p:txBody>
          <a:bodyPr wrap="square" lIns="0" tIns="0" rIns="0" bIns="0" rtlCol="0" anchor="ctr"/>
          <a:lstStyle/>
          <a:p>
            <a:pPr algn="ctr" indent="0" marL="0">
              <a:buNone/>
            </a:pPr>
            <a:r>
              <a:rPr lang="en-US" sz="1200" b="1" dirty="0">
                <a:solidFill>
                  <a:srgbClr val="FFFFFF"/>
                </a:solidFill>
              </a:rPr>
              <a:t>spike  281-560</a:t>
            </a:r>
            <a:endParaRPr lang="en-US" sz="1200" dirty="0"/>
          </a:p>
        </p:txBody>
      </p:sp>
      <p:sp>
        <p:nvSpPr>
          <p:cNvPr id="8" name="Shape 6"/>
          <p:cNvSpPr/>
          <p:nvPr/>
        </p:nvSpPr>
        <p:spPr>
          <a:xfrm>
            <a:off x="7635240" y="1005840"/>
            <a:ext cx="3566160" cy="502920"/>
          </a:xfrm>
          <a:prstGeom prst="rect">
            <a:avLst/>
          </a:prstGeom>
          <a:solidFill>
            <a:srgbClr val="BFBFBF"/>
          </a:solidFill>
          <a:ln w="12700">
            <a:solidFill>
              <a:srgbClr val="000000"/>
            </a:solidFill>
            <a:prstDash val="solid"/>
          </a:ln>
        </p:spPr>
      </p:sp>
      <p:sp>
        <p:nvSpPr>
          <p:cNvPr id="9" name="Text 7"/>
          <p:cNvSpPr txBox="1"/>
          <p:nvPr/>
        </p:nvSpPr>
        <p:spPr>
          <a:xfrm>
            <a:off x="7635240" y="1005840"/>
            <a:ext cx="3566160" cy="502920"/>
          </a:xfrm>
          <a:prstGeom prst="rect">
            <a:avLst/>
          </a:prstGeom>
          <a:noFill/>
          <a:ln/>
        </p:spPr>
        <p:txBody>
          <a:bodyPr wrap="square" lIns="0" tIns="0" rIns="0" bIns="0" rtlCol="0" anchor="ctr"/>
          <a:lstStyle/>
          <a:p>
            <a:pPr algn="ctr" indent="0" marL="0">
              <a:buNone/>
            </a:pPr>
            <a:r>
              <a:rPr lang="en-US" sz="1200" b="1" dirty="0">
                <a:solidFill>
                  <a:srgbClr val="000000"/>
                </a:solidFill>
              </a:rPr>
              <a:t>goal  561-840</a:t>
            </a:r>
            <a:endParaRPr lang="en-US" sz="1200" dirty="0"/>
          </a:p>
        </p:txBody>
      </p:sp>
      <p:sp>
        <p:nvSpPr>
          <p:cNvPr id="10" name="Shape 8"/>
          <p:cNvSpPr/>
          <p:nvPr/>
        </p:nvSpPr>
        <p:spPr>
          <a:xfrm>
            <a:off x="11201400" y="1005840"/>
            <a:ext cx="548640" cy="502920"/>
          </a:xfrm>
          <a:prstGeom prst="rect">
            <a:avLst/>
          </a:prstGeom>
          <a:solidFill>
            <a:srgbClr val="FFFFFF"/>
          </a:solidFill>
          <a:ln w="12700">
            <a:solidFill>
              <a:srgbClr val="000000"/>
            </a:solidFill>
            <a:prstDash val="solid"/>
          </a:ln>
        </p:spPr>
      </p:sp>
      <p:sp>
        <p:nvSpPr>
          <p:cNvPr id="11" name="Text 9"/>
          <p:cNvSpPr txBox="1"/>
          <p:nvPr/>
        </p:nvSpPr>
        <p:spPr>
          <a:xfrm>
            <a:off x="11201400" y="1005840"/>
            <a:ext cx="548640" cy="502920"/>
          </a:xfrm>
          <a:prstGeom prst="rect">
            <a:avLst/>
          </a:prstGeom>
          <a:noFill/>
          <a:ln/>
        </p:spPr>
        <p:txBody>
          <a:bodyPr wrap="square" lIns="0" tIns="0" rIns="0" bIns="0" rtlCol="0" anchor="ctr"/>
          <a:lstStyle/>
          <a:p>
            <a:pPr algn="ctr" indent="0" marL="0">
              <a:buNone/>
            </a:pPr>
            <a:r>
              <a:rPr lang="en-US" sz="1200" b="1" dirty="0">
                <a:solidFill>
                  <a:srgbClr val="000000"/>
                </a:solidFill>
              </a:rPr>
              <a:t>self</a:t>
            </a:r>
            <a:endParaRPr lang="en-US" sz="1200" dirty="0"/>
          </a:p>
        </p:txBody>
      </p:sp>
      <p:sp>
        <p:nvSpPr>
          <p:cNvPr id="12" name="Text 10"/>
          <p:cNvSpPr txBox="1"/>
          <p:nvPr/>
        </p:nvSpPr>
        <p:spPr>
          <a:xfrm>
            <a:off x="502920" y="1554480"/>
            <a:ext cx="11247120" cy="292608"/>
          </a:xfrm>
          <a:prstGeom prst="rect">
            <a:avLst/>
          </a:prstGeom>
          <a:noFill/>
          <a:ln/>
        </p:spPr>
        <p:txBody>
          <a:bodyPr wrap="square" lIns="0" tIns="0" rIns="0" bIns="0" rtlCol="0" anchor="ctr"/>
          <a:lstStyle/>
          <a:p>
            <a:pPr indent="0" marL="0">
              <a:buNone/>
            </a:pPr>
            <a:r>
              <a:rPr lang="en-US" sz="1200" dirty="0">
                <a:solidFill>
                  <a:srgbClr val="5A5A5A"/>
                </a:solidFill>
              </a:rPr>
              <a:t>one flat list of 847 numbers: the network's whole world</a:t>
            </a:r>
            <a:endParaRPr lang="en-US" sz="1200" dirty="0"/>
          </a:p>
        </p:txBody>
      </p:sp>
      <p:sp>
        <p:nvSpPr>
          <p:cNvPr id="13" name="Shape 11"/>
          <p:cNvSpPr/>
          <p:nvPr/>
        </p:nvSpPr>
        <p:spPr>
          <a:xfrm>
            <a:off x="576072" y="2130552"/>
            <a:ext cx="5486400" cy="1783080"/>
          </a:xfrm>
          <a:prstGeom prst="rect">
            <a:avLst/>
          </a:prstGeom>
          <a:solidFill>
            <a:srgbClr val="000000"/>
          </a:solidFill>
          <a:ln w="9525">
            <a:solidFill>
              <a:srgbClr val="000000"/>
            </a:solidFill>
            <a:prstDash val="solid"/>
          </a:ln>
        </p:spPr>
      </p:sp>
      <p:sp>
        <p:nvSpPr>
          <p:cNvPr id="14" name="Shape 12"/>
          <p:cNvSpPr/>
          <p:nvPr/>
        </p:nvSpPr>
        <p:spPr>
          <a:xfrm>
            <a:off x="502920" y="2057400"/>
            <a:ext cx="5486400" cy="1783080"/>
          </a:xfrm>
          <a:prstGeom prst="rect">
            <a:avLst/>
          </a:prstGeom>
          <a:solidFill>
            <a:srgbClr val="FFFFFF"/>
          </a:solidFill>
          <a:ln w="19050">
            <a:solidFill>
              <a:srgbClr val="000000"/>
            </a:solidFill>
            <a:prstDash val="solid"/>
          </a:ln>
        </p:spPr>
      </p:sp>
      <p:sp>
        <p:nvSpPr>
          <p:cNvPr id="15" name="Shape 13"/>
          <p:cNvSpPr/>
          <p:nvPr/>
        </p:nvSpPr>
        <p:spPr>
          <a:xfrm>
            <a:off x="502920" y="2057400"/>
            <a:ext cx="5486400" cy="347472"/>
          </a:xfrm>
          <a:prstGeom prst="rect">
            <a:avLst/>
          </a:prstGeom>
          <a:solidFill>
            <a:srgbClr val="000000"/>
          </a:solidFill>
          <a:ln w="19050">
            <a:solidFill>
              <a:srgbClr val="000000"/>
            </a:solidFill>
            <a:prstDash val="solid"/>
          </a:ln>
        </p:spPr>
      </p:sp>
      <p:sp>
        <p:nvSpPr>
          <p:cNvPr id="16" name="Text 14"/>
          <p:cNvSpPr txBox="1"/>
          <p:nvPr/>
        </p:nvSpPr>
        <p:spPr>
          <a:xfrm>
            <a:off x="630936" y="2057400"/>
            <a:ext cx="5230368" cy="347472"/>
          </a:xfrm>
          <a:prstGeom prst="rect">
            <a:avLst/>
          </a:prstGeom>
          <a:noFill/>
          <a:ln/>
        </p:spPr>
        <p:txBody>
          <a:bodyPr wrap="square" lIns="0" tIns="0" rIns="0" bIns="0" rtlCol="0" anchor="ctr"/>
          <a:lstStyle/>
          <a:p>
            <a:pPr algn="l" indent="0" marL="0">
              <a:buNone/>
            </a:pPr>
            <a:r>
              <a:rPr lang="en-US" sz="1300" b="1" dirty="0">
                <a:solidFill>
                  <a:srgbClr val="FFFFFF"/>
                </a:solidFill>
              </a:rPr>
              <a:t>&gt; no picture, just a list</a:t>
            </a:r>
            <a:endParaRPr lang="en-US" sz="1300" dirty="0"/>
          </a:p>
        </p:txBody>
      </p:sp>
      <p:sp>
        <p:nvSpPr>
          <p:cNvPr id="17" name="Text 15"/>
          <p:cNvSpPr txBox="1"/>
          <p:nvPr/>
        </p:nvSpPr>
        <p:spPr>
          <a:xfrm>
            <a:off x="667512" y="2514600"/>
            <a:ext cx="5157216" cy="121615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The network never sees an image. Input 407 always means "spike, 2 tiles ahead, at foot level". Meaning comes only from the position in the list.</a:t>
            </a:r>
            <a:endParaRPr lang="en-US" sz="1300" dirty="0"/>
          </a:p>
        </p:txBody>
      </p:sp>
      <p:sp>
        <p:nvSpPr>
          <p:cNvPr id="18" name="Shape 16"/>
          <p:cNvSpPr/>
          <p:nvPr/>
        </p:nvSpPr>
        <p:spPr>
          <a:xfrm>
            <a:off x="6291072" y="2130552"/>
            <a:ext cx="5486400" cy="1783080"/>
          </a:xfrm>
          <a:prstGeom prst="rect">
            <a:avLst/>
          </a:prstGeom>
          <a:solidFill>
            <a:srgbClr val="000000"/>
          </a:solidFill>
          <a:ln w="9525">
            <a:solidFill>
              <a:srgbClr val="000000"/>
            </a:solidFill>
            <a:prstDash val="solid"/>
          </a:ln>
        </p:spPr>
      </p:sp>
      <p:sp>
        <p:nvSpPr>
          <p:cNvPr id="19" name="Shape 17"/>
          <p:cNvSpPr/>
          <p:nvPr/>
        </p:nvSpPr>
        <p:spPr>
          <a:xfrm>
            <a:off x="6217920" y="2057400"/>
            <a:ext cx="5486400" cy="1783080"/>
          </a:xfrm>
          <a:prstGeom prst="rect">
            <a:avLst/>
          </a:prstGeom>
          <a:solidFill>
            <a:srgbClr val="FFFFFF"/>
          </a:solidFill>
          <a:ln w="19050">
            <a:solidFill>
              <a:srgbClr val="000000"/>
            </a:solidFill>
            <a:prstDash val="solid"/>
          </a:ln>
        </p:spPr>
      </p:sp>
      <p:sp>
        <p:nvSpPr>
          <p:cNvPr id="20" name="Shape 18"/>
          <p:cNvSpPr/>
          <p:nvPr/>
        </p:nvSpPr>
        <p:spPr>
          <a:xfrm>
            <a:off x="6217920" y="2057400"/>
            <a:ext cx="5486400" cy="347472"/>
          </a:xfrm>
          <a:prstGeom prst="rect">
            <a:avLst/>
          </a:prstGeom>
          <a:solidFill>
            <a:srgbClr val="000000"/>
          </a:solidFill>
          <a:ln w="19050">
            <a:solidFill>
              <a:srgbClr val="000000"/>
            </a:solidFill>
            <a:prstDash val="solid"/>
          </a:ln>
        </p:spPr>
      </p:sp>
      <p:sp>
        <p:nvSpPr>
          <p:cNvPr id="21" name="Text 19"/>
          <p:cNvSpPr txBox="1"/>
          <p:nvPr/>
        </p:nvSpPr>
        <p:spPr>
          <a:xfrm>
            <a:off x="6345936" y="2057400"/>
            <a:ext cx="5230368" cy="347472"/>
          </a:xfrm>
          <a:prstGeom prst="rect">
            <a:avLst/>
          </a:prstGeom>
          <a:noFill/>
          <a:ln/>
        </p:spPr>
        <p:txBody>
          <a:bodyPr wrap="square" lIns="0" tIns="0" rIns="0" bIns="0" rtlCol="0" anchor="ctr"/>
          <a:lstStyle/>
          <a:p>
            <a:pPr algn="l" indent="0" marL="0">
              <a:buNone/>
            </a:pPr>
            <a:r>
              <a:rPr lang="en-US" sz="1300" b="1" dirty="0">
                <a:solidFill>
                  <a:srgbClr val="FFFFFF"/>
                </a:solidFill>
              </a:rPr>
              <a:t>&gt; relative to the agent</a:t>
            </a:r>
            <a:endParaRPr lang="en-US" sz="1300" dirty="0"/>
          </a:p>
        </p:txBody>
      </p:sp>
      <p:sp>
        <p:nvSpPr>
          <p:cNvPr id="22" name="Text 20"/>
          <p:cNvSpPr txBox="1"/>
          <p:nvPr/>
        </p:nvSpPr>
        <p:spPr>
          <a:xfrm>
            <a:off x="6382512" y="2514600"/>
            <a:ext cx="5157216" cy="121615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The window moves with the agent, so a gap 3 tiles ahead gives the same numbers anywhere, in any level. That is why it can play levels it has never seen.</a:t>
            </a:r>
            <a:endParaRPr lang="en-US" sz="1300" dirty="0"/>
          </a:p>
        </p:txBody>
      </p:sp>
      <p:sp>
        <p:nvSpPr>
          <p:cNvPr id="23" name="Shape 21"/>
          <p:cNvSpPr/>
          <p:nvPr/>
        </p:nvSpPr>
        <p:spPr>
          <a:xfrm>
            <a:off x="576072" y="4142232"/>
            <a:ext cx="5486400" cy="1783080"/>
          </a:xfrm>
          <a:prstGeom prst="rect">
            <a:avLst/>
          </a:prstGeom>
          <a:solidFill>
            <a:srgbClr val="000000"/>
          </a:solidFill>
          <a:ln w="9525">
            <a:solidFill>
              <a:srgbClr val="000000"/>
            </a:solidFill>
            <a:prstDash val="solid"/>
          </a:ln>
        </p:spPr>
      </p:sp>
      <p:sp>
        <p:nvSpPr>
          <p:cNvPr id="24" name="Shape 22"/>
          <p:cNvSpPr/>
          <p:nvPr/>
        </p:nvSpPr>
        <p:spPr>
          <a:xfrm>
            <a:off x="502920" y="4069080"/>
            <a:ext cx="5486400" cy="1783080"/>
          </a:xfrm>
          <a:prstGeom prst="rect">
            <a:avLst/>
          </a:prstGeom>
          <a:solidFill>
            <a:srgbClr val="FFFFFF"/>
          </a:solidFill>
          <a:ln w="19050">
            <a:solidFill>
              <a:srgbClr val="000000"/>
            </a:solidFill>
            <a:prstDash val="solid"/>
          </a:ln>
        </p:spPr>
      </p:sp>
      <p:sp>
        <p:nvSpPr>
          <p:cNvPr id="25" name="Shape 23"/>
          <p:cNvSpPr/>
          <p:nvPr/>
        </p:nvSpPr>
        <p:spPr>
          <a:xfrm>
            <a:off x="502920" y="4069080"/>
            <a:ext cx="5486400" cy="347472"/>
          </a:xfrm>
          <a:prstGeom prst="rect">
            <a:avLst/>
          </a:prstGeom>
          <a:solidFill>
            <a:srgbClr val="000000"/>
          </a:solidFill>
          <a:ln w="19050">
            <a:solidFill>
              <a:srgbClr val="000000"/>
            </a:solidFill>
            <a:prstDash val="solid"/>
          </a:ln>
        </p:spPr>
      </p:sp>
      <p:sp>
        <p:nvSpPr>
          <p:cNvPr id="26" name="Text 24"/>
          <p:cNvSpPr txBox="1"/>
          <p:nvPr/>
        </p:nvSpPr>
        <p:spPr>
          <a:xfrm>
            <a:off x="630936" y="4069080"/>
            <a:ext cx="5230368" cy="347472"/>
          </a:xfrm>
          <a:prstGeom prst="rect">
            <a:avLst/>
          </a:prstGeom>
          <a:noFill/>
          <a:ln/>
        </p:spPr>
        <p:txBody>
          <a:bodyPr wrap="square" lIns="0" tIns="0" rIns="0" bIns="0" rtlCol="0" anchor="ctr"/>
          <a:lstStyle/>
          <a:p>
            <a:pPr algn="l" indent="0" marL="0">
              <a:buNone/>
            </a:pPr>
            <a:r>
              <a:rPr lang="en-US" sz="1300" b="1" dirty="0">
                <a:solidFill>
                  <a:srgbClr val="FFFFFF"/>
                </a:solidFill>
              </a:rPr>
              <a:t>&gt; nothing hand-coded</a:t>
            </a:r>
            <a:endParaRPr lang="en-US" sz="1300" dirty="0"/>
          </a:p>
        </p:txBody>
      </p:sp>
      <p:sp>
        <p:nvSpPr>
          <p:cNvPr id="27" name="Text 25"/>
          <p:cNvSpPr txBox="1"/>
          <p:nvPr/>
        </p:nvSpPr>
        <p:spPr>
          <a:xfrm>
            <a:off x="667512" y="4526280"/>
            <a:ext cx="5157216" cy="121615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No rule says "jump before a gap". Each first-layer neuron gives every input a learned weight; training finds weights that turn tile patterns into the right button.</a:t>
            </a:r>
            <a:endParaRPr lang="en-US" sz="1300" dirty="0"/>
          </a:p>
        </p:txBody>
      </p:sp>
      <p:sp>
        <p:nvSpPr>
          <p:cNvPr id="28" name="Shape 26"/>
          <p:cNvSpPr/>
          <p:nvPr/>
        </p:nvSpPr>
        <p:spPr>
          <a:xfrm>
            <a:off x="6291072" y="4142232"/>
            <a:ext cx="5486400" cy="1783080"/>
          </a:xfrm>
          <a:prstGeom prst="rect">
            <a:avLst/>
          </a:prstGeom>
          <a:solidFill>
            <a:srgbClr val="000000"/>
          </a:solidFill>
          <a:ln w="9525">
            <a:solidFill>
              <a:srgbClr val="000000"/>
            </a:solidFill>
            <a:prstDash val="solid"/>
          </a:ln>
        </p:spPr>
      </p:sp>
      <p:sp>
        <p:nvSpPr>
          <p:cNvPr id="29" name="Shape 27"/>
          <p:cNvSpPr/>
          <p:nvPr/>
        </p:nvSpPr>
        <p:spPr>
          <a:xfrm>
            <a:off x="6217920" y="4069080"/>
            <a:ext cx="5486400" cy="1783080"/>
          </a:xfrm>
          <a:prstGeom prst="rect">
            <a:avLst/>
          </a:prstGeom>
          <a:solidFill>
            <a:srgbClr val="FFFFFF"/>
          </a:solidFill>
          <a:ln w="19050">
            <a:solidFill>
              <a:srgbClr val="000000"/>
            </a:solidFill>
            <a:prstDash val="solid"/>
          </a:ln>
        </p:spPr>
      </p:sp>
      <p:sp>
        <p:nvSpPr>
          <p:cNvPr id="30" name="Shape 28"/>
          <p:cNvSpPr/>
          <p:nvPr/>
        </p:nvSpPr>
        <p:spPr>
          <a:xfrm>
            <a:off x="6217920" y="4069080"/>
            <a:ext cx="5486400" cy="347472"/>
          </a:xfrm>
          <a:prstGeom prst="rect">
            <a:avLst/>
          </a:prstGeom>
          <a:solidFill>
            <a:srgbClr val="000000"/>
          </a:solidFill>
          <a:ln w="19050">
            <a:solidFill>
              <a:srgbClr val="000000"/>
            </a:solidFill>
            <a:prstDash val="solid"/>
          </a:ln>
        </p:spPr>
      </p:sp>
      <p:sp>
        <p:nvSpPr>
          <p:cNvPr id="31" name="Text 29"/>
          <p:cNvSpPr txBox="1"/>
          <p:nvPr/>
        </p:nvSpPr>
        <p:spPr>
          <a:xfrm>
            <a:off x="6345936" y="4069080"/>
            <a:ext cx="5230368" cy="347472"/>
          </a:xfrm>
          <a:prstGeom prst="rect">
            <a:avLst/>
          </a:prstGeom>
          <a:noFill/>
          <a:ln/>
        </p:spPr>
        <p:txBody>
          <a:bodyPr wrap="square" lIns="0" tIns="0" rIns="0" bIns="0" rtlCol="0" anchor="ctr"/>
          <a:lstStyle/>
          <a:p>
            <a:pPr algn="l" indent="0" marL="0">
              <a:buNone/>
            </a:pPr>
            <a:r>
              <a:rPr lang="en-US" sz="1300" b="1" dirty="0">
                <a:solidFill>
                  <a:srgbClr val="FFFFFF"/>
                </a:solidFill>
              </a:rPr>
              <a:t>&gt; small on purpose</a:t>
            </a:r>
            <a:endParaRPr lang="en-US" sz="1300" dirty="0"/>
          </a:p>
        </p:txBody>
      </p:sp>
      <p:sp>
        <p:nvSpPr>
          <p:cNvPr id="32" name="Text 30"/>
          <p:cNvSpPr txBox="1"/>
          <p:nvPr/>
        </p:nvSpPr>
        <p:spPr>
          <a:xfrm>
            <a:off x="6382512" y="4526280"/>
            <a:ext cx="5157216" cy="121615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847 numbers instead of about 100,000 pixels, so a small fully connected network is enough and it trains on a laptop CPU.</a:t>
            </a:r>
            <a:endParaRPr lang="en-US" sz="1300" dirty="0"/>
          </a:p>
        </p:txBody>
      </p:sp>
      <p:sp>
        <p:nvSpPr>
          <p:cNvPr id="34"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what the agent sees</a:t>
            </a:r>
            <a:endParaRPr lang="en-US" sz="900" dirty="0"/>
          </a:p>
        </p:txBody>
      </p:sp>
      <p:sp>
        <p:nvSpPr>
          <p:cNvPr id="35"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[ 11/42 ]</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822960" y="2331720"/>
            <a:ext cx="7315200" cy="365760"/>
          </a:xfrm>
          <a:prstGeom prst="rect">
            <a:avLst/>
          </a:prstGeom>
          <a:noFill/>
          <a:ln/>
        </p:spPr>
        <p:txBody>
          <a:bodyPr wrap="square" lIns="0" tIns="0" rIns="0" bIns="0" rtlCol="0" anchor="ctr"/>
          <a:lstStyle/>
          <a:p>
            <a:pPr indent="0" marL="0">
              <a:buNone/>
            </a:pPr>
            <a:r>
              <a:rPr lang="en-US" sz="1600" dirty="0">
                <a:solidFill>
                  <a:srgbClr val="D9D9D9"/>
                </a:solidFill>
              </a:rPr>
              <a:t>&gt; cd section_03</a:t>
            </a:r>
            <a:endParaRPr lang="en-US" sz="1600" dirty="0"/>
          </a:p>
        </p:txBody>
      </p:sp>
      <p:sp>
        <p:nvSpPr>
          <p:cNvPr id="3" name="Text 1"/>
          <p:cNvSpPr txBox="1"/>
          <p:nvPr/>
        </p:nvSpPr>
        <p:spPr>
          <a:xfrm>
            <a:off x="822960" y="2697480"/>
            <a:ext cx="7315200" cy="1143000"/>
          </a:xfrm>
          <a:prstGeom prst="rect">
            <a:avLst/>
          </a:prstGeom>
          <a:noFill/>
          <a:ln/>
        </p:spPr>
        <p:txBody>
          <a:bodyPr wrap="square" lIns="0" tIns="0" rIns="0" bIns="0" rtlCol="0" anchor="ctr"/>
          <a:lstStyle/>
          <a:p>
            <a:pPr indent="0" marL="0">
              <a:buNone/>
            </a:pPr>
            <a:r>
              <a:rPr lang="en-US" sz="8000" b="1" dirty="0">
                <a:solidFill>
                  <a:srgbClr val="FFFFFF"/>
                </a:solidFill>
              </a:rPr>
              <a:t>03</a:t>
            </a:r>
            <a:endParaRPr lang="en-US" sz="8000" dirty="0"/>
          </a:p>
        </p:txBody>
      </p:sp>
      <p:sp>
        <p:nvSpPr>
          <p:cNvPr id="4" name="Text 2"/>
          <p:cNvSpPr txBox="1"/>
          <p:nvPr/>
        </p:nvSpPr>
        <p:spPr>
          <a:xfrm>
            <a:off x="822960" y="3840480"/>
            <a:ext cx="10515600" cy="685800"/>
          </a:xfrm>
          <a:prstGeom prst="rect">
            <a:avLst/>
          </a:prstGeom>
          <a:noFill/>
          <a:ln/>
        </p:spPr>
        <p:txBody>
          <a:bodyPr wrap="square" lIns="0" tIns="0" rIns="0" bIns="0" rtlCol="0" anchor="ctr"/>
          <a:lstStyle/>
          <a:p>
            <a:pPr indent="0" marL="0">
              <a:buNone/>
            </a:pPr>
            <a:r>
              <a:rPr lang="en-US" sz="3400" b="1" dirty="0">
                <a:solidFill>
                  <a:srgbClr val="FFFFFF"/>
                </a:solidFill>
              </a:rPr>
              <a:t>THE MODEL</a:t>
            </a:r>
            <a:pPr indent="0" marL="0">
              <a:buNone/>
            </a:pPr>
            <a:r>
              <a:rPr lang="en-US" sz="3400" b="1" dirty="0">
                <a:solidFill>
                  <a:srgbClr val="FFFFFF"/>
                </a:solidFill>
              </a:rPr>
              <a:t>█</a:t>
            </a:r>
            <a:endParaRPr lang="en-US" sz="3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ARCHITECTURE</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[ 03 ]</a:t>
            </a:r>
            <a:endParaRPr lang="en-US" sz="1400" dirty="0"/>
          </a:p>
        </p:txBody>
      </p:sp>
      <p:sp>
        <p:nvSpPr>
          <p:cNvPr id="4" name="Shape 2"/>
          <p:cNvSpPr/>
          <p:nvPr/>
        </p:nvSpPr>
        <p:spPr>
          <a:xfrm>
            <a:off x="530352" y="1261872"/>
            <a:ext cx="1600200" cy="3291840"/>
          </a:xfrm>
          <a:prstGeom prst="rect">
            <a:avLst/>
          </a:prstGeom>
          <a:solidFill>
            <a:srgbClr val="000000"/>
          </a:solidFill>
          <a:ln w="9525">
            <a:solidFill>
              <a:srgbClr val="000000"/>
            </a:solidFill>
            <a:prstDash val="solid"/>
          </a:ln>
        </p:spPr>
      </p:sp>
      <p:sp>
        <p:nvSpPr>
          <p:cNvPr id="5" name="Shape 3"/>
          <p:cNvSpPr/>
          <p:nvPr/>
        </p:nvSpPr>
        <p:spPr>
          <a:xfrm>
            <a:off x="457200" y="1188720"/>
            <a:ext cx="1600200" cy="3291840"/>
          </a:xfrm>
          <a:prstGeom prst="rect">
            <a:avLst/>
          </a:prstGeom>
          <a:solidFill>
            <a:srgbClr val="FFFFFF"/>
          </a:solidFill>
          <a:ln w="19050">
            <a:solidFill>
              <a:srgbClr val="000000"/>
            </a:solidFill>
            <a:prstDash val="solid"/>
          </a:ln>
        </p:spPr>
      </p:sp>
      <p:sp>
        <p:nvSpPr>
          <p:cNvPr id="6" name="Shape 4"/>
          <p:cNvSpPr/>
          <p:nvPr/>
        </p:nvSpPr>
        <p:spPr>
          <a:xfrm>
            <a:off x="457200" y="1188720"/>
            <a:ext cx="1600200" cy="347472"/>
          </a:xfrm>
          <a:prstGeom prst="rect">
            <a:avLst/>
          </a:prstGeom>
          <a:solidFill>
            <a:srgbClr val="000000"/>
          </a:solidFill>
          <a:ln w="19050">
            <a:solidFill>
              <a:srgbClr val="000000"/>
            </a:solidFill>
            <a:prstDash val="solid"/>
          </a:ln>
        </p:spPr>
      </p:sp>
      <p:sp>
        <p:nvSpPr>
          <p:cNvPr id="7" name="Text 5"/>
          <p:cNvSpPr txBox="1"/>
          <p:nvPr/>
        </p:nvSpPr>
        <p:spPr>
          <a:xfrm>
            <a:off x="585216" y="1188720"/>
            <a:ext cx="1344168" cy="347472"/>
          </a:xfrm>
          <a:prstGeom prst="rect">
            <a:avLst/>
          </a:prstGeom>
          <a:noFill/>
          <a:ln/>
        </p:spPr>
        <p:txBody>
          <a:bodyPr wrap="square" lIns="0" tIns="0" rIns="0" bIns="0" rtlCol="0" anchor="ctr"/>
          <a:lstStyle/>
          <a:p>
            <a:pPr algn="l" indent="0" marL="0">
              <a:buNone/>
            </a:pPr>
            <a:r>
              <a:rPr lang="en-US" sz="1300" b="1" dirty="0">
                <a:solidFill>
                  <a:srgbClr val="FFFFFF"/>
                </a:solidFill>
              </a:rPr>
              <a:t>&gt; input</a:t>
            </a:r>
            <a:endParaRPr lang="en-US" sz="1300" dirty="0"/>
          </a:p>
        </p:txBody>
      </p:sp>
      <p:sp>
        <p:nvSpPr>
          <p:cNvPr id="8" name="Text 6"/>
          <p:cNvSpPr txBox="1"/>
          <p:nvPr/>
        </p:nvSpPr>
        <p:spPr>
          <a:xfrm>
            <a:off x="621792" y="1645920"/>
            <a:ext cx="1271016" cy="2724912"/>
          </a:xfrm>
          <a:prstGeom prst="rect">
            <a:avLst/>
          </a:prstGeom>
          <a:noFill/>
          <a:ln/>
        </p:spPr>
        <p:txBody>
          <a:bodyPr wrap="square" lIns="0" tIns="0" rIns="0" bIns="0" rtlCol="0" anchor="t"/>
          <a:lstStyle/>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847</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numbers</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 </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840 tiles</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+ 7 self</a:t>
            </a:r>
            <a:endParaRPr lang="en-US" sz="1400" dirty="0"/>
          </a:p>
        </p:txBody>
      </p:sp>
      <p:sp>
        <p:nvSpPr>
          <p:cNvPr id="9" name="Text 7"/>
          <p:cNvSpPr txBox="1"/>
          <p:nvPr/>
        </p:nvSpPr>
        <p:spPr>
          <a:xfrm>
            <a:off x="2606040" y="1078992"/>
            <a:ext cx="8229600" cy="292608"/>
          </a:xfrm>
          <a:prstGeom prst="rect">
            <a:avLst/>
          </a:prstGeom>
          <a:noFill/>
          <a:ln/>
        </p:spPr>
        <p:txBody>
          <a:bodyPr wrap="square" lIns="0" tIns="0" rIns="0" bIns="0" rtlCol="0" anchor="ctr"/>
          <a:lstStyle/>
          <a:p>
            <a:pPr indent="0" marL="0">
              <a:buNone/>
            </a:pPr>
            <a:r>
              <a:rPr lang="en-US" sz="1200" b="1" dirty="0">
                <a:solidFill>
                  <a:srgbClr val="000000"/>
                </a:solidFill>
              </a:rPr>
              <a:t>actor (policy): decides what to do</a:t>
            </a:r>
            <a:endParaRPr lang="en-US" sz="1200" dirty="0"/>
          </a:p>
        </p:txBody>
      </p:sp>
      <p:sp>
        <p:nvSpPr>
          <p:cNvPr id="10" name="Shape 8"/>
          <p:cNvSpPr/>
          <p:nvPr/>
        </p:nvSpPr>
        <p:spPr>
          <a:xfrm>
            <a:off x="2660904" y="1517904"/>
            <a:ext cx="1965960" cy="1097280"/>
          </a:xfrm>
          <a:prstGeom prst="rect">
            <a:avLst/>
          </a:prstGeom>
          <a:solidFill>
            <a:srgbClr val="000000"/>
          </a:solidFill>
          <a:ln w="9525">
            <a:solidFill>
              <a:srgbClr val="000000"/>
            </a:solidFill>
            <a:prstDash val="solid"/>
          </a:ln>
        </p:spPr>
      </p:sp>
      <p:sp>
        <p:nvSpPr>
          <p:cNvPr id="11" name="Shape 9"/>
          <p:cNvSpPr/>
          <p:nvPr/>
        </p:nvSpPr>
        <p:spPr>
          <a:xfrm>
            <a:off x="2606040" y="1463040"/>
            <a:ext cx="1965960" cy="1097280"/>
          </a:xfrm>
          <a:prstGeom prst="rect">
            <a:avLst/>
          </a:prstGeom>
          <a:solidFill>
            <a:srgbClr val="FFFFFF"/>
          </a:solidFill>
          <a:ln w="19050">
            <a:solidFill>
              <a:srgbClr val="000000"/>
            </a:solidFill>
            <a:prstDash val="solid"/>
          </a:ln>
        </p:spPr>
      </p:sp>
      <p:sp>
        <p:nvSpPr>
          <p:cNvPr id="12" name="Shape 10"/>
          <p:cNvSpPr/>
          <p:nvPr/>
        </p:nvSpPr>
        <p:spPr>
          <a:xfrm>
            <a:off x="2606040" y="1463040"/>
            <a:ext cx="1965960" cy="347472"/>
          </a:xfrm>
          <a:prstGeom prst="rect">
            <a:avLst/>
          </a:prstGeom>
          <a:solidFill>
            <a:srgbClr val="000000"/>
          </a:solidFill>
          <a:ln w="19050">
            <a:solidFill>
              <a:srgbClr val="000000"/>
            </a:solidFill>
            <a:prstDash val="solid"/>
          </a:ln>
        </p:spPr>
      </p:sp>
      <p:sp>
        <p:nvSpPr>
          <p:cNvPr id="13" name="Text 11"/>
          <p:cNvSpPr txBox="1"/>
          <p:nvPr/>
        </p:nvSpPr>
        <p:spPr>
          <a:xfrm>
            <a:off x="2734056" y="1463040"/>
            <a:ext cx="1709928" cy="347472"/>
          </a:xfrm>
          <a:prstGeom prst="rect">
            <a:avLst/>
          </a:prstGeom>
          <a:noFill/>
          <a:ln/>
        </p:spPr>
        <p:txBody>
          <a:bodyPr wrap="square" lIns="0" tIns="0" rIns="0" bIns="0" rtlCol="0" anchor="ctr"/>
          <a:lstStyle/>
          <a:p>
            <a:pPr algn="l" indent="0" marL="0">
              <a:buNone/>
            </a:pPr>
            <a:r>
              <a:rPr lang="en-US" sz="1300" b="1" dirty="0">
                <a:solidFill>
                  <a:srgbClr val="FFFFFF"/>
                </a:solidFill>
              </a:rPr>
              <a:t>&gt; dense 256</a:t>
            </a:r>
            <a:endParaRPr lang="en-US" sz="1300" dirty="0"/>
          </a:p>
        </p:txBody>
      </p:sp>
      <p:sp>
        <p:nvSpPr>
          <p:cNvPr id="14" name="Text 12"/>
          <p:cNvSpPr txBox="1"/>
          <p:nvPr/>
        </p:nvSpPr>
        <p:spPr>
          <a:xfrm>
            <a:off x="2770632" y="1920240"/>
            <a:ext cx="1636776" cy="530352"/>
          </a:xfrm>
          <a:prstGeom prst="rect">
            <a:avLst/>
          </a:prstGeom>
          <a:noFill/>
          <a:ln/>
        </p:spPr>
        <p:txBody>
          <a:bodyPr wrap="square" lIns="0" tIns="0" rIns="0" bIns="0" rtlCol="0" anchor="t"/>
          <a:lstStyle/>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 ReLU</a:t>
            </a:r>
            <a:endParaRPr lang="en-US" sz="1200" dirty="0"/>
          </a:p>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217,088 weights</a:t>
            </a:r>
            <a:endParaRPr lang="en-US" sz="1200" dirty="0"/>
          </a:p>
        </p:txBody>
      </p:sp>
      <p:sp>
        <p:nvSpPr>
          <p:cNvPr id="15" name="Shape 13"/>
          <p:cNvSpPr/>
          <p:nvPr/>
        </p:nvSpPr>
        <p:spPr>
          <a:xfrm>
            <a:off x="4626864" y="2103120"/>
            <a:ext cx="329184" cy="914"/>
          </a:xfrm>
          <a:prstGeom prst="line">
            <a:avLst/>
          </a:prstGeom>
          <a:noFill/>
          <a:ln w="22225">
            <a:solidFill>
              <a:srgbClr val="000000"/>
            </a:solidFill>
            <a:prstDash val="solid"/>
            <a:tailEnd type="triangle"/>
          </a:ln>
        </p:spPr>
      </p:sp>
      <p:sp>
        <p:nvSpPr>
          <p:cNvPr id="16" name="Shape 14"/>
          <p:cNvSpPr/>
          <p:nvPr/>
        </p:nvSpPr>
        <p:spPr>
          <a:xfrm>
            <a:off x="5065776" y="1517904"/>
            <a:ext cx="1965960" cy="1097280"/>
          </a:xfrm>
          <a:prstGeom prst="rect">
            <a:avLst/>
          </a:prstGeom>
          <a:solidFill>
            <a:srgbClr val="000000"/>
          </a:solidFill>
          <a:ln w="9525">
            <a:solidFill>
              <a:srgbClr val="000000"/>
            </a:solidFill>
            <a:prstDash val="solid"/>
          </a:ln>
        </p:spPr>
      </p:sp>
      <p:sp>
        <p:nvSpPr>
          <p:cNvPr id="17" name="Shape 15"/>
          <p:cNvSpPr/>
          <p:nvPr/>
        </p:nvSpPr>
        <p:spPr>
          <a:xfrm>
            <a:off x="5010912" y="1463040"/>
            <a:ext cx="1965960" cy="1097280"/>
          </a:xfrm>
          <a:prstGeom prst="rect">
            <a:avLst/>
          </a:prstGeom>
          <a:solidFill>
            <a:srgbClr val="FFFFFF"/>
          </a:solidFill>
          <a:ln w="19050">
            <a:solidFill>
              <a:srgbClr val="000000"/>
            </a:solidFill>
            <a:prstDash val="solid"/>
          </a:ln>
        </p:spPr>
      </p:sp>
      <p:sp>
        <p:nvSpPr>
          <p:cNvPr id="18" name="Shape 16"/>
          <p:cNvSpPr/>
          <p:nvPr/>
        </p:nvSpPr>
        <p:spPr>
          <a:xfrm>
            <a:off x="5010912" y="1463040"/>
            <a:ext cx="1965960" cy="347472"/>
          </a:xfrm>
          <a:prstGeom prst="rect">
            <a:avLst/>
          </a:prstGeom>
          <a:solidFill>
            <a:srgbClr val="000000"/>
          </a:solidFill>
          <a:ln w="19050">
            <a:solidFill>
              <a:srgbClr val="000000"/>
            </a:solidFill>
            <a:prstDash val="solid"/>
          </a:ln>
        </p:spPr>
      </p:sp>
      <p:sp>
        <p:nvSpPr>
          <p:cNvPr id="19" name="Text 17"/>
          <p:cNvSpPr txBox="1"/>
          <p:nvPr/>
        </p:nvSpPr>
        <p:spPr>
          <a:xfrm>
            <a:off x="5138928" y="1463040"/>
            <a:ext cx="1709928" cy="347472"/>
          </a:xfrm>
          <a:prstGeom prst="rect">
            <a:avLst/>
          </a:prstGeom>
          <a:noFill/>
          <a:ln/>
        </p:spPr>
        <p:txBody>
          <a:bodyPr wrap="square" lIns="0" tIns="0" rIns="0" bIns="0" rtlCol="0" anchor="ctr"/>
          <a:lstStyle/>
          <a:p>
            <a:pPr algn="l" indent="0" marL="0">
              <a:buNone/>
            </a:pPr>
            <a:r>
              <a:rPr lang="en-US" sz="1300" b="1" dirty="0">
                <a:solidFill>
                  <a:srgbClr val="FFFFFF"/>
                </a:solidFill>
              </a:rPr>
              <a:t>&gt; dense 256</a:t>
            </a:r>
            <a:endParaRPr lang="en-US" sz="1300" dirty="0"/>
          </a:p>
        </p:txBody>
      </p:sp>
      <p:sp>
        <p:nvSpPr>
          <p:cNvPr id="20" name="Text 18"/>
          <p:cNvSpPr txBox="1"/>
          <p:nvPr/>
        </p:nvSpPr>
        <p:spPr>
          <a:xfrm>
            <a:off x="5175504" y="1920240"/>
            <a:ext cx="1636776" cy="530352"/>
          </a:xfrm>
          <a:prstGeom prst="rect">
            <a:avLst/>
          </a:prstGeom>
          <a:noFill/>
          <a:ln/>
        </p:spPr>
        <p:txBody>
          <a:bodyPr wrap="square" lIns="0" tIns="0" rIns="0" bIns="0" rtlCol="0" anchor="t"/>
          <a:lstStyle/>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 ReLU</a:t>
            </a:r>
            <a:endParaRPr lang="en-US" sz="1200" dirty="0"/>
          </a:p>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65,792 weights</a:t>
            </a:r>
            <a:endParaRPr lang="en-US" sz="1200" dirty="0"/>
          </a:p>
        </p:txBody>
      </p:sp>
      <p:sp>
        <p:nvSpPr>
          <p:cNvPr id="21" name="Shape 19"/>
          <p:cNvSpPr/>
          <p:nvPr/>
        </p:nvSpPr>
        <p:spPr>
          <a:xfrm>
            <a:off x="7031736" y="2103120"/>
            <a:ext cx="329184" cy="914"/>
          </a:xfrm>
          <a:prstGeom prst="line">
            <a:avLst/>
          </a:prstGeom>
          <a:noFill/>
          <a:ln w="22225">
            <a:solidFill>
              <a:srgbClr val="000000"/>
            </a:solidFill>
            <a:prstDash val="solid"/>
            <a:tailEnd type="triangle"/>
          </a:ln>
        </p:spPr>
      </p:sp>
      <p:sp>
        <p:nvSpPr>
          <p:cNvPr id="22" name="Shape 20"/>
          <p:cNvSpPr/>
          <p:nvPr/>
        </p:nvSpPr>
        <p:spPr>
          <a:xfrm>
            <a:off x="7470648" y="1517904"/>
            <a:ext cx="1874520" cy="1097280"/>
          </a:xfrm>
          <a:prstGeom prst="rect">
            <a:avLst/>
          </a:prstGeom>
          <a:solidFill>
            <a:srgbClr val="000000"/>
          </a:solidFill>
          <a:ln w="9525">
            <a:solidFill>
              <a:srgbClr val="000000"/>
            </a:solidFill>
            <a:prstDash val="solid"/>
          </a:ln>
        </p:spPr>
      </p:sp>
      <p:sp>
        <p:nvSpPr>
          <p:cNvPr id="23" name="Shape 21"/>
          <p:cNvSpPr/>
          <p:nvPr/>
        </p:nvSpPr>
        <p:spPr>
          <a:xfrm>
            <a:off x="7415784" y="1463040"/>
            <a:ext cx="1874520" cy="1097280"/>
          </a:xfrm>
          <a:prstGeom prst="rect">
            <a:avLst/>
          </a:prstGeom>
          <a:solidFill>
            <a:srgbClr val="FFFFFF"/>
          </a:solidFill>
          <a:ln w="19050">
            <a:solidFill>
              <a:srgbClr val="000000"/>
            </a:solidFill>
            <a:prstDash val="solid"/>
          </a:ln>
        </p:spPr>
      </p:sp>
      <p:sp>
        <p:nvSpPr>
          <p:cNvPr id="24" name="Shape 22"/>
          <p:cNvSpPr/>
          <p:nvPr/>
        </p:nvSpPr>
        <p:spPr>
          <a:xfrm>
            <a:off x="7415784" y="1463040"/>
            <a:ext cx="1874520" cy="347472"/>
          </a:xfrm>
          <a:prstGeom prst="rect">
            <a:avLst/>
          </a:prstGeom>
          <a:solidFill>
            <a:srgbClr val="000000"/>
          </a:solidFill>
          <a:ln w="19050">
            <a:solidFill>
              <a:srgbClr val="000000"/>
            </a:solidFill>
            <a:prstDash val="solid"/>
          </a:ln>
        </p:spPr>
      </p:sp>
      <p:sp>
        <p:nvSpPr>
          <p:cNvPr id="25" name="Text 23"/>
          <p:cNvSpPr txBox="1"/>
          <p:nvPr/>
        </p:nvSpPr>
        <p:spPr>
          <a:xfrm>
            <a:off x="7543800" y="1463040"/>
            <a:ext cx="1618488" cy="347472"/>
          </a:xfrm>
          <a:prstGeom prst="rect">
            <a:avLst/>
          </a:prstGeom>
          <a:noFill/>
          <a:ln/>
        </p:spPr>
        <p:txBody>
          <a:bodyPr wrap="square" lIns="0" tIns="0" rIns="0" bIns="0" rtlCol="0" anchor="ctr"/>
          <a:lstStyle/>
          <a:p>
            <a:pPr algn="l" indent="0" marL="0">
              <a:buNone/>
            </a:pPr>
            <a:r>
              <a:rPr lang="en-US" sz="1300" b="1" dirty="0">
                <a:solidFill>
                  <a:srgbClr val="FFFFFF"/>
                </a:solidFill>
              </a:rPr>
              <a:t>&gt; dense 6</a:t>
            </a:r>
            <a:endParaRPr lang="en-US" sz="1300" dirty="0"/>
          </a:p>
        </p:txBody>
      </p:sp>
      <p:sp>
        <p:nvSpPr>
          <p:cNvPr id="26" name="Text 24"/>
          <p:cNvSpPr txBox="1"/>
          <p:nvPr/>
        </p:nvSpPr>
        <p:spPr>
          <a:xfrm>
            <a:off x="7580376" y="1920240"/>
            <a:ext cx="1545336" cy="530352"/>
          </a:xfrm>
          <a:prstGeom prst="rect">
            <a:avLst/>
          </a:prstGeom>
          <a:noFill/>
          <a:ln/>
        </p:spPr>
        <p:txBody>
          <a:bodyPr wrap="square" lIns="0" tIns="0" rIns="0" bIns="0" rtlCol="0" anchor="t"/>
          <a:lstStyle/>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 softmax</a:t>
            </a:r>
            <a:endParaRPr lang="en-US" sz="1200" dirty="0"/>
          </a:p>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1,542 weights</a:t>
            </a:r>
            <a:endParaRPr lang="en-US" sz="1200" dirty="0"/>
          </a:p>
        </p:txBody>
      </p:sp>
      <p:sp>
        <p:nvSpPr>
          <p:cNvPr id="27" name="Shape 25"/>
          <p:cNvSpPr/>
          <p:nvPr/>
        </p:nvSpPr>
        <p:spPr>
          <a:xfrm>
            <a:off x="9729216" y="1463040"/>
            <a:ext cx="1600200" cy="1097280"/>
          </a:xfrm>
          <a:prstGeom prst="rect">
            <a:avLst/>
          </a:prstGeom>
          <a:solidFill>
            <a:srgbClr val="000000"/>
          </a:solidFill>
          <a:ln w="12700">
            <a:solidFill>
              <a:srgbClr val="000000"/>
            </a:solidFill>
            <a:prstDash val="solid"/>
          </a:ln>
        </p:spPr>
      </p:sp>
      <p:sp>
        <p:nvSpPr>
          <p:cNvPr id="28" name="Text 26"/>
          <p:cNvSpPr txBox="1"/>
          <p:nvPr/>
        </p:nvSpPr>
        <p:spPr>
          <a:xfrm>
            <a:off x="9729216" y="1463040"/>
            <a:ext cx="1600200" cy="1097280"/>
          </a:xfrm>
          <a:prstGeom prst="rect">
            <a:avLst/>
          </a:prstGeom>
          <a:noFill/>
          <a:ln/>
        </p:spPr>
        <p:txBody>
          <a:bodyPr wrap="square" lIns="0" tIns="0" rIns="0" bIns="0" rtlCol="0" anchor="ctr"/>
          <a:lstStyle/>
          <a:p>
            <a:pPr algn="ctr" indent="0" marL="0">
              <a:buNone/>
            </a:pPr>
            <a:r>
              <a:rPr lang="en-US" sz="1300" b="1" dirty="0">
                <a:solidFill>
                  <a:srgbClr val="FFFFFF"/>
                </a:solidFill>
              </a:rPr>
              <a:t>6 action</a:t>
            </a:r>
            <a:endParaRPr lang="en-US" sz="1300" dirty="0"/>
          </a:p>
          <a:p>
            <a:pPr algn="ctr" indent="0" marL="0">
              <a:buNone/>
            </a:pPr>
            <a:r>
              <a:rPr lang="en-US" sz="1300" b="1" dirty="0">
                <a:solidFill>
                  <a:srgbClr val="FFFFFF"/>
                </a:solidFill>
              </a:rPr>
              <a:t>probabilities</a:t>
            </a:r>
            <a:endParaRPr lang="en-US" sz="1300" dirty="0"/>
          </a:p>
        </p:txBody>
      </p:sp>
      <p:sp>
        <p:nvSpPr>
          <p:cNvPr id="29" name="Text 27"/>
          <p:cNvSpPr txBox="1"/>
          <p:nvPr/>
        </p:nvSpPr>
        <p:spPr>
          <a:xfrm>
            <a:off x="2606040" y="2862072"/>
            <a:ext cx="8229600" cy="292608"/>
          </a:xfrm>
          <a:prstGeom prst="rect">
            <a:avLst/>
          </a:prstGeom>
          <a:noFill/>
          <a:ln/>
        </p:spPr>
        <p:txBody>
          <a:bodyPr wrap="square" lIns="0" tIns="0" rIns="0" bIns="0" rtlCol="0" anchor="ctr"/>
          <a:lstStyle/>
          <a:p>
            <a:pPr indent="0" marL="0">
              <a:buNone/>
            </a:pPr>
            <a:r>
              <a:rPr lang="en-US" sz="1200" b="1" dirty="0">
                <a:solidFill>
                  <a:srgbClr val="000000"/>
                </a:solidFill>
              </a:rPr>
              <a:t>critic (value): judges how good the moment is, used in training</a:t>
            </a:r>
            <a:endParaRPr lang="en-US" sz="1200" dirty="0"/>
          </a:p>
        </p:txBody>
      </p:sp>
      <p:sp>
        <p:nvSpPr>
          <p:cNvPr id="30" name="Shape 28"/>
          <p:cNvSpPr/>
          <p:nvPr/>
        </p:nvSpPr>
        <p:spPr>
          <a:xfrm>
            <a:off x="2660904" y="3300984"/>
            <a:ext cx="1965960" cy="1097280"/>
          </a:xfrm>
          <a:prstGeom prst="rect">
            <a:avLst/>
          </a:prstGeom>
          <a:solidFill>
            <a:srgbClr val="000000"/>
          </a:solidFill>
          <a:ln w="9525">
            <a:solidFill>
              <a:srgbClr val="000000"/>
            </a:solidFill>
            <a:prstDash val="solid"/>
          </a:ln>
        </p:spPr>
      </p:sp>
      <p:sp>
        <p:nvSpPr>
          <p:cNvPr id="31" name="Shape 29"/>
          <p:cNvSpPr/>
          <p:nvPr/>
        </p:nvSpPr>
        <p:spPr>
          <a:xfrm>
            <a:off x="2606040" y="3246120"/>
            <a:ext cx="1965960" cy="1097280"/>
          </a:xfrm>
          <a:prstGeom prst="rect">
            <a:avLst/>
          </a:prstGeom>
          <a:solidFill>
            <a:srgbClr val="FFFFFF"/>
          </a:solidFill>
          <a:ln w="19050">
            <a:solidFill>
              <a:srgbClr val="000000"/>
            </a:solidFill>
            <a:prstDash val="solid"/>
          </a:ln>
        </p:spPr>
      </p:sp>
      <p:sp>
        <p:nvSpPr>
          <p:cNvPr id="32" name="Shape 30"/>
          <p:cNvSpPr/>
          <p:nvPr/>
        </p:nvSpPr>
        <p:spPr>
          <a:xfrm>
            <a:off x="2606040" y="3246120"/>
            <a:ext cx="1965960" cy="347472"/>
          </a:xfrm>
          <a:prstGeom prst="rect">
            <a:avLst/>
          </a:prstGeom>
          <a:solidFill>
            <a:srgbClr val="000000"/>
          </a:solidFill>
          <a:ln w="19050">
            <a:solidFill>
              <a:srgbClr val="000000"/>
            </a:solidFill>
            <a:prstDash val="solid"/>
          </a:ln>
        </p:spPr>
      </p:sp>
      <p:sp>
        <p:nvSpPr>
          <p:cNvPr id="33" name="Text 31"/>
          <p:cNvSpPr txBox="1"/>
          <p:nvPr/>
        </p:nvSpPr>
        <p:spPr>
          <a:xfrm>
            <a:off x="2734056" y="3246120"/>
            <a:ext cx="1709928" cy="347472"/>
          </a:xfrm>
          <a:prstGeom prst="rect">
            <a:avLst/>
          </a:prstGeom>
          <a:noFill/>
          <a:ln/>
        </p:spPr>
        <p:txBody>
          <a:bodyPr wrap="square" lIns="0" tIns="0" rIns="0" bIns="0" rtlCol="0" anchor="ctr"/>
          <a:lstStyle/>
          <a:p>
            <a:pPr algn="l" indent="0" marL="0">
              <a:buNone/>
            </a:pPr>
            <a:r>
              <a:rPr lang="en-US" sz="1300" b="1" dirty="0">
                <a:solidFill>
                  <a:srgbClr val="FFFFFF"/>
                </a:solidFill>
              </a:rPr>
              <a:t>&gt; dense 256</a:t>
            </a:r>
            <a:endParaRPr lang="en-US" sz="1300" dirty="0"/>
          </a:p>
        </p:txBody>
      </p:sp>
      <p:sp>
        <p:nvSpPr>
          <p:cNvPr id="34" name="Text 32"/>
          <p:cNvSpPr txBox="1"/>
          <p:nvPr/>
        </p:nvSpPr>
        <p:spPr>
          <a:xfrm>
            <a:off x="2770632" y="3703320"/>
            <a:ext cx="1636776" cy="530352"/>
          </a:xfrm>
          <a:prstGeom prst="rect">
            <a:avLst/>
          </a:prstGeom>
          <a:noFill/>
          <a:ln/>
        </p:spPr>
        <p:txBody>
          <a:bodyPr wrap="square" lIns="0" tIns="0" rIns="0" bIns="0" rtlCol="0" anchor="t"/>
          <a:lstStyle/>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 ReLU</a:t>
            </a:r>
            <a:endParaRPr lang="en-US" sz="1200" dirty="0"/>
          </a:p>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217,088 weights</a:t>
            </a:r>
            <a:endParaRPr lang="en-US" sz="1200" dirty="0"/>
          </a:p>
        </p:txBody>
      </p:sp>
      <p:sp>
        <p:nvSpPr>
          <p:cNvPr id="35" name="Shape 33"/>
          <p:cNvSpPr/>
          <p:nvPr/>
        </p:nvSpPr>
        <p:spPr>
          <a:xfrm>
            <a:off x="4626864" y="3886200"/>
            <a:ext cx="329184" cy="914"/>
          </a:xfrm>
          <a:prstGeom prst="line">
            <a:avLst/>
          </a:prstGeom>
          <a:noFill/>
          <a:ln w="22225">
            <a:solidFill>
              <a:srgbClr val="000000"/>
            </a:solidFill>
            <a:prstDash val="solid"/>
            <a:tailEnd type="triangle"/>
          </a:ln>
        </p:spPr>
      </p:sp>
      <p:sp>
        <p:nvSpPr>
          <p:cNvPr id="36" name="Shape 34"/>
          <p:cNvSpPr/>
          <p:nvPr/>
        </p:nvSpPr>
        <p:spPr>
          <a:xfrm>
            <a:off x="5065776" y="3300984"/>
            <a:ext cx="1965960" cy="1097280"/>
          </a:xfrm>
          <a:prstGeom prst="rect">
            <a:avLst/>
          </a:prstGeom>
          <a:solidFill>
            <a:srgbClr val="000000"/>
          </a:solidFill>
          <a:ln w="9525">
            <a:solidFill>
              <a:srgbClr val="000000"/>
            </a:solidFill>
            <a:prstDash val="solid"/>
          </a:ln>
        </p:spPr>
      </p:sp>
      <p:sp>
        <p:nvSpPr>
          <p:cNvPr id="37" name="Shape 35"/>
          <p:cNvSpPr/>
          <p:nvPr/>
        </p:nvSpPr>
        <p:spPr>
          <a:xfrm>
            <a:off x="5010912" y="3246120"/>
            <a:ext cx="1965960" cy="1097280"/>
          </a:xfrm>
          <a:prstGeom prst="rect">
            <a:avLst/>
          </a:prstGeom>
          <a:solidFill>
            <a:srgbClr val="FFFFFF"/>
          </a:solidFill>
          <a:ln w="19050">
            <a:solidFill>
              <a:srgbClr val="000000"/>
            </a:solidFill>
            <a:prstDash val="solid"/>
          </a:ln>
        </p:spPr>
      </p:sp>
      <p:sp>
        <p:nvSpPr>
          <p:cNvPr id="38" name="Shape 36"/>
          <p:cNvSpPr/>
          <p:nvPr/>
        </p:nvSpPr>
        <p:spPr>
          <a:xfrm>
            <a:off x="5010912" y="3246120"/>
            <a:ext cx="1965960" cy="347472"/>
          </a:xfrm>
          <a:prstGeom prst="rect">
            <a:avLst/>
          </a:prstGeom>
          <a:solidFill>
            <a:srgbClr val="000000"/>
          </a:solidFill>
          <a:ln w="19050">
            <a:solidFill>
              <a:srgbClr val="000000"/>
            </a:solidFill>
            <a:prstDash val="solid"/>
          </a:ln>
        </p:spPr>
      </p:sp>
      <p:sp>
        <p:nvSpPr>
          <p:cNvPr id="39" name="Text 37"/>
          <p:cNvSpPr txBox="1"/>
          <p:nvPr/>
        </p:nvSpPr>
        <p:spPr>
          <a:xfrm>
            <a:off x="5138928" y="3246120"/>
            <a:ext cx="1709928" cy="347472"/>
          </a:xfrm>
          <a:prstGeom prst="rect">
            <a:avLst/>
          </a:prstGeom>
          <a:noFill/>
          <a:ln/>
        </p:spPr>
        <p:txBody>
          <a:bodyPr wrap="square" lIns="0" tIns="0" rIns="0" bIns="0" rtlCol="0" anchor="ctr"/>
          <a:lstStyle/>
          <a:p>
            <a:pPr algn="l" indent="0" marL="0">
              <a:buNone/>
            </a:pPr>
            <a:r>
              <a:rPr lang="en-US" sz="1300" b="1" dirty="0">
                <a:solidFill>
                  <a:srgbClr val="FFFFFF"/>
                </a:solidFill>
              </a:rPr>
              <a:t>&gt; dense 256</a:t>
            </a:r>
            <a:endParaRPr lang="en-US" sz="1300" dirty="0"/>
          </a:p>
        </p:txBody>
      </p:sp>
      <p:sp>
        <p:nvSpPr>
          <p:cNvPr id="40" name="Text 38"/>
          <p:cNvSpPr txBox="1"/>
          <p:nvPr/>
        </p:nvSpPr>
        <p:spPr>
          <a:xfrm>
            <a:off x="5175504" y="3703320"/>
            <a:ext cx="1636776" cy="530352"/>
          </a:xfrm>
          <a:prstGeom prst="rect">
            <a:avLst/>
          </a:prstGeom>
          <a:noFill/>
          <a:ln/>
        </p:spPr>
        <p:txBody>
          <a:bodyPr wrap="square" lIns="0" tIns="0" rIns="0" bIns="0" rtlCol="0" anchor="t"/>
          <a:lstStyle/>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 ReLU</a:t>
            </a:r>
            <a:endParaRPr lang="en-US" sz="1200" dirty="0"/>
          </a:p>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65,792 weights</a:t>
            </a:r>
            <a:endParaRPr lang="en-US" sz="1200" dirty="0"/>
          </a:p>
        </p:txBody>
      </p:sp>
      <p:sp>
        <p:nvSpPr>
          <p:cNvPr id="41" name="Shape 39"/>
          <p:cNvSpPr/>
          <p:nvPr/>
        </p:nvSpPr>
        <p:spPr>
          <a:xfrm>
            <a:off x="7031736" y="3886200"/>
            <a:ext cx="329184" cy="914"/>
          </a:xfrm>
          <a:prstGeom prst="line">
            <a:avLst/>
          </a:prstGeom>
          <a:noFill/>
          <a:ln w="22225">
            <a:solidFill>
              <a:srgbClr val="000000"/>
            </a:solidFill>
            <a:prstDash val="solid"/>
            <a:tailEnd type="triangle"/>
          </a:ln>
        </p:spPr>
      </p:sp>
      <p:sp>
        <p:nvSpPr>
          <p:cNvPr id="42" name="Shape 40"/>
          <p:cNvSpPr/>
          <p:nvPr/>
        </p:nvSpPr>
        <p:spPr>
          <a:xfrm>
            <a:off x="7470648" y="3300984"/>
            <a:ext cx="1874520" cy="1097280"/>
          </a:xfrm>
          <a:prstGeom prst="rect">
            <a:avLst/>
          </a:prstGeom>
          <a:solidFill>
            <a:srgbClr val="000000"/>
          </a:solidFill>
          <a:ln w="9525">
            <a:solidFill>
              <a:srgbClr val="000000"/>
            </a:solidFill>
            <a:prstDash val="solid"/>
          </a:ln>
        </p:spPr>
      </p:sp>
      <p:sp>
        <p:nvSpPr>
          <p:cNvPr id="43" name="Shape 41"/>
          <p:cNvSpPr/>
          <p:nvPr/>
        </p:nvSpPr>
        <p:spPr>
          <a:xfrm>
            <a:off x="7415784" y="3246120"/>
            <a:ext cx="1874520" cy="1097280"/>
          </a:xfrm>
          <a:prstGeom prst="rect">
            <a:avLst/>
          </a:prstGeom>
          <a:solidFill>
            <a:srgbClr val="FFFFFF"/>
          </a:solidFill>
          <a:ln w="19050">
            <a:solidFill>
              <a:srgbClr val="000000"/>
            </a:solidFill>
            <a:prstDash val="solid"/>
          </a:ln>
        </p:spPr>
      </p:sp>
      <p:sp>
        <p:nvSpPr>
          <p:cNvPr id="44" name="Shape 42"/>
          <p:cNvSpPr/>
          <p:nvPr/>
        </p:nvSpPr>
        <p:spPr>
          <a:xfrm>
            <a:off x="7415784" y="3246120"/>
            <a:ext cx="1874520" cy="347472"/>
          </a:xfrm>
          <a:prstGeom prst="rect">
            <a:avLst/>
          </a:prstGeom>
          <a:solidFill>
            <a:srgbClr val="000000"/>
          </a:solidFill>
          <a:ln w="19050">
            <a:solidFill>
              <a:srgbClr val="000000"/>
            </a:solidFill>
            <a:prstDash val="solid"/>
          </a:ln>
        </p:spPr>
      </p:sp>
      <p:sp>
        <p:nvSpPr>
          <p:cNvPr id="45" name="Text 43"/>
          <p:cNvSpPr txBox="1"/>
          <p:nvPr/>
        </p:nvSpPr>
        <p:spPr>
          <a:xfrm>
            <a:off x="7543800" y="3246120"/>
            <a:ext cx="1618488" cy="347472"/>
          </a:xfrm>
          <a:prstGeom prst="rect">
            <a:avLst/>
          </a:prstGeom>
          <a:noFill/>
          <a:ln/>
        </p:spPr>
        <p:txBody>
          <a:bodyPr wrap="square" lIns="0" tIns="0" rIns="0" bIns="0" rtlCol="0" anchor="ctr"/>
          <a:lstStyle/>
          <a:p>
            <a:pPr algn="l" indent="0" marL="0">
              <a:buNone/>
            </a:pPr>
            <a:r>
              <a:rPr lang="en-US" sz="1300" b="1" dirty="0">
                <a:solidFill>
                  <a:srgbClr val="FFFFFF"/>
                </a:solidFill>
              </a:rPr>
              <a:t>&gt; dense 1</a:t>
            </a:r>
            <a:endParaRPr lang="en-US" sz="1300" dirty="0"/>
          </a:p>
        </p:txBody>
      </p:sp>
      <p:sp>
        <p:nvSpPr>
          <p:cNvPr id="46" name="Text 44"/>
          <p:cNvSpPr txBox="1"/>
          <p:nvPr/>
        </p:nvSpPr>
        <p:spPr>
          <a:xfrm>
            <a:off x="7580376" y="3703320"/>
            <a:ext cx="1545336" cy="530352"/>
          </a:xfrm>
          <a:prstGeom prst="rect">
            <a:avLst/>
          </a:prstGeom>
          <a:noFill/>
          <a:ln/>
        </p:spPr>
        <p:txBody>
          <a:bodyPr wrap="square" lIns="0" tIns="0" rIns="0" bIns="0" rtlCol="0" anchor="t"/>
          <a:lstStyle/>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 </a:t>
            </a:r>
            <a:endParaRPr lang="en-US" sz="1200" dirty="0"/>
          </a:p>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257 weights</a:t>
            </a:r>
            <a:endParaRPr lang="en-US" sz="1200" dirty="0"/>
          </a:p>
        </p:txBody>
      </p:sp>
      <p:sp>
        <p:nvSpPr>
          <p:cNvPr id="47" name="Shape 45"/>
          <p:cNvSpPr/>
          <p:nvPr/>
        </p:nvSpPr>
        <p:spPr>
          <a:xfrm>
            <a:off x="9729216" y="3246120"/>
            <a:ext cx="1600200" cy="1097280"/>
          </a:xfrm>
          <a:prstGeom prst="rect">
            <a:avLst/>
          </a:prstGeom>
          <a:solidFill>
            <a:srgbClr val="000000"/>
          </a:solidFill>
          <a:ln w="12700">
            <a:solidFill>
              <a:srgbClr val="000000"/>
            </a:solidFill>
            <a:prstDash val="solid"/>
          </a:ln>
        </p:spPr>
      </p:sp>
      <p:sp>
        <p:nvSpPr>
          <p:cNvPr id="48" name="Text 46"/>
          <p:cNvSpPr txBox="1"/>
          <p:nvPr/>
        </p:nvSpPr>
        <p:spPr>
          <a:xfrm>
            <a:off x="9729216" y="3246120"/>
            <a:ext cx="1600200" cy="1097280"/>
          </a:xfrm>
          <a:prstGeom prst="rect">
            <a:avLst/>
          </a:prstGeom>
          <a:noFill/>
          <a:ln/>
        </p:spPr>
        <p:txBody>
          <a:bodyPr wrap="square" lIns="0" tIns="0" rIns="0" bIns="0" rtlCol="0" anchor="ctr"/>
          <a:lstStyle/>
          <a:p>
            <a:pPr algn="ctr" indent="0" marL="0">
              <a:buNone/>
            </a:pPr>
            <a:r>
              <a:rPr lang="en-US" sz="1300" b="1" dirty="0">
                <a:solidFill>
                  <a:srgbClr val="FFFFFF"/>
                </a:solidFill>
              </a:rPr>
              <a:t>1 number:</a:t>
            </a:r>
            <a:endParaRPr lang="en-US" sz="1300" dirty="0"/>
          </a:p>
          <a:p>
            <a:pPr algn="ctr" indent="0" marL="0">
              <a:buNone/>
            </a:pPr>
            <a:r>
              <a:rPr lang="en-US" sz="1300" b="1" dirty="0">
                <a:solidFill>
                  <a:srgbClr val="FFFFFF"/>
                </a:solidFill>
              </a:rPr>
              <a:t>expected reward</a:t>
            </a:r>
            <a:endParaRPr lang="en-US" sz="1300" dirty="0"/>
          </a:p>
        </p:txBody>
      </p:sp>
      <p:sp>
        <p:nvSpPr>
          <p:cNvPr id="49" name="Shape 47"/>
          <p:cNvSpPr/>
          <p:nvPr/>
        </p:nvSpPr>
        <p:spPr>
          <a:xfrm>
            <a:off x="2103120" y="2103120"/>
            <a:ext cx="457200" cy="914"/>
          </a:xfrm>
          <a:prstGeom prst="line">
            <a:avLst/>
          </a:prstGeom>
          <a:noFill/>
          <a:ln w="22225">
            <a:solidFill>
              <a:srgbClr val="000000"/>
            </a:solidFill>
            <a:prstDash val="solid"/>
            <a:tailEnd type="triangle"/>
          </a:ln>
        </p:spPr>
      </p:sp>
      <p:sp>
        <p:nvSpPr>
          <p:cNvPr id="50" name="Shape 48"/>
          <p:cNvSpPr/>
          <p:nvPr/>
        </p:nvSpPr>
        <p:spPr>
          <a:xfrm>
            <a:off x="2103120" y="3886200"/>
            <a:ext cx="457200" cy="914"/>
          </a:xfrm>
          <a:prstGeom prst="line">
            <a:avLst/>
          </a:prstGeom>
          <a:noFill/>
          <a:ln w="22225">
            <a:solidFill>
              <a:srgbClr val="000000"/>
            </a:solidFill>
            <a:prstDash val="solid"/>
            <a:tailEnd type="triangle"/>
          </a:ln>
        </p:spPr>
      </p:sp>
      <p:sp>
        <p:nvSpPr>
          <p:cNvPr id="51" name="Text 49"/>
          <p:cNvSpPr txBox="1"/>
          <p:nvPr/>
        </p:nvSpPr>
        <p:spPr>
          <a:xfrm>
            <a:off x="548640" y="4754880"/>
            <a:ext cx="2743200" cy="566928"/>
          </a:xfrm>
          <a:prstGeom prst="rect">
            <a:avLst/>
          </a:prstGeom>
          <a:noFill/>
          <a:ln/>
        </p:spPr>
        <p:txBody>
          <a:bodyPr wrap="square" lIns="0" tIns="0" rIns="0" bIns="0" rtlCol="0" anchor="b"/>
          <a:lstStyle/>
          <a:p>
            <a:pPr indent="0" marL="0">
              <a:buNone/>
            </a:pPr>
            <a:r>
              <a:rPr lang="en-US" sz="3400" b="1" dirty="0">
                <a:solidFill>
                  <a:srgbClr val="000000"/>
                </a:solidFill>
              </a:rPr>
              <a:t>284,422</a:t>
            </a:r>
            <a:endParaRPr lang="en-US" sz="3400" dirty="0"/>
          </a:p>
        </p:txBody>
      </p:sp>
      <p:sp>
        <p:nvSpPr>
          <p:cNvPr id="52" name="Text 50"/>
          <p:cNvSpPr txBox="1"/>
          <p:nvPr/>
        </p:nvSpPr>
        <p:spPr>
          <a:xfrm>
            <a:off x="548640" y="5358384"/>
            <a:ext cx="2743200" cy="566928"/>
          </a:xfrm>
          <a:prstGeom prst="rect">
            <a:avLst/>
          </a:prstGeom>
          <a:noFill/>
          <a:ln/>
        </p:spPr>
        <p:txBody>
          <a:bodyPr wrap="square" lIns="0" tIns="0" rIns="0" bIns="0" rtlCol="0" anchor="t"/>
          <a:lstStyle/>
          <a:p>
            <a:pPr indent="0" marL="0">
              <a:buNone/>
            </a:pPr>
            <a:r>
              <a:rPr lang="en-US" sz="1300" dirty="0">
                <a:solidFill>
                  <a:srgbClr val="5A5A5A"/>
                </a:solidFill>
              </a:rPr>
              <a:t>actor parameters</a:t>
            </a:r>
            <a:endParaRPr lang="en-US" sz="1300" dirty="0"/>
          </a:p>
        </p:txBody>
      </p:sp>
      <p:sp>
        <p:nvSpPr>
          <p:cNvPr id="53" name="Text 51"/>
          <p:cNvSpPr txBox="1"/>
          <p:nvPr/>
        </p:nvSpPr>
        <p:spPr>
          <a:xfrm>
            <a:off x="3383280" y="4754880"/>
            <a:ext cx="2743200" cy="566928"/>
          </a:xfrm>
          <a:prstGeom prst="rect">
            <a:avLst/>
          </a:prstGeom>
          <a:noFill/>
          <a:ln/>
        </p:spPr>
        <p:txBody>
          <a:bodyPr wrap="square" lIns="0" tIns="0" rIns="0" bIns="0" rtlCol="0" anchor="b"/>
          <a:lstStyle/>
          <a:p>
            <a:pPr indent="0" marL="0">
              <a:buNone/>
            </a:pPr>
            <a:r>
              <a:rPr lang="en-US" sz="3400" b="1" dirty="0">
                <a:solidFill>
                  <a:srgbClr val="000000"/>
                </a:solidFill>
              </a:rPr>
              <a:t>283,137</a:t>
            </a:r>
            <a:endParaRPr lang="en-US" sz="3400" dirty="0"/>
          </a:p>
        </p:txBody>
      </p:sp>
      <p:sp>
        <p:nvSpPr>
          <p:cNvPr id="54" name="Text 52"/>
          <p:cNvSpPr txBox="1"/>
          <p:nvPr/>
        </p:nvSpPr>
        <p:spPr>
          <a:xfrm>
            <a:off x="3383280" y="5358384"/>
            <a:ext cx="2743200" cy="566928"/>
          </a:xfrm>
          <a:prstGeom prst="rect">
            <a:avLst/>
          </a:prstGeom>
          <a:noFill/>
          <a:ln/>
        </p:spPr>
        <p:txBody>
          <a:bodyPr wrap="square" lIns="0" tIns="0" rIns="0" bIns="0" rtlCol="0" anchor="t"/>
          <a:lstStyle/>
          <a:p>
            <a:pPr indent="0" marL="0">
              <a:buNone/>
            </a:pPr>
            <a:r>
              <a:rPr lang="en-US" sz="1300" dirty="0">
                <a:solidFill>
                  <a:srgbClr val="5A5A5A"/>
                </a:solidFill>
              </a:rPr>
              <a:t>critic parameters</a:t>
            </a:r>
            <a:endParaRPr lang="en-US" sz="1300" dirty="0"/>
          </a:p>
        </p:txBody>
      </p:sp>
      <p:sp>
        <p:nvSpPr>
          <p:cNvPr id="55" name="Text 53"/>
          <p:cNvSpPr txBox="1"/>
          <p:nvPr/>
        </p:nvSpPr>
        <p:spPr>
          <a:xfrm>
            <a:off x="6217920" y="4754880"/>
            <a:ext cx="2743200" cy="566928"/>
          </a:xfrm>
          <a:prstGeom prst="rect">
            <a:avLst/>
          </a:prstGeom>
          <a:noFill/>
          <a:ln/>
        </p:spPr>
        <p:txBody>
          <a:bodyPr wrap="square" lIns="0" tIns="0" rIns="0" bIns="0" rtlCol="0" anchor="b"/>
          <a:lstStyle/>
          <a:p>
            <a:pPr indent="0" marL="0">
              <a:buNone/>
            </a:pPr>
            <a:r>
              <a:rPr lang="en-US" sz="3400" b="1" dirty="0">
                <a:solidFill>
                  <a:srgbClr val="000000"/>
                </a:solidFill>
              </a:rPr>
              <a:t>ReLU MLP</a:t>
            </a:r>
            <a:endParaRPr lang="en-US" sz="3400" dirty="0"/>
          </a:p>
        </p:txBody>
      </p:sp>
      <p:sp>
        <p:nvSpPr>
          <p:cNvPr id="56" name="Text 54"/>
          <p:cNvSpPr txBox="1"/>
          <p:nvPr/>
        </p:nvSpPr>
        <p:spPr>
          <a:xfrm>
            <a:off x="6217920" y="5358384"/>
            <a:ext cx="2743200" cy="566928"/>
          </a:xfrm>
          <a:prstGeom prst="rect">
            <a:avLst/>
          </a:prstGeom>
          <a:noFill/>
          <a:ln/>
        </p:spPr>
        <p:txBody>
          <a:bodyPr wrap="square" lIns="0" tIns="0" rIns="0" bIns="0" rtlCol="0" anchor="t"/>
          <a:lstStyle/>
          <a:p>
            <a:pPr indent="0" marL="0">
              <a:buNone/>
            </a:pPr>
            <a:r>
              <a:rPr lang="en-US" sz="1300" dirty="0">
                <a:solidFill>
                  <a:srgbClr val="5A5A5A"/>
                </a:solidFill>
              </a:rPr>
              <a:t>no convolution, no memory between decisions</a:t>
            </a:r>
            <a:endParaRPr lang="en-US" sz="1300" dirty="0"/>
          </a:p>
        </p:txBody>
      </p:sp>
      <p:sp>
        <p:nvSpPr>
          <p:cNvPr id="57" name="Text 55"/>
          <p:cNvSpPr txBox="1"/>
          <p:nvPr/>
        </p:nvSpPr>
        <p:spPr>
          <a:xfrm>
            <a:off x="9052560" y="4754880"/>
            <a:ext cx="2743200" cy="566928"/>
          </a:xfrm>
          <a:prstGeom prst="rect">
            <a:avLst/>
          </a:prstGeom>
          <a:noFill/>
          <a:ln/>
        </p:spPr>
        <p:txBody>
          <a:bodyPr wrap="square" lIns="0" tIns="0" rIns="0" bIns="0" rtlCol="0" anchor="b"/>
          <a:lstStyle/>
          <a:p>
            <a:pPr indent="0" marL="0">
              <a:buNone/>
            </a:pPr>
            <a:r>
              <a:rPr lang="en-US" sz="3400" b="1" dirty="0">
                <a:solidFill>
                  <a:srgbClr val="000000"/>
                </a:solidFill>
              </a:rPr>
              <a:t>2.3 MB</a:t>
            </a:r>
            <a:endParaRPr lang="en-US" sz="3400" dirty="0"/>
          </a:p>
        </p:txBody>
      </p:sp>
      <p:sp>
        <p:nvSpPr>
          <p:cNvPr id="58" name="Text 56"/>
          <p:cNvSpPr txBox="1"/>
          <p:nvPr/>
        </p:nvSpPr>
        <p:spPr>
          <a:xfrm>
            <a:off x="9052560" y="5358384"/>
            <a:ext cx="2743200" cy="566928"/>
          </a:xfrm>
          <a:prstGeom prst="rect">
            <a:avLst/>
          </a:prstGeom>
          <a:noFill/>
          <a:ln/>
        </p:spPr>
        <p:txBody>
          <a:bodyPr wrap="square" lIns="0" tIns="0" rIns="0" bIns="0" rtlCol="0" anchor="t"/>
          <a:lstStyle/>
          <a:p>
            <a:pPr indent="0" marL="0">
              <a:buNone/>
            </a:pPr>
            <a:r>
              <a:rPr lang="en-US" sz="1300" dirty="0">
                <a:solidFill>
                  <a:srgbClr val="5A5A5A"/>
                </a:solidFill>
              </a:rPr>
              <a:t>one ghost file (NumPy weights)</a:t>
            </a:r>
            <a:endParaRPr lang="en-US" sz="1300" dirty="0"/>
          </a:p>
        </p:txBody>
      </p:sp>
      <p:sp>
        <p:nvSpPr>
          <p:cNvPr id="60"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the model</a:t>
            </a:r>
            <a:endParaRPr lang="en-US" sz="900" dirty="0"/>
          </a:p>
        </p:txBody>
      </p:sp>
      <p:sp>
        <p:nvSpPr>
          <p:cNvPr id="61"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[ 13/42 ]</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WHAT ONE LAYER COMPUTES</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[ 03 ]</a:t>
            </a:r>
            <a:endParaRPr lang="en-US" sz="1400" dirty="0"/>
          </a:p>
        </p:txBody>
      </p:sp>
      <p:sp>
        <p:nvSpPr>
          <p:cNvPr id="4" name="Shape 2"/>
          <p:cNvSpPr/>
          <p:nvPr/>
        </p:nvSpPr>
        <p:spPr>
          <a:xfrm>
            <a:off x="530352" y="1170432"/>
            <a:ext cx="3566160" cy="3520440"/>
          </a:xfrm>
          <a:prstGeom prst="rect">
            <a:avLst/>
          </a:prstGeom>
          <a:solidFill>
            <a:srgbClr val="000000"/>
          </a:solidFill>
          <a:ln w="9525">
            <a:solidFill>
              <a:srgbClr val="000000"/>
            </a:solidFill>
            <a:prstDash val="solid"/>
          </a:ln>
        </p:spPr>
      </p:sp>
      <p:sp>
        <p:nvSpPr>
          <p:cNvPr id="5" name="Shape 3"/>
          <p:cNvSpPr/>
          <p:nvPr/>
        </p:nvSpPr>
        <p:spPr>
          <a:xfrm>
            <a:off x="457200" y="1097280"/>
            <a:ext cx="3566160" cy="3520440"/>
          </a:xfrm>
          <a:prstGeom prst="rect">
            <a:avLst/>
          </a:prstGeom>
          <a:solidFill>
            <a:srgbClr val="FFFFFF"/>
          </a:solidFill>
          <a:ln w="19050">
            <a:solidFill>
              <a:srgbClr val="000000"/>
            </a:solidFill>
            <a:prstDash val="solid"/>
          </a:ln>
        </p:spPr>
      </p:sp>
      <p:sp>
        <p:nvSpPr>
          <p:cNvPr id="6" name="Shape 4"/>
          <p:cNvSpPr/>
          <p:nvPr/>
        </p:nvSpPr>
        <p:spPr>
          <a:xfrm>
            <a:off x="457200" y="1097280"/>
            <a:ext cx="3566160" cy="347472"/>
          </a:xfrm>
          <a:prstGeom prst="rect">
            <a:avLst/>
          </a:prstGeom>
          <a:solidFill>
            <a:srgbClr val="000000"/>
          </a:solidFill>
          <a:ln w="19050">
            <a:solidFill>
              <a:srgbClr val="000000"/>
            </a:solidFill>
            <a:prstDash val="solid"/>
          </a:ln>
        </p:spPr>
      </p:sp>
      <p:sp>
        <p:nvSpPr>
          <p:cNvPr id="7" name="Text 5"/>
          <p:cNvSpPr txBox="1"/>
          <p:nvPr/>
        </p:nvSpPr>
        <p:spPr>
          <a:xfrm>
            <a:off x="585216" y="1097280"/>
            <a:ext cx="3310128" cy="347472"/>
          </a:xfrm>
          <a:prstGeom prst="rect">
            <a:avLst/>
          </a:prstGeom>
          <a:noFill/>
          <a:ln/>
        </p:spPr>
        <p:txBody>
          <a:bodyPr wrap="square" lIns="0" tIns="0" rIns="0" bIns="0" rtlCol="0" anchor="ctr"/>
          <a:lstStyle/>
          <a:p>
            <a:pPr algn="l" indent="0" marL="0">
              <a:buNone/>
            </a:pPr>
            <a:r>
              <a:rPr lang="en-US" sz="1300" b="1" dirty="0">
                <a:solidFill>
                  <a:srgbClr val="FFFFFF"/>
                </a:solidFill>
              </a:rPr>
              <a:t>&gt; 1  weighted sum</a:t>
            </a:r>
            <a:endParaRPr lang="en-US" sz="1300" dirty="0"/>
          </a:p>
        </p:txBody>
      </p:sp>
      <p:sp>
        <p:nvSpPr>
          <p:cNvPr id="8" name="Text 6"/>
          <p:cNvSpPr txBox="1"/>
          <p:nvPr/>
        </p:nvSpPr>
        <p:spPr>
          <a:xfrm>
            <a:off x="621792" y="1554480"/>
            <a:ext cx="3236976" cy="2953512"/>
          </a:xfrm>
          <a:prstGeom prst="rect">
            <a:avLst/>
          </a:prstGeom>
          <a:noFill/>
          <a:ln/>
        </p:spPr>
        <p:txBody>
          <a:bodyPr wrap="square" lIns="0" tIns="0" rIns="0" bIns="0" rtlCol="0" anchor="t"/>
          <a:lstStyle/>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z = W x + b</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Each of 256 neurons multiplies all 847 inputs by its own weight, adds them up and adds a bias.</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 "how much does this view look like my pattern?"</a:t>
            </a:r>
            <a:endParaRPr lang="en-US" sz="1300" dirty="0"/>
          </a:p>
        </p:txBody>
      </p:sp>
      <p:sp>
        <p:nvSpPr>
          <p:cNvPr id="9" name="Shape 7"/>
          <p:cNvSpPr/>
          <p:nvPr/>
        </p:nvSpPr>
        <p:spPr>
          <a:xfrm>
            <a:off x="4352544" y="1170432"/>
            <a:ext cx="3566160" cy="3520440"/>
          </a:xfrm>
          <a:prstGeom prst="rect">
            <a:avLst/>
          </a:prstGeom>
          <a:solidFill>
            <a:srgbClr val="000000"/>
          </a:solidFill>
          <a:ln w="9525">
            <a:solidFill>
              <a:srgbClr val="000000"/>
            </a:solidFill>
            <a:prstDash val="solid"/>
          </a:ln>
        </p:spPr>
      </p:sp>
      <p:sp>
        <p:nvSpPr>
          <p:cNvPr id="10" name="Shape 8"/>
          <p:cNvSpPr/>
          <p:nvPr/>
        </p:nvSpPr>
        <p:spPr>
          <a:xfrm>
            <a:off x="4279392" y="1097280"/>
            <a:ext cx="3566160" cy="3520440"/>
          </a:xfrm>
          <a:prstGeom prst="rect">
            <a:avLst/>
          </a:prstGeom>
          <a:solidFill>
            <a:srgbClr val="FFFFFF"/>
          </a:solidFill>
          <a:ln w="19050">
            <a:solidFill>
              <a:srgbClr val="000000"/>
            </a:solidFill>
            <a:prstDash val="solid"/>
          </a:ln>
        </p:spPr>
      </p:sp>
      <p:sp>
        <p:nvSpPr>
          <p:cNvPr id="11" name="Shape 9"/>
          <p:cNvSpPr/>
          <p:nvPr/>
        </p:nvSpPr>
        <p:spPr>
          <a:xfrm>
            <a:off x="4279392" y="1097280"/>
            <a:ext cx="3566160" cy="347472"/>
          </a:xfrm>
          <a:prstGeom prst="rect">
            <a:avLst/>
          </a:prstGeom>
          <a:solidFill>
            <a:srgbClr val="000000"/>
          </a:solidFill>
          <a:ln w="19050">
            <a:solidFill>
              <a:srgbClr val="000000"/>
            </a:solidFill>
            <a:prstDash val="solid"/>
          </a:ln>
        </p:spPr>
      </p:sp>
      <p:sp>
        <p:nvSpPr>
          <p:cNvPr id="12" name="Text 10"/>
          <p:cNvSpPr txBox="1"/>
          <p:nvPr/>
        </p:nvSpPr>
        <p:spPr>
          <a:xfrm>
            <a:off x="4407408" y="1097280"/>
            <a:ext cx="3310128" cy="347472"/>
          </a:xfrm>
          <a:prstGeom prst="rect">
            <a:avLst/>
          </a:prstGeom>
          <a:noFill/>
          <a:ln/>
        </p:spPr>
        <p:txBody>
          <a:bodyPr wrap="square" lIns="0" tIns="0" rIns="0" bIns="0" rtlCol="0" anchor="ctr"/>
          <a:lstStyle/>
          <a:p>
            <a:pPr algn="l" indent="0" marL="0">
              <a:buNone/>
            </a:pPr>
            <a:r>
              <a:rPr lang="en-US" sz="1300" b="1" dirty="0">
                <a:solidFill>
                  <a:srgbClr val="FFFFFF"/>
                </a:solidFill>
              </a:rPr>
              <a:t>&gt; 2  ReLU</a:t>
            </a:r>
            <a:endParaRPr lang="en-US" sz="1300" dirty="0"/>
          </a:p>
        </p:txBody>
      </p:sp>
      <p:sp>
        <p:nvSpPr>
          <p:cNvPr id="13" name="Text 11"/>
          <p:cNvSpPr txBox="1"/>
          <p:nvPr/>
        </p:nvSpPr>
        <p:spPr>
          <a:xfrm>
            <a:off x="4443984" y="1554480"/>
            <a:ext cx="3236976" cy="2953512"/>
          </a:xfrm>
          <a:prstGeom prst="rect">
            <a:avLst/>
          </a:prstGeom>
          <a:noFill/>
          <a:ln/>
        </p:spPr>
        <p:txBody>
          <a:bodyPr wrap="square" lIns="0" tIns="0" rIns="0" bIns="0" rtlCol="0" anchor="t"/>
          <a:lstStyle/>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h = max(0, z)</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Negative results become 0: a neuron stays silent unless its pattern is there.</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In the example, 57 of 256 neurons in layer 1 fire.</a:t>
            </a:r>
            <a:endParaRPr lang="en-US" sz="1300" dirty="0"/>
          </a:p>
        </p:txBody>
      </p:sp>
      <p:sp>
        <p:nvSpPr>
          <p:cNvPr id="14" name="Shape 12"/>
          <p:cNvSpPr/>
          <p:nvPr/>
        </p:nvSpPr>
        <p:spPr>
          <a:xfrm>
            <a:off x="8174736" y="1170432"/>
            <a:ext cx="3566160" cy="3520440"/>
          </a:xfrm>
          <a:prstGeom prst="rect">
            <a:avLst/>
          </a:prstGeom>
          <a:solidFill>
            <a:srgbClr val="000000"/>
          </a:solidFill>
          <a:ln w="9525">
            <a:solidFill>
              <a:srgbClr val="000000"/>
            </a:solidFill>
            <a:prstDash val="solid"/>
          </a:ln>
        </p:spPr>
      </p:sp>
      <p:sp>
        <p:nvSpPr>
          <p:cNvPr id="15" name="Shape 13"/>
          <p:cNvSpPr/>
          <p:nvPr/>
        </p:nvSpPr>
        <p:spPr>
          <a:xfrm>
            <a:off x="8101584" y="1097280"/>
            <a:ext cx="3566160" cy="3520440"/>
          </a:xfrm>
          <a:prstGeom prst="rect">
            <a:avLst/>
          </a:prstGeom>
          <a:solidFill>
            <a:srgbClr val="FFFFFF"/>
          </a:solidFill>
          <a:ln w="19050">
            <a:solidFill>
              <a:srgbClr val="000000"/>
            </a:solidFill>
            <a:prstDash val="solid"/>
          </a:ln>
        </p:spPr>
      </p:sp>
      <p:sp>
        <p:nvSpPr>
          <p:cNvPr id="16" name="Shape 14"/>
          <p:cNvSpPr/>
          <p:nvPr/>
        </p:nvSpPr>
        <p:spPr>
          <a:xfrm>
            <a:off x="8101584" y="1097280"/>
            <a:ext cx="3566160" cy="347472"/>
          </a:xfrm>
          <a:prstGeom prst="rect">
            <a:avLst/>
          </a:prstGeom>
          <a:solidFill>
            <a:srgbClr val="000000"/>
          </a:solidFill>
          <a:ln w="19050">
            <a:solidFill>
              <a:srgbClr val="000000"/>
            </a:solidFill>
            <a:prstDash val="solid"/>
          </a:ln>
        </p:spPr>
      </p:sp>
      <p:sp>
        <p:nvSpPr>
          <p:cNvPr id="17" name="Text 15"/>
          <p:cNvSpPr txBox="1"/>
          <p:nvPr/>
        </p:nvSpPr>
        <p:spPr>
          <a:xfrm>
            <a:off x="8229600" y="1097280"/>
            <a:ext cx="3310128" cy="347472"/>
          </a:xfrm>
          <a:prstGeom prst="rect">
            <a:avLst/>
          </a:prstGeom>
          <a:noFill/>
          <a:ln/>
        </p:spPr>
        <p:txBody>
          <a:bodyPr wrap="square" lIns="0" tIns="0" rIns="0" bIns="0" rtlCol="0" anchor="ctr"/>
          <a:lstStyle/>
          <a:p>
            <a:pPr algn="l" indent="0" marL="0">
              <a:buNone/>
            </a:pPr>
            <a:r>
              <a:rPr lang="en-US" sz="1300" b="1" dirty="0">
                <a:solidFill>
                  <a:srgbClr val="FFFFFF"/>
                </a:solidFill>
              </a:rPr>
              <a:t>&gt; 3  softmax</a:t>
            </a:r>
            <a:endParaRPr lang="en-US" sz="1300" dirty="0"/>
          </a:p>
        </p:txBody>
      </p:sp>
      <p:sp>
        <p:nvSpPr>
          <p:cNvPr id="18" name="Text 16"/>
          <p:cNvSpPr txBox="1"/>
          <p:nvPr/>
        </p:nvSpPr>
        <p:spPr>
          <a:xfrm>
            <a:off x="8266176" y="1554480"/>
            <a:ext cx="3236976" cy="2953512"/>
          </a:xfrm>
          <a:prstGeom prst="rect">
            <a:avLst/>
          </a:prstGeom>
          <a:noFill/>
          <a:ln/>
        </p:spPr>
        <p:txBody>
          <a:bodyPr wrap="square" lIns="0" tIns="0" rIns="0" bIns="0" rtlCol="0" anchor="t"/>
          <a:lstStyle/>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p = e^z / sum(e^z)</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Turns the 6 output scores into probabilities that add up to 100%.</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The demo takes the largest; training samples from them to explore.</a:t>
            </a:r>
            <a:endParaRPr lang="en-US" sz="1300" dirty="0"/>
          </a:p>
        </p:txBody>
      </p:sp>
      <p:sp>
        <p:nvSpPr>
          <p:cNvPr id="19" name="Shape 17"/>
          <p:cNvSpPr/>
          <p:nvPr/>
        </p:nvSpPr>
        <p:spPr>
          <a:xfrm>
            <a:off x="457200" y="4937760"/>
            <a:ext cx="11247120" cy="566928"/>
          </a:xfrm>
          <a:prstGeom prst="rect">
            <a:avLst/>
          </a:prstGeom>
          <a:solidFill>
            <a:srgbClr val="000000"/>
          </a:solidFill>
          <a:ln w="12700">
            <a:solidFill>
              <a:srgbClr val="000000"/>
            </a:solidFill>
            <a:prstDash val="solid"/>
          </a:ln>
        </p:spPr>
      </p:sp>
      <p:sp>
        <p:nvSpPr>
          <p:cNvPr id="20" name="Text 18"/>
          <p:cNvSpPr txBox="1"/>
          <p:nvPr/>
        </p:nvSpPr>
        <p:spPr>
          <a:xfrm>
            <a:off x="594360" y="4937760"/>
            <a:ext cx="10972800" cy="566928"/>
          </a:xfrm>
          <a:prstGeom prst="rect">
            <a:avLst/>
          </a:prstGeom>
          <a:noFill/>
          <a:ln/>
        </p:spPr>
        <p:txBody>
          <a:bodyPr wrap="square" lIns="0" tIns="0" rIns="0" bIns="0" rtlCol="0" anchor="ctr"/>
          <a:lstStyle/>
          <a:p>
            <a:pPr algn="ctr" indent="0" marL="0">
              <a:buNone/>
            </a:pPr>
            <a:r>
              <a:rPr lang="en-US" sz="1400" b="1" dirty="0">
                <a:solidFill>
                  <a:srgbClr val="FFFFFF"/>
                </a:solidFill>
              </a:rPr>
              <a:t>layer 1 finds tile patterns  -&gt;  layer 2 combines them into situations  -&gt;  output scores each button</a:t>
            </a:r>
            <a:endParaRPr lang="en-US" sz="1400" dirty="0"/>
          </a:p>
        </p:txBody>
      </p:sp>
      <p:sp>
        <p:nvSpPr>
          <p:cNvPr id="21" name="Text 19"/>
          <p:cNvSpPr txBox="1"/>
          <p:nvPr/>
        </p:nvSpPr>
        <p:spPr>
          <a:xfrm>
            <a:off x="457200" y="5715000"/>
            <a:ext cx="11247120" cy="274320"/>
          </a:xfrm>
          <a:prstGeom prst="rect">
            <a:avLst/>
          </a:prstGeom>
          <a:noFill/>
          <a:ln/>
        </p:spPr>
        <p:txBody>
          <a:bodyPr wrap="square" lIns="0" tIns="0" rIns="0" bIns="0" rtlCol="0" anchor="ctr"/>
          <a:lstStyle/>
          <a:p>
            <a:pPr indent="0" marL="0">
              <a:buNone/>
            </a:pPr>
            <a:r>
              <a:rPr lang="en-US" sz="1100" i="1" dirty="0">
                <a:solidFill>
                  <a:srgbClr val="5A5A5A"/>
                </a:solidFill>
              </a:rPr>
              <a:t>W and b are the 567,559 numbers training adjusts; everything else is fixed</a:t>
            </a:r>
            <a:endParaRPr lang="en-US" sz="1100" dirty="0"/>
          </a:p>
        </p:txBody>
      </p:sp>
      <p:sp>
        <p:nvSpPr>
          <p:cNvPr id="23"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the model</a:t>
            </a:r>
            <a:endParaRPr lang="en-US" sz="900" dirty="0"/>
          </a:p>
        </p:txBody>
      </p:sp>
      <p:sp>
        <p:nvSpPr>
          <p:cNvPr id="24"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[ 14/42 ]</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A REAL FORWARD PASS</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[ 03 ]</a:t>
            </a:r>
            <a:endParaRPr lang="en-US" sz="1400" dirty="0"/>
          </a:p>
        </p:txBody>
      </p:sp>
      <p:pic>
        <p:nvPicPr>
          <p:cNvPr id="4" name="30_example_moment.png" descr="C:/Users/dynam/Desktop/rl da3/ProcGen_RL/runs/presentation/30_example_moment.png">    </p:cNvPr>
          <p:cNvPicPr>
            <a:picLocks noChangeAspect="1"/>
          </p:cNvPicPr>
          <p:nvPr/>
        </p:nvPicPr>
        <p:blipFill>
          <a:blip r:embed="rId1"/>
          <a:stretch>
            <a:fillRect/>
          </a:stretch>
        </p:blipFill>
        <p:spPr>
          <a:xfrm>
            <a:off x="457200" y="960120"/>
            <a:ext cx="5394960" cy="2226491"/>
          </a:xfrm>
          <a:prstGeom prst="rect">
            <a:avLst/>
          </a:prstGeom>
        </p:spPr>
      </p:pic>
      <p:sp>
        <p:nvSpPr>
          <p:cNvPr id="5" name="Shape 2"/>
          <p:cNvSpPr/>
          <p:nvPr/>
        </p:nvSpPr>
        <p:spPr>
          <a:xfrm>
            <a:off x="457200" y="960120"/>
            <a:ext cx="5394960" cy="2226491"/>
          </a:xfrm>
          <a:prstGeom prst="rect">
            <a:avLst/>
          </a:prstGeom>
          <a:ln w="12700">
            <a:solidFill>
              <a:srgbClr val="000000"/>
            </a:solidFill>
            <a:prstDash val="solid"/>
          </a:ln>
        </p:spPr>
      </p:sp>
      <p:sp>
        <p:nvSpPr>
          <p:cNvPr id="6" name="Text 3"/>
          <p:cNvSpPr txBox="1"/>
          <p:nvPr/>
        </p:nvSpPr>
        <p:spPr>
          <a:xfrm>
            <a:off x="457200" y="3611880"/>
            <a:ext cx="5394960" cy="1737360"/>
          </a:xfrm>
          <a:prstGeom prst="rect">
            <a:avLst/>
          </a:prstGeom>
          <a:noFill/>
          <a:ln/>
        </p:spPr>
        <p:txBody>
          <a:bodyPr wrap="square" lIns="0" tIns="0" rIns="0" bIns="0" rtlCol="0" anchor="t"/>
          <a:lstStyle/>
          <a:p>
            <a:pPr marL="254000" indent="-254000">
              <a:spcAft>
                <a:spcPts val="800"/>
              </a:spcAft>
              <a:buSzPct val="100000"/>
              <a:buChar char="&gt;"/>
            </a:pPr>
            <a:r>
              <a:rPr lang="en-US" b="1" dirty="0">
                <a:solidFill>
                  <a:srgbClr val="000000"/>
                </a:solidFill>
              </a:rPr>
              <a:t>input:</a:t>
            </a:r>
            <a:pPr indent="0" marL="0">
              <a:spcAft>
                <a:spcPts val="800"/>
              </a:spcAft>
              <a:buNone/>
            </a:pPr>
            <a:r>
              <a:rPr lang="en-US" dirty="0">
                <a:solidFill>
                  <a:srgbClr val="000000"/>
                </a:solidFill>
              </a:rPr>
              <a:t> 847 numbers, 103 of them are 1</a:t>
            </a:r>
            <a:endParaRPr lang="en-US" dirty="0"/>
          </a:p>
          <a:p>
            <a:pPr marL="254000" indent="-254000">
              <a:spcAft>
                <a:spcPts val="800"/>
              </a:spcAft>
              <a:buSzPct val="100000"/>
              <a:buChar char="&gt;"/>
            </a:pPr>
            <a:r>
              <a:rPr lang="en-US" b="1" dirty="0">
                <a:solidFill>
                  <a:srgbClr val="000000"/>
                </a:solidFill>
              </a:rPr>
              <a:t>hidden 1:</a:t>
            </a:r>
            <a:pPr indent="0" marL="0">
              <a:spcAft>
                <a:spcPts val="800"/>
              </a:spcAft>
              <a:buNone/>
            </a:pPr>
            <a:r>
              <a:rPr lang="en-US" dirty="0">
                <a:solidFill>
                  <a:srgbClr val="000000"/>
                </a:solidFill>
              </a:rPr>
              <a:t> 57 of 256 neurons fire</a:t>
            </a:r>
            <a:endParaRPr lang="en-US" dirty="0"/>
          </a:p>
          <a:p>
            <a:pPr marL="254000" indent="-254000">
              <a:spcAft>
                <a:spcPts val="800"/>
              </a:spcAft>
              <a:buSzPct val="100000"/>
              <a:buChar char="&gt;"/>
            </a:pPr>
            <a:r>
              <a:rPr lang="en-US" b="1" dirty="0">
                <a:solidFill>
                  <a:srgbClr val="000000"/>
                </a:solidFill>
              </a:rPr>
              <a:t>hidden 2:</a:t>
            </a:r>
            <a:pPr indent="0" marL="0">
              <a:spcAft>
                <a:spcPts val="800"/>
              </a:spcAft>
              <a:buNone/>
            </a:pPr>
            <a:r>
              <a:rPr lang="en-US" dirty="0">
                <a:solidFill>
                  <a:srgbClr val="000000"/>
                </a:solidFill>
              </a:rPr>
              <a:t> 16 of 256 neurons fire</a:t>
            </a:r>
            <a:endParaRPr lang="en-US" dirty="0"/>
          </a:p>
          <a:p>
            <a:pPr marL="254000" indent="-254000">
              <a:spcAft>
                <a:spcPts val="800"/>
              </a:spcAft>
              <a:buSzPct val="100000"/>
              <a:buChar char="&gt;"/>
            </a:pPr>
            <a:r>
              <a:rPr lang="en-US" b="1" dirty="0">
                <a:solidFill>
                  <a:srgbClr val="000000"/>
                </a:solidFill>
              </a:rPr>
              <a:t>critic:</a:t>
            </a:r>
            <a:pPr indent="0" marL="0">
              <a:spcAft>
                <a:spcPts val="800"/>
              </a:spcAft>
              <a:buNone/>
            </a:pPr>
            <a:r>
              <a:rPr lang="en-US" dirty="0">
                <a:solidFill>
                  <a:srgbClr val="000000"/>
                </a:solidFill>
              </a:rPr>
              <a:t> expects +5.43 more reward</a:t>
            </a:r>
            <a:endParaRPr lang="en-US"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6309360" y="960120"/>
          <a:ext cx="5440680" cy="914400"/>
        </p:xfrm>
        <a:graphic>
          <a:graphicData uri="http://schemas.openxmlformats.org/drawingml/2006/table">
            <a:tbl>
              <a:tblPr/>
              <a:tblGrid>
                <a:gridCol w="2148840"/>
                <a:gridCol w="1645920"/>
                <a:gridCol w="1645920"/>
              </a:tblGrid>
              <a:tr h="411480">
                <a:tc>
                  <a:txBody>
                    <a:bodyPr/>
                    <a:lstStyle/>
                    <a:p>
                      <a:pPr indent="0" marL="0">
                        <a:buNone/>
                      </a:pPr>
                      <a:r>
                        <a:rPr lang="en-US" sz="1400" b="1" dirty="0">
                          <a:solidFill>
                            <a:srgbClr val="FFFFFF"/>
                          </a:solidFill>
                          <a:latin typeface="Consolas" pitchFamily="34" charset="0"/>
                          <a:ea typeface="Consolas" pitchFamily="34" charset="-122"/>
                          <a:cs typeface="Consolas" pitchFamily="34" charset="-120"/>
                        </a:rPr>
                        <a:t>action</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400" b="1" dirty="0">
                          <a:solidFill>
                            <a:srgbClr val="FFFFFF"/>
                          </a:solidFill>
                          <a:latin typeface="Consolas" pitchFamily="34" charset="0"/>
                          <a:ea typeface="Consolas" pitchFamily="34" charset="-122"/>
                          <a:cs typeface="Consolas" pitchFamily="34" charset="-120"/>
                        </a:rPr>
                        <a:t>score (logit)</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400" b="1" dirty="0">
                          <a:solidFill>
                            <a:srgbClr val="FFFFFF"/>
                          </a:solidFill>
                          <a:latin typeface="Consolas" pitchFamily="34" charset="0"/>
                          <a:ea typeface="Consolas" pitchFamily="34" charset="-122"/>
                          <a:cs typeface="Consolas" pitchFamily="34" charset="-120"/>
                        </a:rPr>
                        <a:t>probability</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r>
              <a:tr h="411480">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  idle</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3.12</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19.1%</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  left</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-2.66</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0.1%</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11480">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&gt; right</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3.95</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44.0%</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  jump</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1.53</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3.9%</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11480">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  left+jump</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-2.05</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0.1%</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11480">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  right+jump</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3.66</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400" dirty="0">
                          <a:solidFill>
                            <a:srgbClr val="000000"/>
                          </a:solidFill>
                          <a:latin typeface="Consolas" pitchFamily="34" charset="0"/>
                          <a:ea typeface="Consolas" pitchFamily="34" charset="-122"/>
                          <a:cs typeface="Consolas" pitchFamily="34" charset="-120"/>
                        </a:rPr>
                        <a:t>32.9%</a:t>
                      </a:r>
                      <a:endParaRPr lang="en-US" sz="14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bl>
          </a:graphicData>
        </a:graphic>
      </p:graphicFrame>
      <p:sp>
        <p:nvSpPr>
          <p:cNvPr id="8" name="Shape 4"/>
          <p:cNvSpPr/>
          <p:nvPr/>
        </p:nvSpPr>
        <p:spPr>
          <a:xfrm>
            <a:off x="6382512" y="4142232"/>
            <a:ext cx="5440680" cy="1600200"/>
          </a:xfrm>
          <a:prstGeom prst="rect">
            <a:avLst/>
          </a:prstGeom>
          <a:solidFill>
            <a:srgbClr val="000000"/>
          </a:solidFill>
          <a:ln w="9525">
            <a:solidFill>
              <a:srgbClr val="000000"/>
            </a:solidFill>
            <a:prstDash val="solid"/>
          </a:ln>
        </p:spPr>
      </p:sp>
      <p:sp>
        <p:nvSpPr>
          <p:cNvPr id="9" name="Shape 5"/>
          <p:cNvSpPr/>
          <p:nvPr/>
        </p:nvSpPr>
        <p:spPr>
          <a:xfrm>
            <a:off x="6309360" y="4069080"/>
            <a:ext cx="5440680" cy="1600200"/>
          </a:xfrm>
          <a:prstGeom prst="rect">
            <a:avLst/>
          </a:prstGeom>
          <a:solidFill>
            <a:srgbClr val="FFFFFF"/>
          </a:solidFill>
          <a:ln w="19050">
            <a:solidFill>
              <a:srgbClr val="000000"/>
            </a:solidFill>
            <a:prstDash val="solid"/>
          </a:ln>
        </p:spPr>
      </p:sp>
      <p:sp>
        <p:nvSpPr>
          <p:cNvPr id="10" name="Shape 6"/>
          <p:cNvSpPr/>
          <p:nvPr/>
        </p:nvSpPr>
        <p:spPr>
          <a:xfrm>
            <a:off x="6309360" y="4069080"/>
            <a:ext cx="5440680" cy="347472"/>
          </a:xfrm>
          <a:prstGeom prst="rect">
            <a:avLst/>
          </a:prstGeom>
          <a:solidFill>
            <a:srgbClr val="000000"/>
          </a:solidFill>
          <a:ln w="19050">
            <a:solidFill>
              <a:srgbClr val="000000"/>
            </a:solidFill>
            <a:prstDash val="solid"/>
          </a:ln>
        </p:spPr>
      </p:sp>
      <p:sp>
        <p:nvSpPr>
          <p:cNvPr id="11" name="Text 7"/>
          <p:cNvSpPr txBox="1"/>
          <p:nvPr/>
        </p:nvSpPr>
        <p:spPr>
          <a:xfrm>
            <a:off x="6437376" y="4069080"/>
            <a:ext cx="5184648" cy="347472"/>
          </a:xfrm>
          <a:prstGeom prst="rect">
            <a:avLst/>
          </a:prstGeom>
          <a:noFill/>
          <a:ln/>
        </p:spPr>
        <p:txBody>
          <a:bodyPr wrap="square" lIns="0" tIns="0" rIns="0" bIns="0" rtlCol="0" anchor="ctr"/>
          <a:lstStyle/>
          <a:p>
            <a:pPr algn="l" indent="0" marL="0">
              <a:buNone/>
            </a:pPr>
            <a:r>
              <a:rPr lang="en-US" sz="1300" b="1" dirty="0">
                <a:solidFill>
                  <a:srgbClr val="FFFFFF"/>
                </a:solidFill>
              </a:rPr>
              <a:t>&gt; reading it</a:t>
            </a:r>
            <a:endParaRPr lang="en-US" sz="1300" dirty="0"/>
          </a:p>
        </p:txBody>
      </p:sp>
      <p:sp>
        <p:nvSpPr>
          <p:cNvPr id="12" name="Text 8"/>
          <p:cNvSpPr txBox="1"/>
          <p:nvPr/>
        </p:nvSpPr>
        <p:spPr>
          <a:xfrm>
            <a:off x="6473952" y="4526280"/>
            <a:ext cx="5111496" cy="103327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It is in the air and falling, so "right" (44%) and "right+jump" (33%) do almost the same thing. The demo takes the top one: </a:t>
            </a:r>
            <a:pPr indent="0" marL="0">
              <a:spcAft>
                <a:spcPts val="500"/>
              </a:spcAft>
              <a:buNone/>
            </a:pPr>
            <a:r>
              <a:rPr lang="en-US" sz="1300" b="1" dirty="0">
                <a:solidFill>
                  <a:srgbClr val="000000"/>
                </a:solidFill>
                <a:latin typeface="Consolas" pitchFamily="34" charset="0"/>
                <a:ea typeface="Consolas" pitchFamily="34" charset="-122"/>
                <a:cs typeface="Consolas" pitchFamily="34" charset="-120"/>
              </a:rPr>
              <a:t>right</a:t>
            </a:r>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a:t>
            </a:r>
            <a:endParaRPr lang="en-US" sz="1300" dirty="0"/>
          </a:p>
        </p:txBody>
      </p:sp>
      <p:sp>
        <p:nvSpPr>
          <p:cNvPr id="14"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the model</a:t>
            </a:r>
            <a:endParaRPr lang="en-US" sz="900" dirty="0"/>
          </a:p>
        </p:txBody>
      </p:sp>
      <p:sp>
        <p:nvSpPr>
          <p:cNvPr id="15"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[ 15/42 ]</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THE CRITIC: HOW IT JUDGES A MOMENT</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[ 03 ]</a:t>
            </a:r>
            <a:endParaRPr lang="en-US" sz="1400" dirty="0"/>
          </a:p>
        </p:txBody>
      </p:sp>
      <p:pic>
        <p:nvPicPr>
          <p:cNvPr id="4" name="25_critic_trace.png" descr="C:/Users/dynam/Desktop/rl da3/ProcGen_RL/runs/presentation/25_critic_trace.png">    </p:cNvPr>
          <p:cNvPicPr>
            <a:picLocks noChangeAspect="1"/>
          </p:cNvPicPr>
          <p:nvPr/>
        </p:nvPicPr>
        <p:blipFill>
          <a:blip r:embed="rId1"/>
          <a:stretch>
            <a:fillRect/>
          </a:stretch>
        </p:blipFill>
        <p:spPr>
          <a:xfrm>
            <a:off x="1025729" y="868680"/>
            <a:ext cx="10110063" cy="3611880"/>
          </a:xfrm>
          <a:prstGeom prst="rect">
            <a:avLst/>
          </a:prstGeom>
        </p:spPr>
      </p:pic>
      <p:sp>
        <p:nvSpPr>
          <p:cNvPr id="5" name="Shape 2"/>
          <p:cNvSpPr/>
          <p:nvPr/>
        </p:nvSpPr>
        <p:spPr>
          <a:xfrm>
            <a:off x="1025729" y="868680"/>
            <a:ext cx="10110063" cy="3611880"/>
          </a:xfrm>
          <a:prstGeom prst="rect">
            <a:avLst/>
          </a:prstGeom>
          <a:ln w="12700">
            <a:solidFill>
              <a:srgbClr val="000000"/>
            </a:solidFill>
            <a:prstDash val="solid"/>
          </a:ln>
        </p:spPr>
      </p:sp>
      <p:sp>
        <p:nvSpPr>
          <p:cNvPr id="6" name="Shape 3"/>
          <p:cNvSpPr/>
          <p:nvPr/>
        </p:nvSpPr>
        <p:spPr>
          <a:xfrm>
            <a:off x="530352" y="4782312"/>
            <a:ext cx="3657600" cy="1371600"/>
          </a:xfrm>
          <a:prstGeom prst="rect">
            <a:avLst/>
          </a:prstGeom>
          <a:solidFill>
            <a:srgbClr val="000000"/>
          </a:solidFill>
          <a:ln w="9525">
            <a:solidFill>
              <a:srgbClr val="000000"/>
            </a:solidFill>
            <a:prstDash val="solid"/>
          </a:ln>
        </p:spPr>
      </p:sp>
      <p:sp>
        <p:nvSpPr>
          <p:cNvPr id="7" name="Shape 4"/>
          <p:cNvSpPr/>
          <p:nvPr/>
        </p:nvSpPr>
        <p:spPr>
          <a:xfrm>
            <a:off x="457200" y="4709160"/>
            <a:ext cx="3657600" cy="1371600"/>
          </a:xfrm>
          <a:prstGeom prst="rect">
            <a:avLst/>
          </a:prstGeom>
          <a:solidFill>
            <a:srgbClr val="FFFFFF"/>
          </a:solidFill>
          <a:ln w="19050">
            <a:solidFill>
              <a:srgbClr val="000000"/>
            </a:solidFill>
            <a:prstDash val="solid"/>
          </a:ln>
        </p:spPr>
      </p:sp>
      <p:sp>
        <p:nvSpPr>
          <p:cNvPr id="8" name="Shape 5"/>
          <p:cNvSpPr/>
          <p:nvPr/>
        </p:nvSpPr>
        <p:spPr>
          <a:xfrm>
            <a:off x="457200" y="4709160"/>
            <a:ext cx="3657600" cy="347472"/>
          </a:xfrm>
          <a:prstGeom prst="rect">
            <a:avLst/>
          </a:prstGeom>
          <a:solidFill>
            <a:srgbClr val="000000"/>
          </a:solidFill>
          <a:ln w="19050">
            <a:solidFill>
              <a:srgbClr val="000000"/>
            </a:solidFill>
            <a:prstDash val="solid"/>
          </a:ln>
        </p:spPr>
      </p:sp>
      <p:sp>
        <p:nvSpPr>
          <p:cNvPr id="9" name="Text 6"/>
          <p:cNvSpPr txBox="1"/>
          <p:nvPr/>
        </p:nvSpPr>
        <p:spPr>
          <a:xfrm>
            <a:off x="585216" y="4709160"/>
            <a:ext cx="3401568" cy="347472"/>
          </a:xfrm>
          <a:prstGeom prst="rect">
            <a:avLst/>
          </a:prstGeom>
          <a:noFill/>
          <a:ln/>
        </p:spPr>
        <p:txBody>
          <a:bodyPr wrap="square" lIns="0" tIns="0" rIns="0" bIns="0" rtlCol="0" anchor="ctr"/>
          <a:lstStyle/>
          <a:p>
            <a:pPr algn="l" indent="0" marL="0">
              <a:buNone/>
            </a:pPr>
            <a:r>
              <a:rPr lang="en-US" sz="1300" b="1" dirty="0">
                <a:solidFill>
                  <a:srgbClr val="FFFFFF"/>
                </a:solidFill>
              </a:rPr>
              <a:t>&gt; what</a:t>
            </a:r>
            <a:endParaRPr lang="en-US" sz="1300" dirty="0"/>
          </a:p>
        </p:txBody>
      </p:sp>
      <p:sp>
        <p:nvSpPr>
          <p:cNvPr id="10" name="Text 7"/>
          <p:cNvSpPr txBox="1"/>
          <p:nvPr/>
        </p:nvSpPr>
        <p:spPr>
          <a:xfrm>
            <a:off x="621792" y="5166360"/>
            <a:ext cx="3328416" cy="804672"/>
          </a:xfrm>
          <a:prstGeom prst="rect">
            <a:avLst/>
          </a:prstGeom>
          <a:noFill/>
          <a:ln/>
        </p:spPr>
        <p:txBody>
          <a:bodyPr wrap="square" lIns="0" tIns="0" rIns="0" bIns="0" rtlCol="0" anchor="t"/>
          <a:lstStyle/>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A second network, same shape, one output: how much reward it expects from here on.</a:t>
            </a:r>
            <a:endParaRPr lang="en-US" sz="1200" dirty="0"/>
          </a:p>
        </p:txBody>
      </p:sp>
      <p:sp>
        <p:nvSpPr>
          <p:cNvPr id="11" name="Shape 8"/>
          <p:cNvSpPr/>
          <p:nvPr/>
        </p:nvSpPr>
        <p:spPr>
          <a:xfrm>
            <a:off x="4343400" y="4782312"/>
            <a:ext cx="3657600" cy="1371600"/>
          </a:xfrm>
          <a:prstGeom prst="rect">
            <a:avLst/>
          </a:prstGeom>
          <a:solidFill>
            <a:srgbClr val="000000"/>
          </a:solidFill>
          <a:ln w="9525">
            <a:solidFill>
              <a:srgbClr val="000000"/>
            </a:solidFill>
            <a:prstDash val="solid"/>
          </a:ln>
        </p:spPr>
      </p:sp>
      <p:sp>
        <p:nvSpPr>
          <p:cNvPr id="12" name="Shape 9"/>
          <p:cNvSpPr/>
          <p:nvPr/>
        </p:nvSpPr>
        <p:spPr>
          <a:xfrm>
            <a:off x="4270248" y="4709160"/>
            <a:ext cx="3657600" cy="1371600"/>
          </a:xfrm>
          <a:prstGeom prst="rect">
            <a:avLst/>
          </a:prstGeom>
          <a:solidFill>
            <a:srgbClr val="FFFFFF"/>
          </a:solidFill>
          <a:ln w="19050">
            <a:solidFill>
              <a:srgbClr val="000000"/>
            </a:solidFill>
            <a:prstDash val="solid"/>
          </a:ln>
        </p:spPr>
      </p:sp>
      <p:sp>
        <p:nvSpPr>
          <p:cNvPr id="13" name="Shape 10"/>
          <p:cNvSpPr/>
          <p:nvPr/>
        </p:nvSpPr>
        <p:spPr>
          <a:xfrm>
            <a:off x="4270248" y="4709160"/>
            <a:ext cx="3657600" cy="347472"/>
          </a:xfrm>
          <a:prstGeom prst="rect">
            <a:avLst/>
          </a:prstGeom>
          <a:solidFill>
            <a:srgbClr val="000000"/>
          </a:solidFill>
          <a:ln w="19050">
            <a:solidFill>
              <a:srgbClr val="000000"/>
            </a:solidFill>
            <a:prstDash val="solid"/>
          </a:ln>
        </p:spPr>
      </p:sp>
      <p:sp>
        <p:nvSpPr>
          <p:cNvPr id="14" name="Text 11"/>
          <p:cNvSpPr txBox="1"/>
          <p:nvPr/>
        </p:nvSpPr>
        <p:spPr>
          <a:xfrm>
            <a:off x="4398264" y="4709160"/>
            <a:ext cx="3401568" cy="347472"/>
          </a:xfrm>
          <a:prstGeom prst="rect">
            <a:avLst/>
          </a:prstGeom>
          <a:noFill/>
          <a:ln/>
        </p:spPr>
        <p:txBody>
          <a:bodyPr wrap="square" lIns="0" tIns="0" rIns="0" bIns="0" rtlCol="0" anchor="ctr"/>
          <a:lstStyle/>
          <a:p>
            <a:pPr algn="l" indent="0" marL="0">
              <a:buNone/>
            </a:pPr>
            <a:r>
              <a:rPr lang="en-US" sz="1300" b="1" dirty="0">
                <a:solidFill>
                  <a:srgbClr val="FFFFFF"/>
                </a:solidFill>
              </a:rPr>
              <a:t>&gt; why</a:t>
            </a:r>
            <a:endParaRPr lang="en-US" sz="1300" dirty="0"/>
          </a:p>
        </p:txBody>
      </p:sp>
      <p:sp>
        <p:nvSpPr>
          <p:cNvPr id="15" name="Text 12"/>
          <p:cNvSpPr txBox="1"/>
          <p:nvPr/>
        </p:nvSpPr>
        <p:spPr>
          <a:xfrm>
            <a:off x="4434840" y="5166360"/>
            <a:ext cx="3328416" cy="804672"/>
          </a:xfrm>
          <a:prstGeom prst="rect">
            <a:avLst/>
          </a:prstGeom>
          <a:noFill/>
          <a:ln/>
        </p:spPr>
        <p:txBody>
          <a:bodyPr wrap="square" lIns="0" tIns="0" rIns="0" bIns="0" rtlCol="0" anchor="t"/>
          <a:lstStyle/>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Training compares what really happened with this guess. Better than expected: do that more.</a:t>
            </a:r>
            <a:endParaRPr lang="en-US" sz="1200" dirty="0"/>
          </a:p>
        </p:txBody>
      </p:sp>
      <p:sp>
        <p:nvSpPr>
          <p:cNvPr id="16" name="Shape 13"/>
          <p:cNvSpPr/>
          <p:nvPr/>
        </p:nvSpPr>
        <p:spPr>
          <a:xfrm>
            <a:off x="8156448" y="4782312"/>
            <a:ext cx="3657600" cy="1371600"/>
          </a:xfrm>
          <a:prstGeom prst="rect">
            <a:avLst/>
          </a:prstGeom>
          <a:solidFill>
            <a:srgbClr val="000000"/>
          </a:solidFill>
          <a:ln w="9525">
            <a:solidFill>
              <a:srgbClr val="000000"/>
            </a:solidFill>
            <a:prstDash val="solid"/>
          </a:ln>
        </p:spPr>
      </p:sp>
      <p:sp>
        <p:nvSpPr>
          <p:cNvPr id="17" name="Shape 14"/>
          <p:cNvSpPr/>
          <p:nvPr/>
        </p:nvSpPr>
        <p:spPr>
          <a:xfrm>
            <a:off x="8083296" y="4709160"/>
            <a:ext cx="3657600" cy="1371600"/>
          </a:xfrm>
          <a:prstGeom prst="rect">
            <a:avLst/>
          </a:prstGeom>
          <a:solidFill>
            <a:srgbClr val="FFFFFF"/>
          </a:solidFill>
          <a:ln w="19050">
            <a:solidFill>
              <a:srgbClr val="000000"/>
            </a:solidFill>
            <a:prstDash val="solid"/>
          </a:ln>
        </p:spPr>
      </p:sp>
      <p:sp>
        <p:nvSpPr>
          <p:cNvPr id="18" name="Shape 15"/>
          <p:cNvSpPr/>
          <p:nvPr/>
        </p:nvSpPr>
        <p:spPr>
          <a:xfrm>
            <a:off x="8083296" y="4709160"/>
            <a:ext cx="3657600" cy="347472"/>
          </a:xfrm>
          <a:prstGeom prst="rect">
            <a:avLst/>
          </a:prstGeom>
          <a:solidFill>
            <a:srgbClr val="000000"/>
          </a:solidFill>
          <a:ln w="19050">
            <a:solidFill>
              <a:srgbClr val="000000"/>
            </a:solidFill>
            <a:prstDash val="solid"/>
          </a:ln>
        </p:spPr>
      </p:sp>
      <p:sp>
        <p:nvSpPr>
          <p:cNvPr id="19" name="Text 16"/>
          <p:cNvSpPr txBox="1"/>
          <p:nvPr/>
        </p:nvSpPr>
        <p:spPr>
          <a:xfrm>
            <a:off x="8211312" y="4709160"/>
            <a:ext cx="3401568" cy="347472"/>
          </a:xfrm>
          <a:prstGeom prst="rect">
            <a:avLst/>
          </a:prstGeom>
          <a:noFill/>
          <a:ln/>
        </p:spPr>
        <p:txBody>
          <a:bodyPr wrap="square" lIns="0" tIns="0" rIns="0" bIns="0" rtlCol="0" anchor="ctr"/>
          <a:lstStyle/>
          <a:p>
            <a:pPr algn="l" indent="0" marL="0">
              <a:buNone/>
            </a:pPr>
            <a:r>
              <a:rPr lang="en-US" sz="1300" b="1" dirty="0">
                <a:solidFill>
                  <a:srgbClr val="FFFFFF"/>
                </a:solidFill>
              </a:rPr>
              <a:t>&gt; what it shows</a:t>
            </a:r>
            <a:endParaRPr lang="en-US" sz="1300" dirty="0"/>
          </a:p>
        </p:txBody>
      </p:sp>
      <p:sp>
        <p:nvSpPr>
          <p:cNvPr id="20" name="Text 17"/>
          <p:cNvSpPr txBox="1"/>
          <p:nvPr/>
        </p:nvSpPr>
        <p:spPr>
          <a:xfrm>
            <a:off x="8247888" y="5166360"/>
            <a:ext cx="3328416" cy="804672"/>
          </a:xfrm>
          <a:prstGeom prst="rect">
            <a:avLst/>
          </a:prstGeom>
          <a:noFill/>
          <a:ln/>
        </p:spPr>
        <p:txBody>
          <a:bodyPr wrap="square" lIns="0" tIns="0" rIns="0" bIns="0" rtlCol="0" anchor="t"/>
          <a:lstStyle/>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5h ghost: 5.3 falls to 0.5 as it drops into a pit. 300h: stays above 5.0.</a:t>
            </a:r>
            <a:endParaRPr lang="en-US" sz="1200" dirty="0"/>
          </a:p>
        </p:txBody>
      </p:sp>
      <p:sp>
        <p:nvSpPr>
          <p:cNvPr id="22"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the model</a:t>
            </a:r>
            <a:endParaRPr lang="en-US" sz="900" dirty="0"/>
          </a:p>
        </p:txBody>
      </p:sp>
      <p:sp>
        <p:nvSpPr>
          <p:cNvPr id="23"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[ 16/42 ]</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822960" y="2331720"/>
            <a:ext cx="7315200" cy="365760"/>
          </a:xfrm>
          <a:prstGeom prst="rect">
            <a:avLst/>
          </a:prstGeom>
          <a:noFill/>
          <a:ln/>
        </p:spPr>
        <p:txBody>
          <a:bodyPr wrap="square" lIns="0" tIns="0" rIns="0" bIns="0" rtlCol="0" anchor="ctr"/>
          <a:lstStyle/>
          <a:p>
            <a:pPr indent="0" marL="0">
              <a:buNone/>
            </a:pPr>
            <a:r>
              <a:rPr lang="en-US" sz="1600" dirty="0">
                <a:solidFill>
                  <a:srgbClr val="D9D9D9"/>
                </a:solidFill>
              </a:rPr>
              <a:t>&gt; cd section_04</a:t>
            </a:r>
            <a:endParaRPr lang="en-US" sz="1600" dirty="0"/>
          </a:p>
        </p:txBody>
      </p:sp>
      <p:sp>
        <p:nvSpPr>
          <p:cNvPr id="3" name="Text 1"/>
          <p:cNvSpPr txBox="1"/>
          <p:nvPr/>
        </p:nvSpPr>
        <p:spPr>
          <a:xfrm>
            <a:off x="822960" y="2697480"/>
            <a:ext cx="7315200" cy="1143000"/>
          </a:xfrm>
          <a:prstGeom prst="rect">
            <a:avLst/>
          </a:prstGeom>
          <a:noFill/>
          <a:ln/>
        </p:spPr>
        <p:txBody>
          <a:bodyPr wrap="square" lIns="0" tIns="0" rIns="0" bIns="0" rtlCol="0" anchor="ctr"/>
          <a:lstStyle/>
          <a:p>
            <a:pPr indent="0" marL="0">
              <a:buNone/>
            </a:pPr>
            <a:r>
              <a:rPr lang="en-US" sz="8000" b="1" dirty="0">
                <a:solidFill>
                  <a:srgbClr val="FFFFFF"/>
                </a:solidFill>
              </a:rPr>
              <a:t>04</a:t>
            </a:r>
            <a:endParaRPr lang="en-US" sz="8000" dirty="0"/>
          </a:p>
        </p:txBody>
      </p:sp>
      <p:sp>
        <p:nvSpPr>
          <p:cNvPr id="4" name="Text 2"/>
          <p:cNvSpPr txBox="1"/>
          <p:nvPr/>
        </p:nvSpPr>
        <p:spPr>
          <a:xfrm>
            <a:off x="822960" y="3840480"/>
            <a:ext cx="10515600" cy="685800"/>
          </a:xfrm>
          <a:prstGeom prst="rect">
            <a:avLst/>
          </a:prstGeom>
          <a:noFill/>
          <a:ln/>
        </p:spPr>
        <p:txBody>
          <a:bodyPr wrap="square" lIns="0" tIns="0" rIns="0" bIns="0" rtlCol="0" anchor="ctr"/>
          <a:lstStyle/>
          <a:p>
            <a:pPr indent="0" marL="0">
              <a:buNone/>
            </a:pPr>
            <a:r>
              <a:rPr lang="en-US" sz="3400" b="1" dirty="0">
                <a:solidFill>
                  <a:srgbClr val="FFFFFF"/>
                </a:solidFill>
              </a:rPr>
              <a:t>HOW IT LEARNS</a:t>
            </a:r>
            <a:pPr indent="0" marL="0">
              <a:buNone/>
            </a:pPr>
            <a:r>
              <a:rPr lang="en-US" sz="3400" b="1" dirty="0">
                <a:solidFill>
                  <a:srgbClr val="FFFFFF"/>
                </a:solidFill>
              </a:rPr>
              <a:t>█</a:t>
            </a:r>
            <a:endParaRPr lang="en-US" sz="3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REWARD: THE ONLY FEEDBACK</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[ 04 ]</a:t>
            </a:r>
            <a:endParaRPr lang="en-US" sz="1400" dirty="0"/>
          </a:p>
        </p:txBody>
      </p:sp>
      <p:sp>
        <p:nvSpPr>
          <p:cNvPr id="4" name="Shape 2"/>
          <p:cNvSpPr/>
          <p:nvPr/>
        </p:nvSpPr>
        <p:spPr>
          <a:xfrm>
            <a:off x="530352" y="1261872"/>
            <a:ext cx="2651760" cy="1828800"/>
          </a:xfrm>
          <a:prstGeom prst="rect">
            <a:avLst/>
          </a:prstGeom>
          <a:solidFill>
            <a:srgbClr val="000000"/>
          </a:solidFill>
          <a:ln w="9525">
            <a:solidFill>
              <a:srgbClr val="000000"/>
            </a:solidFill>
            <a:prstDash val="solid"/>
          </a:ln>
        </p:spPr>
      </p:sp>
      <p:sp>
        <p:nvSpPr>
          <p:cNvPr id="5" name="Shape 3"/>
          <p:cNvSpPr/>
          <p:nvPr/>
        </p:nvSpPr>
        <p:spPr>
          <a:xfrm>
            <a:off x="457200" y="1188720"/>
            <a:ext cx="2651760" cy="1828800"/>
          </a:xfrm>
          <a:prstGeom prst="rect">
            <a:avLst/>
          </a:prstGeom>
          <a:solidFill>
            <a:srgbClr val="FFFFFF"/>
          </a:solidFill>
          <a:ln w="19050">
            <a:solidFill>
              <a:srgbClr val="000000"/>
            </a:solidFill>
            <a:prstDash val="solid"/>
          </a:ln>
        </p:spPr>
      </p:sp>
      <p:sp>
        <p:nvSpPr>
          <p:cNvPr id="6" name="Shape 4"/>
          <p:cNvSpPr/>
          <p:nvPr/>
        </p:nvSpPr>
        <p:spPr>
          <a:xfrm>
            <a:off x="457200" y="1188720"/>
            <a:ext cx="2651760" cy="347472"/>
          </a:xfrm>
          <a:prstGeom prst="rect">
            <a:avLst/>
          </a:prstGeom>
          <a:solidFill>
            <a:srgbClr val="000000"/>
          </a:solidFill>
          <a:ln w="19050">
            <a:solidFill>
              <a:srgbClr val="000000"/>
            </a:solidFill>
            <a:prstDash val="solid"/>
          </a:ln>
        </p:spPr>
      </p:sp>
      <p:sp>
        <p:nvSpPr>
          <p:cNvPr id="7" name="Text 5"/>
          <p:cNvSpPr txBox="1"/>
          <p:nvPr/>
        </p:nvSpPr>
        <p:spPr>
          <a:xfrm>
            <a:off x="585216" y="1188720"/>
            <a:ext cx="2395728" cy="347472"/>
          </a:xfrm>
          <a:prstGeom prst="rect">
            <a:avLst/>
          </a:prstGeom>
          <a:noFill/>
          <a:ln/>
        </p:spPr>
        <p:txBody>
          <a:bodyPr wrap="square" lIns="0" tIns="0" rIns="0" bIns="0" rtlCol="0" anchor="ctr"/>
          <a:lstStyle/>
          <a:p>
            <a:pPr algn="l" indent="0" marL="0">
              <a:buNone/>
            </a:pPr>
            <a:r>
              <a:rPr lang="en-US" sz="1300" b="1" dirty="0">
                <a:solidFill>
                  <a:srgbClr val="FFFFFF"/>
                </a:solidFill>
              </a:rPr>
              <a:t>&gt; reward</a:t>
            </a:r>
            <a:endParaRPr lang="en-US" sz="1300" dirty="0"/>
          </a:p>
        </p:txBody>
      </p:sp>
      <p:sp>
        <p:nvSpPr>
          <p:cNvPr id="8" name="Text 6"/>
          <p:cNvSpPr txBox="1"/>
          <p:nvPr/>
        </p:nvSpPr>
        <p:spPr>
          <a:xfrm>
            <a:off x="621792" y="1645920"/>
            <a:ext cx="2322576" cy="1261872"/>
          </a:xfrm>
          <a:prstGeom prst="rect">
            <a:avLst/>
          </a:prstGeom>
          <a:noFill/>
          <a:ln/>
        </p:spPr>
        <p:txBody>
          <a:bodyPr wrap="square" lIns="0" tIns="0" rIns="0" bIns="0" rtlCol="0" anchor="t"/>
          <a:lstStyle/>
          <a:p>
            <a:pPr indent="0" marL="0">
              <a:spcAft>
                <a:spcPts val="500"/>
              </a:spcAft>
              <a:buNone/>
            </a:pPr>
            <a:r>
              <a:rPr lang="en-US" sz="3400" b="1" dirty="0">
                <a:solidFill>
                  <a:srgbClr val="000000"/>
                </a:solidFill>
                <a:latin typeface="Consolas" pitchFamily="34" charset="0"/>
                <a:ea typeface="Consolas" pitchFamily="34" charset="-122"/>
                <a:cs typeface="Consolas" pitchFamily="34" charset="-120"/>
              </a:rPr>
              <a:t>+0.1</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for every new tile of progress to the right</a:t>
            </a:r>
            <a:endParaRPr lang="en-US" sz="1300" dirty="0"/>
          </a:p>
        </p:txBody>
      </p:sp>
      <p:sp>
        <p:nvSpPr>
          <p:cNvPr id="9" name="Shape 7"/>
          <p:cNvSpPr/>
          <p:nvPr/>
        </p:nvSpPr>
        <p:spPr>
          <a:xfrm>
            <a:off x="3392424" y="1261872"/>
            <a:ext cx="2651760" cy="1828800"/>
          </a:xfrm>
          <a:prstGeom prst="rect">
            <a:avLst/>
          </a:prstGeom>
          <a:solidFill>
            <a:srgbClr val="000000"/>
          </a:solidFill>
          <a:ln w="9525">
            <a:solidFill>
              <a:srgbClr val="000000"/>
            </a:solidFill>
            <a:prstDash val="solid"/>
          </a:ln>
        </p:spPr>
      </p:sp>
      <p:sp>
        <p:nvSpPr>
          <p:cNvPr id="10" name="Shape 8"/>
          <p:cNvSpPr/>
          <p:nvPr/>
        </p:nvSpPr>
        <p:spPr>
          <a:xfrm>
            <a:off x="3319272" y="1188720"/>
            <a:ext cx="2651760" cy="1828800"/>
          </a:xfrm>
          <a:prstGeom prst="rect">
            <a:avLst/>
          </a:prstGeom>
          <a:solidFill>
            <a:srgbClr val="FFFFFF"/>
          </a:solidFill>
          <a:ln w="19050">
            <a:solidFill>
              <a:srgbClr val="000000"/>
            </a:solidFill>
            <a:prstDash val="solid"/>
          </a:ln>
        </p:spPr>
      </p:sp>
      <p:sp>
        <p:nvSpPr>
          <p:cNvPr id="11" name="Shape 9"/>
          <p:cNvSpPr/>
          <p:nvPr/>
        </p:nvSpPr>
        <p:spPr>
          <a:xfrm>
            <a:off x="3319272" y="1188720"/>
            <a:ext cx="2651760" cy="347472"/>
          </a:xfrm>
          <a:prstGeom prst="rect">
            <a:avLst/>
          </a:prstGeom>
          <a:solidFill>
            <a:srgbClr val="000000"/>
          </a:solidFill>
          <a:ln w="19050">
            <a:solidFill>
              <a:srgbClr val="000000"/>
            </a:solidFill>
            <a:prstDash val="solid"/>
          </a:ln>
        </p:spPr>
      </p:sp>
      <p:sp>
        <p:nvSpPr>
          <p:cNvPr id="12" name="Text 10"/>
          <p:cNvSpPr txBox="1"/>
          <p:nvPr/>
        </p:nvSpPr>
        <p:spPr>
          <a:xfrm>
            <a:off x="3447288" y="1188720"/>
            <a:ext cx="2395728" cy="347472"/>
          </a:xfrm>
          <a:prstGeom prst="rect">
            <a:avLst/>
          </a:prstGeom>
          <a:noFill/>
          <a:ln/>
        </p:spPr>
        <p:txBody>
          <a:bodyPr wrap="square" lIns="0" tIns="0" rIns="0" bIns="0" rtlCol="0" anchor="ctr"/>
          <a:lstStyle/>
          <a:p>
            <a:pPr algn="l" indent="0" marL="0">
              <a:buNone/>
            </a:pPr>
            <a:r>
              <a:rPr lang="en-US" sz="1300" b="1" dirty="0">
                <a:solidFill>
                  <a:srgbClr val="FFFFFF"/>
                </a:solidFill>
              </a:rPr>
              <a:t>&gt; reward</a:t>
            </a:r>
            <a:endParaRPr lang="en-US" sz="1300" dirty="0"/>
          </a:p>
        </p:txBody>
      </p:sp>
      <p:sp>
        <p:nvSpPr>
          <p:cNvPr id="13" name="Text 11"/>
          <p:cNvSpPr txBox="1"/>
          <p:nvPr/>
        </p:nvSpPr>
        <p:spPr>
          <a:xfrm>
            <a:off x="3483864" y="1645920"/>
            <a:ext cx="2322576" cy="1261872"/>
          </a:xfrm>
          <a:prstGeom prst="rect">
            <a:avLst/>
          </a:prstGeom>
          <a:noFill/>
          <a:ln/>
        </p:spPr>
        <p:txBody>
          <a:bodyPr wrap="square" lIns="0" tIns="0" rIns="0" bIns="0" rtlCol="0" anchor="t"/>
          <a:lstStyle/>
          <a:p>
            <a:pPr indent="0" marL="0">
              <a:spcAft>
                <a:spcPts val="500"/>
              </a:spcAft>
              <a:buNone/>
            </a:pPr>
            <a:r>
              <a:rPr lang="en-US" sz="3400" b="1" dirty="0">
                <a:solidFill>
                  <a:srgbClr val="000000"/>
                </a:solidFill>
                <a:latin typeface="Consolas" pitchFamily="34" charset="0"/>
                <a:ea typeface="Consolas" pitchFamily="34" charset="-122"/>
                <a:cs typeface="Consolas" pitchFamily="34" charset="-120"/>
              </a:rPr>
              <a:t>-0.002</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every decision: hurry up</a:t>
            </a:r>
            <a:endParaRPr lang="en-US" sz="1300" dirty="0"/>
          </a:p>
        </p:txBody>
      </p:sp>
      <p:sp>
        <p:nvSpPr>
          <p:cNvPr id="14" name="Shape 12"/>
          <p:cNvSpPr/>
          <p:nvPr/>
        </p:nvSpPr>
        <p:spPr>
          <a:xfrm>
            <a:off x="6254496" y="1261872"/>
            <a:ext cx="2651760" cy="1828800"/>
          </a:xfrm>
          <a:prstGeom prst="rect">
            <a:avLst/>
          </a:prstGeom>
          <a:solidFill>
            <a:srgbClr val="000000"/>
          </a:solidFill>
          <a:ln w="9525">
            <a:solidFill>
              <a:srgbClr val="000000"/>
            </a:solidFill>
            <a:prstDash val="solid"/>
          </a:ln>
        </p:spPr>
      </p:sp>
      <p:sp>
        <p:nvSpPr>
          <p:cNvPr id="15" name="Shape 13"/>
          <p:cNvSpPr/>
          <p:nvPr/>
        </p:nvSpPr>
        <p:spPr>
          <a:xfrm>
            <a:off x="6181344" y="1188720"/>
            <a:ext cx="2651760" cy="1828800"/>
          </a:xfrm>
          <a:prstGeom prst="rect">
            <a:avLst/>
          </a:prstGeom>
          <a:solidFill>
            <a:srgbClr val="FFFFFF"/>
          </a:solidFill>
          <a:ln w="19050">
            <a:solidFill>
              <a:srgbClr val="000000"/>
            </a:solidFill>
            <a:prstDash val="solid"/>
          </a:ln>
        </p:spPr>
      </p:sp>
      <p:sp>
        <p:nvSpPr>
          <p:cNvPr id="16" name="Shape 14"/>
          <p:cNvSpPr/>
          <p:nvPr/>
        </p:nvSpPr>
        <p:spPr>
          <a:xfrm>
            <a:off x="6181344" y="1188720"/>
            <a:ext cx="2651760" cy="347472"/>
          </a:xfrm>
          <a:prstGeom prst="rect">
            <a:avLst/>
          </a:prstGeom>
          <a:solidFill>
            <a:srgbClr val="000000"/>
          </a:solidFill>
          <a:ln w="19050">
            <a:solidFill>
              <a:srgbClr val="000000"/>
            </a:solidFill>
            <a:prstDash val="solid"/>
          </a:ln>
        </p:spPr>
      </p:sp>
      <p:sp>
        <p:nvSpPr>
          <p:cNvPr id="17" name="Text 15"/>
          <p:cNvSpPr txBox="1"/>
          <p:nvPr/>
        </p:nvSpPr>
        <p:spPr>
          <a:xfrm>
            <a:off x="6309360" y="1188720"/>
            <a:ext cx="2395728" cy="347472"/>
          </a:xfrm>
          <a:prstGeom prst="rect">
            <a:avLst/>
          </a:prstGeom>
          <a:noFill/>
          <a:ln/>
        </p:spPr>
        <p:txBody>
          <a:bodyPr wrap="square" lIns="0" tIns="0" rIns="0" bIns="0" rtlCol="0" anchor="ctr"/>
          <a:lstStyle/>
          <a:p>
            <a:pPr algn="l" indent="0" marL="0">
              <a:buNone/>
            </a:pPr>
            <a:r>
              <a:rPr lang="en-US" sz="1300" b="1" dirty="0">
                <a:solidFill>
                  <a:srgbClr val="FFFFFF"/>
                </a:solidFill>
              </a:rPr>
              <a:t>&gt; reward</a:t>
            </a:r>
            <a:endParaRPr lang="en-US" sz="1300" dirty="0"/>
          </a:p>
        </p:txBody>
      </p:sp>
      <p:sp>
        <p:nvSpPr>
          <p:cNvPr id="18" name="Text 16"/>
          <p:cNvSpPr txBox="1"/>
          <p:nvPr/>
        </p:nvSpPr>
        <p:spPr>
          <a:xfrm>
            <a:off x="6345936" y="1645920"/>
            <a:ext cx="2322576" cy="1261872"/>
          </a:xfrm>
          <a:prstGeom prst="rect">
            <a:avLst/>
          </a:prstGeom>
          <a:noFill/>
          <a:ln/>
        </p:spPr>
        <p:txBody>
          <a:bodyPr wrap="square" lIns="0" tIns="0" rIns="0" bIns="0" rtlCol="0" anchor="t"/>
          <a:lstStyle/>
          <a:p>
            <a:pPr indent="0" marL="0">
              <a:spcAft>
                <a:spcPts val="500"/>
              </a:spcAft>
              <a:buNone/>
            </a:pPr>
            <a:r>
              <a:rPr lang="en-US" sz="3400" b="1" dirty="0">
                <a:solidFill>
                  <a:srgbClr val="000000"/>
                </a:solidFill>
                <a:latin typeface="Consolas" pitchFamily="34" charset="0"/>
                <a:ea typeface="Consolas" pitchFamily="34" charset="-122"/>
                <a:cs typeface="Consolas" pitchFamily="34" charset="-120"/>
              </a:rPr>
              <a:t>-1</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for dying: falling or touching a spike</a:t>
            </a:r>
            <a:endParaRPr lang="en-US" sz="1300" dirty="0"/>
          </a:p>
        </p:txBody>
      </p:sp>
      <p:sp>
        <p:nvSpPr>
          <p:cNvPr id="19" name="Shape 17"/>
          <p:cNvSpPr/>
          <p:nvPr/>
        </p:nvSpPr>
        <p:spPr>
          <a:xfrm>
            <a:off x="9116568" y="1261872"/>
            <a:ext cx="2651760" cy="1828800"/>
          </a:xfrm>
          <a:prstGeom prst="rect">
            <a:avLst/>
          </a:prstGeom>
          <a:solidFill>
            <a:srgbClr val="000000"/>
          </a:solidFill>
          <a:ln w="9525">
            <a:solidFill>
              <a:srgbClr val="000000"/>
            </a:solidFill>
            <a:prstDash val="solid"/>
          </a:ln>
        </p:spPr>
      </p:sp>
      <p:sp>
        <p:nvSpPr>
          <p:cNvPr id="20" name="Shape 18"/>
          <p:cNvSpPr/>
          <p:nvPr/>
        </p:nvSpPr>
        <p:spPr>
          <a:xfrm>
            <a:off x="9043416" y="1188720"/>
            <a:ext cx="2651760" cy="1828800"/>
          </a:xfrm>
          <a:prstGeom prst="rect">
            <a:avLst/>
          </a:prstGeom>
          <a:solidFill>
            <a:srgbClr val="FFFFFF"/>
          </a:solidFill>
          <a:ln w="19050">
            <a:solidFill>
              <a:srgbClr val="000000"/>
            </a:solidFill>
            <a:prstDash val="solid"/>
          </a:ln>
        </p:spPr>
      </p:sp>
      <p:sp>
        <p:nvSpPr>
          <p:cNvPr id="21" name="Shape 19"/>
          <p:cNvSpPr/>
          <p:nvPr/>
        </p:nvSpPr>
        <p:spPr>
          <a:xfrm>
            <a:off x="9043416" y="1188720"/>
            <a:ext cx="2651760" cy="347472"/>
          </a:xfrm>
          <a:prstGeom prst="rect">
            <a:avLst/>
          </a:prstGeom>
          <a:solidFill>
            <a:srgbClr val="000000"/>
          </a:solidFill>
          <a:ln w="19050">
            <a:solidFill>
              <a:srgbClr val="000000"/>
            </a:solidFill>
            <a:prstDash val="solid"/>
          </a:ln>
        </p:spPr>
      </p:sp>
      <p:sp>
        <p:nvSpPr>
          <p:cNvPr id="22" name="Text 20"/>
          <p:cNvSpPr txBox="1"/>
          <p:nvPr/>
        </p:nvSpPr>
        <p:spPr>
          <a:xfrm>
            <a:off x="9171432" y="1188720"/>
            <a:ext cx="2395728" cy="347472"/>
          </a:xfrm>
          <a:prstGeom prst="rect">
            <a:avLst/>
          </a:prstGeom>
          <a:noFill/>
          <a:ln/>
        </p:spPr>
        <p:txBody>
          <a:bodyPr wrap="square" lIns="0" tIns="0" rIns="0" bIns="0" rtlCol="0" anchor="ctr"/>
          <a:lstStyle/>
          <a:p>
            <a:pPr algn="l" indent="0" marL="0">
              <a:buNone/>
            </a:pPr>
            <a:r>
              <a:rPr lang="en-US" sz="1300" b="1" dirty="0">
                <a:solidFill>
                  <a:srgbClr val="FFFFFF"/>
                </a:solidFill>
              </a:rPr>
              <a:t>&gt; reward</a:t>
            </a:r>
            <a:endParaRPr lang="en-US" sz="1300" dirty="0"/>
          </a:p>
        </p:txBody>
      </p:sp>
      <p:sp>
        <p:nvSpPr>
          <p:cNvPr id="23" name="Text 21"/>
          <p:cNvSpPr txBox="1"/>
          <p:nvPr/>
        </p:nvSpPr>
        <p:spPr>
          <a:xfrm>
            <a:off x="9208008" y="1645920"/>
            <a:ext cx="2322576" cy="1261872"/>
          </a:xfrm>
          <a:prstGeom prst="rect">
            <a:avLst/>
          </a:prstGeom>
          <a:noFill/>
          <a:ln/>
        </p:spPr>
        <p:txBody>
          <a:bodyPr wrap="square" lIns="0" tIns="0" rIns="0" bIns="0" rtlCol="0" anchor="t"/>
          <a:lstStyle/>
          <a:p>
            <a:pPr indent="0" marL="0">
              <a:spcAft>
                <a:spcPts val="500"/>
              </a:spcAft>
              <a:buNone/>
            </a:pPr>
            <a:r>
              <a:rPr lang="en-US" sz="3400" b="1" dirty="0">
                <a:solidFill>
                  <a:srgbClr val="000000"/>
                </a:solidFill>
                <a:latin typeface="Consolas" pitchFamily="34" charset="0"/>
                <a:ea typeface="Consolas" pitchFamily="34" charset="-122"/>
                <a:cs typeface="Consolas" pitchFamily="34" charset="-120"/>
              </a:rPr>
              <a:t>+5</a:t>
            </a:r>
            <a:endParaRPr lang="en-US" sz="1300" dirty="0"/>
          </a:p>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for touching the flag</a:t>
            </a:r>
            <a:endParaRPr lang="en-US" sz="1300" dirty="0"/>
          </a:p>
        </p:txBody>
      </p:sp>
      <p:sp>
        <p:nvSpPr>
          <p:cNvPr id="24" name="Shape 22"/>
          <p:cNvSpPr/>
          <p:nvPr/>
        </p:nvSpPr>
        <p:spPr>
          <a:xfrm>
            <a:off x="530352" y="3502152"/>
            <a:ext cx="5486400" cy="2103120"/>
          </a:xfrm>
          <a:prstGeom prst="rect">
            <a:avLst/>
          </a:prstGeom>
          <a:solidFill>
            <a:srgbClr val="000000"/>
          </a:solidFill>
          <a:ln w="9525">
            <a:solidFill>
              <a:srgbClr val="000000"/>
            </a:solidFill>
            <a:prstDash val="solid"/>
          </a:ln>
        </p:spPr>
      </p:sp>
      <p:sp>
        <p:nvSpPr>
          <p:cNvPr id="25" name="Shape 23"/>
          <p:cNvSpPr/>
          <p:nvPr/>
        </p:nvSpPr>
        <p:spPr>
          <a:xfrm>
            <a:off x="457200" y="3429000"/>
            <a:ext cx="5486400" cy="2103120"/>
          </a:xfrm>
          <a:prstGeom prst="rect">
            <a:avLst/>
          </a:prstGeom>
          <a:solidFill>
            <a:srgbClr val="FFFFFF"/>
          </a:solidFill>
          <a:ln w="19050">
            <a:solidFill>
              <a:srgbClr val="000000"/>
            </a:solidFill>
            <a:prstDash val="solid"/>
          </a:ln>
        </p:spPr>
      </p:sp>
      <p:sp>
        <p:nvSpPr>
          <p:cNvPr id="26" name="Shape 24"/>
          <p:cNvSpPr/>
          <p:nvPr/>
        </p:nvSpPr>
        <p:spPr>
          <a:xfrm>
            <a:off x="457200" y="3429000"/>
            <a:ext cx="5486400" cy="347472"/>
          </a:xfrm>
          <a:prstGeom prst="rect">
            <a:avLst/>
          </a:prstGeom>
          <a:solidFill>
            <a:srgbClr val="000000"/>
          </a:solidFill>
          <a:ln w="19050">
            <a:solidFill>
              <a:srgbClr val="000000"/>
            </a:solidFill>
            <a:prstDash val="solid"/>
          </a:ln>
        </p:spPr>
      </p:sp>
      <p:sp>
        <p:nvSpPr>
          <p:cNvPr id="27" name="Text 25"/>
          <p:cNvSpPr txBox="1"/>
          <p:nvPr/>
        </p:nvSpPr>
        <p:spPr>
          <a:xfrm>
            <a:off x="585216" y="3429000"/>
            <a:ext cx="5230368" cy="347472"/>
          </a:xfrm>
          <a:prstGeom prst="rect">
            <a:avLst/>
          </a:prstGeom>
          <a:noFill/>
          <a:ln/>
        </p:spPr>
        <p:txBody>
          <a:bodyPr wrap="square" lIns="0" tIns="0" rIns="0" bIns="0" rtlCol="0" anchor="ctr"/>
          <a:lstStyle/>
          <a:p>
            <a:pPr algn="l" indent="0" marL="0">
              <a:buNone/>
            </a:pPr>
            <a:r>
              <a:rPr lang="en-US" sz="1300" b="1" dirty="0">
                <a:solidFill>
                  <a:srgbClr val="FFFFFF"/>
                </a:solidFill>
              </a:rPr>
              <a:t>&gt; an attempt ends when</a:t>
            </a:r>
            <a:endParaRPr lang="en-US" sz="1300" dirty="0"/>
          </a:p>
        </p:txBody>
      </p:sp>
      <p:sp>
        <p:nvSpPr>
          <p:cNvPr id="28" name="Text 26"/>
          <p:cNvSpPr txBox="1"/>
          <p:nvPr/>
        </p:nvSpPr>
        <p:spPr>
          <a:xfrm>
            <a:off x="621792" y="3886200"/>
            <a:ext cx="5157216" cy="1536192"/>
          </a:xfrm>
          <a:prstGeom prst="rect">
            <a:avLst/>
          </a:prstGeom>
          <a:noFill/>
          <a:ln/>
        </p:spPr>
        <p:txBody>
          <a:bodyPr wrap="square" lIns="0" tIns="0" rIns="0" bIns="0" rtlCol="0" anchor="t"/>
          <a:lstStyle/>
          <a:p>
            <a:pPr indent="0" marL="0">
              <a:spcAft>
                <a:spcPts val="800"/>
              </a:spcAft>
              <a:buNone/>
            </a:pPr>
            <a:r>
              <a:rPr lang="en-US" sz="1400" dirty="0">
                <a:solidFill>
                  <a:srgbClr val="000000"/>
                </a:solidFill>
                <a:latin typeface="Consolas" pitchFamily="34" charset="0"/>
                <a:ea typeface="Consolas" pitchFamily="34" charset="-122"/>
                <a:cs typeface="Consolas" pitchFamily="34" charset="-120"/>
              </a:rPr>
              <a:t>it dies or reaches the flag</a:t>
            </a:r>
            <a:endParaRPr lang="en-US" sz="1400" dirty="0"/>
          </a:p>
          <a:p>
            <a:pPr indent="0" marL="0">
              <a:spcAft>
                <a:spcPts val="800"/>
              </a:spcAft>
              <a:buNone/>
            </a:pPr>
            <a:r>
              <a:rPr lang="en-US" sz="1400" dirty="0">
                <a:solidFill>
                  <a:srgbClr val="000000"/>
                </a:solidFill>
                <a:latin typeface="Consolas" pitchFamily="34" charset="0"/>
                <a:ea typeface="Consolas" pitchFamily="34" charset="-122"/>
                <a:cs typeface="Consolas" pitchFamily="34" charset="-120"/>
              </a:rPr>
              <a:t>6 s pass without new progress</a:t>
            </a:r>
            <a:endParaRPr lang="en-US" sz="1400" dirty="0"/>
          </a:p>
          <a:p>
            <a:pPr indent="0" marL="0">
              <a:spcAft>
                <a:spcPts val="800"/>
              </a:spcAft>
              <a:buNone/>
            </a:pPr>
            <a:r>
              <a:rPr lang="en-US" sz="1400" dirty="0">
                <a:solidFill>
                  <a:srgbClr val="000000"/>
                </a:solidFill>
                <a:latin typeface="Consolas" pitchFamily="34" charset="0"/>
                <a:ea typeface="Consolas" pitchFamily="34" charset="-122"/>
                <a:cs typeface="Consolas" pitchFamily="34" charset="-120"/>
              </a:rPr>
              <a:t>100 s pass in total</a:t>
            </a:r>
            <a:endParaRPr lang="en-US" sz="1400" dirty="0"/>
          </a:p>
        </p:txBody>
      </p:sp>
      <p:sp>
        <p:nvSpPr>
          <p:cNvPr id="29" name="Shape 27"/>
          <p:cNvSpPr/>
          <p:nvPr/>
        </p:nvSpPr>
        <p:spPr>
          <a:xfrm>
            <a:off x="6336792" y="3502152"/>
            <a:ext cx="5486400" cy="2103120"/>
          </a:xfrm>
          <a:prstGeom prst="rect">
            <a:avLst/>
          </a:prstGeom>
          <a:solidFill>
            <a:srgbClr val="000000"/>
          </a:solidFill>
          <a:ln w="9525">
            <a:solidFill>
              <a:srgbClr val="000000"/>
            </a:solidFill>
            <a:prstDash val="solid"/>
          </a:ln>
        </p:spPr>
      </p:sp>
      <p:sp>
        <p:nvSpPr>
          <p:cNvPr id="30" name="Shape 28"/>
          <p:cNvSpPr/>
          <p:nvPr/>
        </p:nvSpPr>
        <p:spPr>
          <a:xfrm>
            <a:off x="6263640" y="3429000"/>
            <a:ext cx="5486400" cy="2103120"/>
          </a:xfrm>
          <a:prstGeom prst="rect">
            <a:avLst/>
          </a:prstGeom>
          <a:solidFill>
            <a:srgbClr val="FFFFFF"/>
          </a:solidFill>
          <a:ln w="19050">
            <a:solidFill>
              <a:srgbClr val="000000"/>
            </a:solidFill>
            <a:prstDash val="solid"/>
          </a:ln>
        </p:spPr>
      </p:sp>
      <p:sp>
        <p:nvSpPr>
          <p:cNvPr id="31" name="Shape 29"/>
          <p:cNvSpPr/>
          <p:nvPr/>
        </p:nvSpPr>
        <p:spPr>
          <a:xfrm>
            <a:off x="6263640" y="3429000"/>
            <a:ext cx="5486400" cy="347472"/>
          </a:xfrm>
          <a:prstGeom prst="rect">
            <a:avLst/>
          </a:prstGeom>
          <a:solidFill>
            <a:srgbClr val="000000"/>
          </a:solidFill>
          <a:ln w="19050">
            <a:solidFill>
              <a:srgbClr val="000000"/>
            </a:solidFill>
            <a:prstDash val="solid"/>
          </a:ln>
        </p:spPr>
      </p:sp>
      <p:sp>
        <p:nvSpPr>
          <p:cNvPr id="32" name="Text 30"/>
          <p:cNvSpPr txBox="1"/>
          <p:nvPr/>
        </p:nvSpPr>
        <p:spPr>
          <a:xfrm>
            <a:off x="6391656" y="3429000"/>
            <a:ext cx="5230368" cy="347472"/>
          </a:xfrm>
          <a:prstGeom prst="rect">
            <a:avLst/>
          </a:prstGeom>
          <a:noFill/>
          <a:ln/>
        </p:spPr>
        <p:txBody>
          <a:bodyPr wrap="square" lIns="0" tIns="0" rIns="0" bIns="0" rtlCol="0" anchor="ctr"/>
          <a:lstStyle/>
          <a:p>
            <a:pPr algn="l" indent="0" marL="0">
              <a:buNone/>
            </a:pPr>
            <a:r>
              <a:rPr lang="en-US" sz="1300" b="1" dirty="0">
                <a:solidFill>
                  <a:srgbClr val="FFFFFF"/>
                </a:solidFill>
              </a:rPr>
              <a:t>&gt; why reward progress</a:t>
            </a:r>
            <a:endParaRPr lang="en-US" sz="1300" dirty="0"/>
          </a:p>
        </p:txBody>
      </p:sp>
      <p:sp>
        <p:nvSpPr>
          <p:cNvPr id="33" name="Text 31"/>
          <p:cNvSpPr txBox="1"/>
          <p:nvPr/>
        </p:nvSpPr>
        <p:spPr>
          <a:xfrm>
            <a:off x="6428232" y="3886200"/>
            <a:ext cx="5157216" cy="1536192"/>
          </a:xfrm>
          <a:prstGeom prst="rect">
            <a:avLst/>
          </a:prstGeom>
          <a:noFill/>
          <a:ln/>
        </p:spPr>
        <p:txBody>
          <a:bodyPr wrap="square" lIns="0" tIns="0" rIns="0" bIns="0" rtlCol="0" anchor="t"/>
          <a:lstStyle/>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A random agent almost never reaches the flag. Points for every new tile give feedback from the very first second; moving back and forth earns nothing.</a:t>
            </a:r>
            <a:endParaRPr lang="en-US" sz="1400" dirty="0"/>
          </a:p>
        </p:txBody>
      </p:sp>
      <p:sp>
        <p:nvSpPr>
          <p:cNvPr id="35"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how it learns</a:t>
            </a:r>
            <a:endParaRPr lang="en-US" sz="900" dirty="0"/>
          </a:p>
        </p:txBody>
      </p:sp>
      <p:sp>
        <p:nvSpPr>
          <p:cNvPr id="36"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[ 18/42 ]</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PPO, STEP BY STEP</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[ 04 ]</a:t>
            </a:r>
            <a:endParaRPr lang="en-US" sz="1400" dirty="0"/>
          </a:p>
        </p:txBody>
      </p:sp>
      <p:sp>
        <p:nvSpPr>
          <p:cNvPr id="4" name="Shape 2"/>
          <p:cNvSpPr/>
          <p:nvPr/>
        </p:nvSpPr>
        <p:spPr>
          <a:xfrm>
            <a:off x="530352" y="1170432"/>
            <a:ext cx="3749040" cy="2194560"/>
          </a:xfrm>
          <a:prstGeom prst="rect">
            <a:avLst/>
          </a:prstGeom>
          <a:solidFill>
            <a:srgbClr val="000000"/>
          </a:solidFill>
          <a:ln w="9525">
            <a:solidFill>
              <a:srgbClr val="000000"/>
            </a:solidFill>
            <a:prstDash val="solid"/>
          </a:ln>
        </p:spPr>
      </p:sp>
      <p:sp>
        <p:nvSpPr>
          <p:cNvPr id="5" name="Shape 3"/>
          <p:cNvSpPr/>
          <p:nvPr/>
        </p:nvSpPr>
        <p:spPr>
          <a:xfrm>
            <a:off x="457200" y="1097280"/>
            <a:ext cx="3749040" cy="2194560"/>
          </a:xfrm>
          <a:prstGeom prst="rect">
            <a:avLst/>
          </a:prstGeom>
          <a:solidFill>
            <a:srgbClr val="FFFFFF"/>
          </a:solidFill>
          <a:ln w="19050">
            <a:solidFill>
              <a:srgbClr val="000000"/>
            </a:solidFill>
            <a:prstDash val="solid"/>
          </a:ln>
        </p:spPr>
      </p:sp>
      <p:sp>
        <p:nvSpPr>
          <p:cNvPr id="6" name="Shape 4"/>
          <p:cNvSpPr/>
          <p:nvPr/>
        </p:nvSpPr>
        <p:spPr>
          <a:xfrm>
            <a:off x="457200" y="1097280"/>
            <a:ext cx="3749040" cy="347472"/>
          </a:xfrm>
          <a:prstGeom prst="rect">
            <a:avLst/>
          </a:prstGeom>
          <a:solidFill>
            <a:srgbClr val="000000"/>
          </a:solidFill>
          <a:ln w="19050">
            <a:solidFill>
              <a:srgbClr val="000000"/>
            </a:solidFill>
            <a:prstDash val="solid"/>
          </a:ln>
        </p:spPr>
      </p:sp>
      <p:sp>
        <p:nvSpPr>
          <p:cNvPr id="7" name="Text 5"/>
          <p:cNvSpPr txBox="1"/>
          <p:nvPr/>
        </p:nvSpPr>
        <p:spPr>
          <a:xfrm>
            <a:off x="585216" y="1097280"/>
            <a:ext cx="3493008" cy="347472"/>
          </a:xfrm>
          <a:prstGeom prst="rect">
            <a:avLst/>
          </a:prstGeom>
          <a:noFill/>
          <a:ln/>
        </p:spPr>
        <p:txBody>
          <a:bodyPr wrap="square" lIns="0" tIns="0" rIns="0" bIns="0" rtlCol="0" anchor="ctr"/>
          <a:lstStyle/>
          <a:p>
            <a:pPr algn="l" indent="0" marL="0">
              <a:buNone/>
            </a:pPr>
            <a:r>
              <a:rPr lang="en-US" sz="1300" b="1" dirty="0">
                <a:solidFill>
                  <a:srgbClr val="FFFFFF"/>
                </a:solidFill>
              </a:rPr>
              <a:t>&gt; 1 play</a:t>
            </a:r>
            <a:endParaRPr lang="en-US" sz="1300" dirty="0"/>
          </a:p>
        </p:txBody>
      </p:sp>
      <p:sp>
        <p:nvSpPr>
          <p:cNvPr id="8" name="Text 6"/>
          <p:cNvSpPr txBox="1"/>
          <p:nvPr/>
        </p:nvSpPr>
        <p:spPr>
          <a:xfrm>
            <a:off x="621792" y="1554480"/>
            <a:ext cx="3419856" cy="162763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8 copies of the game, 256 decisions each: 2,048 decisions with the current network. It samples actions, so it explores.</a:t>
            </a:r>
            <a:endParaRPr lang="en-US" sz="1300" dirty="0"/>
          </a:p>
        </p:txBody>
      </p:sp>
      <p:sp>
        <p:nvSpPr>
          <p:cNvPr id="9" name="Shape 7"/>
          <p:cNvSpPr/>
          <p:nvPr/>
        </p:nvSpPr>
        <p:spPr>
          <a:xfrm>
            <a:off x="4599432" y="1170432"/>
            <a:ext cx="3749040" cy="2194560"/>
          </a:xfrm>
          <a:prstGeom prst="rect">
            <a:avLst/>
          </a:prstGeom>
          <a:solidFill>
            <a:srgbClr val="000000"/>
          </a:solidFill>
          <a:ln w="9525">
            <a:solidFill>
              <a:srgbClr val="000000"/>
            </a:solidFill>
            <a:prstDash val="solid"/>
          </a:ln>
        </p:spPr>
      </p:sp>
      <p:sp>
        <p:nvSpPr>
          <p:cNvPr id="10" name="Shape 8"/>
          <p:cNvSpPr/>
          <p:nvPr/>
        </p:nvSpPr>
        <p:spPr>
          <a:xfrm>
            <a:off x="4526280" y="1097280"/>
            <a:ext cx="3749040" cy="2194560"/>
          </a:xfrm>
          <a:prstGeom prst="rect">
            <a:avLst/>
          </a:prstGeom>
          <a:solidFill>
            <a:srgbClr val="FFFFFF"/>
          </a:solidFill>
          <a:ln w="19050">
            <a:solidFill>
              <a:srgbClr val="000000"/>
            </a:solidFill>
            <a:prstDash val="solid"/>
          </a:ln>
        </p:spPr>
      </p:sp>
      <p:sp>
        <p:nvSpPr>
          <p:cNvPr id="11" name="Shape 9"/>
          <p:cNvSpPr/>
          <p:nvPr/>
        </p:nvSpPr>
        <p:spPr>
          <a:xfrm>
            <a:off x="4526280" y="1097280"/>
            <a:ext cx="3749040" cy="347472"/>
          </a:xfrm>
          <a:prstGeom prst="rect">
            <a:avLst/>
          </a:prstGeom>
          <a:solidFill>
            <a:srgbClr val="000000"/>
          </a:solidFill>
          <a:ln w="19050">
            <a:solidFill>
              <a:srgbClr val="000000"/>
            </a:solidFill>
            <a:prstDash val="solid"/>
          </a:ln>
        </p:spPr>
      </p:sp>
      <p:sp>
        <p:nvSpPr>
          <p:cNvPr id="12" name="Text 10"/>
          <p:cNvSpPr txBox="1"/>
          <p:nvPr/>
        </p:nvSpPr>
        <p:spPr>
          <a:xfrm>
            <a:off x="4654296" y="1097280"/>
            <a:ext cx="3493008" cy="347472"/>
          </a:xfrm>
          <a:prstGeom prst="rect">
            <a:avLst/>
          </a:prstGeom>
          <a:noFill/>
          <a:ln/>
        </p:spPr>
        <p:txBody>
          <a:bodyPr wrap="square" lIns="0" tIns="0" rIns="0" bIns="0" rtlCol="0" anchor="ctr"/>
          <a:lstStyle/>
          <a:p>
            <a:pPr algn="l" indent="0" marL="0">
              <a:buNone/>
            </a:pPr>
            <a:r>
              <a:rPr lang="en-US" sz="1300" b="1" dirty="0">
                <a:solidFill>
                  <a:srgbClr val="FFFFFF"/>
                </a:solidFill>
              </a:rPr>
              <a:t>&gt; 2 score</a:t>
            </a:r>
            <a:endParaRPr lang="en-US" sz="1300" dirty="0"/>
          </a:p>
        </p:txBody>
      </p:sp>
      <p:sp>
        <p:nvSpPr>
          <p:cNvPr id="13" name="Text 11"/>
          <p:cNvSpPr txBox="1"/>
          <p:nvPr/>
        </p:nvSpPr>
        <p:spPr>
          <a:xfrm>
            <a:off x="4690872" y="1554480"/>
            <a:ext cx="3419856" cy="162763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For each decision: advantage = what really followed (rewards, discounted by 0.99 per step) minus what the critic expected.</a:t>
            </a:r>
            <a:endParaRPr lang="en-US" sz="1300" dirty="0"/>
          </a:p>
        </p:txBody>
      </p:sp>
      <p:sp>
        <p:nvSpPr>
          <p:cNvPr id="14" name="Shape 12"/>
          <p:cNvSpPr/>
          <p:nvPr/>
        </p:nvSpPr>
        <p:spPr>
          <a:xfrm>
            <a:off x="530352" y="3685032"/>
            <a:ext cx="3749040" cy="2194560"/>
          </a:xfrm>
          <a:prstGeom prst="rect">
            <a:avLst/>
          </a:prstGeom>
          <a:solidFill>
            <a:srgbClr val="000000"/>
          </a:solidFill>
          <a:ln w="9525">
            <a:solidFill>
              <a:srgbClr val="000000"/>
            </a:solidFill>
            <a:prstDash val="solid"/>
          </a:ln>
        </p:spPr>
      </p:sp>
      <p:sp>
        <p:nvSpPr>
          <p:cNvPr id="15" name="Shape 13"/>
          <p:cNvSpPr/>
          <p:nvPr/>
        </p:nvSpPr>
        <p:spPr>
          <a:xfrm>
            <a:off x="457200" y="3611880"/>
            <a:ext cx="3749040" cy="2194560"/>
          </a:xfrm>
          <a:prstGeom prst="rect">
            <a:avLst/>
          </a:prstGeom>
          <a:solidFill>
            <a:srgbClr val="FFFFFF"/>
          </a:solidFill>
          <a:ln w="19050">
            <a:solidFill>
              <a:srgbClr val="000000"/>
            </a:solidFill>
            <a:prstDash val="solid"/>
          </a:ln>
        </p:spPr>
      </p:sp>
      <p:sp>
        <p:nvSpPr>
          <p:cNvPr id="16" name="Shape 14"/>
          <p:cNvSpPr/>
          <p:nvPr/>
        </p:nvSpPr>
        <p:spPr>
          <a:xfrm>
            <a:off x="457200" y="3611880"/>
            <a:ext cx="3749040" cy="347472"/>
          </a:xfrm>
          <a:prstGeom prst="rect">
            <a:avLst/>
          </a:prstGeom>
          <a:solidFill>
            <a:srgbClr val="000000"/>
          </a:solidFill>
          <a:ln w="19050">
            <a:solidFill>
              <a:srgbClr val="000000"/>
            </a:solidFill>
            <a:prstDash val="solid"/>
          </a:ln>
        </p:spPr>
      </p:sp>
      <p:sp>
        <p:nvSpPr>
          <p:cNvPr id="17" name="Text 15"/>
          <p:cNvSpPr txBox="1"/>
          <p:nvPr/>
        </p:nvSpPr>
        <p:spPr>
          <a:xfrm>
            <a:off x="585216" y="3611880"/>
            <a:ext cx="3493008" cy="347472"/>
          </a:xfrm>
          <a:prstGeom prst="rect">
            <a:avLst/>
          </a:prstGeom>
          <a:noFill/>
          <a:ln/>
        </p:spPr>
        <p:txBody>
          <a:bodyPr wrap="square" lIns="0" tIns="0" rIns="0" bIns="0" rtlCol="0" anchor="ctr"/>
          <a:lstStyle/>
          <a:p>
            <a:pPr algn="l" indent="0" marL="0">
              <a:buNone/>
            </a:pPr>
            <a:r>
              <a:rPr lang="en-US" sz="1300" b="1" dirty="0">
                <a:solidFill>
                  <a:srgbClr val="FFFFFF"/>
                </a:solidFill>
              </a:rPr>
              <a:t>&gt; 4 repeat</a:t>
            </a:r>
            <a:endParaRPr lang="en-US" sz="1300" dirty="0"/>
          </a:p>
        </p:txBody>
      </p:sp>
      <p:sp>
        <p:nvSpPr>
          <p:cNvPr id="18" name="Text 16"/>
          <p:cNvSpPr txBox="1"/>
          <p:nvPr/>
        </p:nvSpPr>
        <p:spPr>
          <a:xfrm>
            <a:off x="621792" y="4069080"/>
            <a:ext cx="3419856" cy="162763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7,911 rounds for 300 h of play. The critic is also trained to predict the rewards better.</a:t>
            </a:r>
            <a:endParaRPr lang="en-US" sz="1300" dirty="0"/>
          </a:p>
        </p:txBody>
      </p:sp>
      <p:sp>
        <p:nvSpPr>
          <p:cNvPr id="19" name="Shape 17"/>
          <p:cNvSpPr/>
          <p:nvPr/>
        </p:nvSpPr>
        <p:spPr>
          <a:xfrm>
            <a:off x="4599432" y="3685032"/>
            <a:ext cx="3749040" cy="2194560"/>
          </a:xfrm>
          <a:prstGeom prst="rect">
            <a:avLst/>
          </a:prstGeom>
          <a:solidFill>
            <a:srgbClr val="000000"/>
          </a:solidFill>
          <a:ln w="9525">
            <a:solidFill>
              <a:srgbClr val="000000"/>
            </a:solidFill>
            <a:prstDash val="solid"/>
          </a:ln>
        </p:spPr>
      </p:sp>
      <p:sp>
        <p:nvSpPr>
          <p:cNvPr id="20" name="Shape 18"/>
          <p:cNvSpPr/>
          <p:nvPr/>
        </p:nvSpPr>
        <p:spPr>
          <a:xfrm>
            <a:off x="4526280" y="3611880"/>
            <a:ext cx="3749040" cy="2194560"/>
          </a:xfrm>
          <a:prstGeom prst="rect">
            <a:avLst/>
          </a:prstGeom>
          <a:solidFill>
            <a:srgbClr val="FFFFFF"/>
          </a:solidFill>
          <a:ln w="19050">
            <a:solidFill>
              <a:srgbClr val="000000"/>
            </a:solidFill>
            <a:prstDash val="solid"/>
          </a:ln>
        </p:spPr>
      </p:sp>
      <p:sp>
        <p:nvSpPr>
          <p:cNvPr id="21" name="Shape 19"/>
          <p:cNvSpPr/>
          <p:nvPr/>
        </p:nvSpPr>
        <p:spPr>
          <a:xfrm>
            <a:off x="4526280" y="3611880"/>
            <a:ext cx="3749040" cy="347472"/>
          </a:xfrm>
          <a:prstGeom prst="rect">
            <a:avLst/>
          </a:prstGeom>
          <a:solidFill>
            <a:srgbClr val="000000"/>
          </a:solidFill>
          <a:ln w="19050">
            <a:solidFill>
              <a:srgbClr val="000000"/>
            </a:solidFill>
            <a:prstDash val="solid"/>
          </a:ln>
        </p:spPr>
      </p:sp>
      <p:sp>
        <p:nvSpPr>
          <p:cNvPr id="22" name="Text 20"/>
          <p:cNvSpPr txBox="1"/>
          <p:nvPr/>
        </p:nvSpPr>
        <p:spPr>
          <a:xfrm>
            <a:off x="4654296" y="3611880"/>
            <a:ext cx="3493008" cy="347472"/>
          </a:xfrm>
          <a:prstGeom prst="rect">
            <a:avLst/>
          </a:prstGeom>
          <a:noFill/>
          <a:ln/>
        </p:spPr>
        <p:txBody>
          <a:bodyPr wrap="square" lIns="0" tIns="0" rIns="0" bIns="0" rtlCol="0" anchor="ctr"/>
          <a:lstStyle/>
          <a:p>
            <a:pPr algn="l" indent="0" marL="0">
              <a:buNone/>
            </a:pPr>
            <a:r>
              <a:rPr lang="en-US" sz="1300" b="1" dirty="0">
                <a:solidFill>
                  <a:srgbClr val="FFFFFF"/>
                </a:solidFill>
              </a:rPr>
              <a:t>&gt; 3 update</a:t>
            </a:r>
            <a:endParaRPr lang="en-US" sz="1300" dirty="0"/>
          </a:p>
        </p:txBody>
      </p:sp>
      <p:sp>
        <p:nvSpPr>
          <p:cNvPr id="23" name="Text 21"/>
          <p:cNvSpPr txBox="1"/>
          <p:nvPr/>
        </p:nvSpPr>
        <p:spPr>
          <a:xfrm>
            <a:off x="4690872" y="4069080"/>
            <a:ext cx="3419856" cy="162763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Positive advantage: make that action more likely; negative: less. Clip: no probability moves more than 20% per round. 5 passes, batches of 512.</a:t>
            </a:r>
            <a:endParaRPr lang="en-US" sz="1300" dirty="0"/>
          </a:p>
        </p:txBody>
      </p:sp>
      <p:sp>
        <p:nvSpPr>
          <p:cNvPr id="24" name="Shape 22"/>
          <p:cNvSpPr/>
          <p:nvPr/>
        </p:nvSpPr>
        <p:spPr>
          <a:xfrm>
            <a:off x="4261104" y="2194560"/>
            <a:ext cx="219456" cy="914"/>
          </a:xfrm>
          <a:prstGeom prst="line">
            <a:avLst/>
          </a:prstGeom>
          <a:noFill/>
          <a:ln w="22225">
            <a:solidFill>
              <a:srgbClr val="000000"/>
            </a:solidFill>
            <a:prstDash val="solid"/>
            <a:tailEnd type="triangle"/>
          </a:ln>
        </p:spPr>
      </p:sp>
      <p:sp>
        <p:nvSpPr>
          <p:cNvPr id="25" name="Shape 23"/>
          <p:cNvSpPr/>
          <p:nvPr/>
        </p:nvSpPr>
        <p:spPr>
          <a:xfrm>
            <a:off x="6400800" y="3346704"/>
            <a:ext cx="914" cy="219456"/>
          </a:xfrm>
          <a:prstGeom prst="line">
            <a:avLst/>
          </a:prstGeom>
          <a:noFill/>
          <a:ln w="22225">
            <a:solidFill>
              <a:srgbClr val="000000"/>
            </a:solidFill>
            <a:prstDash val="solid"/>
            <a:tailEnd type="triangle"/>
          </a:ln>
        </p:spPr>
      </p:sp>
      <p:sp>
        <p:nvSpPr>
          <p:cNvPr id="26" name="Shape 24"/>
          <p:cNvSpPr/>
          <p:nvPr/>
        </p:nvSpPr>
        <p:spPr>
          <a:xfrm flipH="1">
            <a:off x="4261104" y="4709160"/>
            <a:ext cx="219456" cy="914"/>
          </a:xfrm>
          <a:prstGeom prst="line">
            <a:avLst/>
          </a:prstGeom>
          <a:noFill/>
          <a:ln w="22225">
            <a:solidFill>
              <a:srgbClr val="000000"/>
            </a:solidFill>
            <a:prstDash val="solid"/>
            <a:tailEnd type="triangle"/>
          </a:ln>
        </p:spPr>
      </p:sp>
      <p:sp>
        <p:nvSpPr>
          <p:cNvPr id="27" name="Shape 25"/>
          <p:cNvSpPr/>
          <p:nvPr/>
        </p:nvSpPr>
        <p:spPr>
          <a:xfrm flipV="1">
            <a:off x="2331720" y="3346704"/>
            <a:ext cx="914" cy="219456"/>
          </a:xfrm>
          <a:prstGeom prst="line">
            <a:avLst/>
          </a:prstGeom>
          <a:noFill/>
          <a:ln w="22225">
            <a:solidFill>
              <a:srgbClr val="000000"/>
            </a:solidFill>
            <a:prstDash val="solid"/>
            <a:tailEnd type="triangle"/>
          </a:ln>
        </p:spPr>
      </p:sp>
      <p:sp>
        <p:nvSpPr>
          <p:cNvPr id="28" name="Shape 26"/>
          <p:cNvSpPr/>
          <p:nvPr/>
        </p:nvSpPr>
        <p:spPr>
          <a:xfrm>
            <a:off x="8759952" y="1170432"/>
            <a:ext cx="3063240" cy="4709160"/>
          </a:xfrm>
          <a:prstGeom prst="rect">
            <a:avLst/>
          </a:prstGeom>
          <a:solidFill>
            <a:srgbClr val="000000"/>
          </a:solidFill>
          <a:ln w="9525">
            <a:solidFill>
              <a:srgbClr val="000000"/>
            </a:solidFill>
            <a:prstDash val="solid"/>
          </a:ln>
        </p:spPr>
      </p:sp>
      <p:sp>
        <p:nvSpPr>
          <p:cNvPr id="29" name="Shape 27"/>
          <p:cNvSpPr/>
          <p:nvPr/>
        </p:nvSpPr>
        <p:spPr>
          <a:xfrm>
            <a:off x="8686800" y="1097280"/>
            <a:ext cx="3063240" cy="4709160"/>
          </a:xfrm>
          <a:prstGeom prst="rect">
            <a:avLst/>
          </a:prstGeom>
          <a:solidFill>
            <a:srgbClr val="FFFFFF"/>
          </a:solidFill>
          <a:ln w="19050">
            <a:solidFill>
              <a:srgbClr val="000000"/>
            </a:solidFill>
            <a:prstDash val="solid"/>
          </a:ln>
        </p:spPr>
      </p:sp>
      <p:sp>
        <p:nvSpPr>
          <p:cNvPr id="30" name="Shape 28"/>
          <p:cNvSpPr/>
          <p:nvPr/>
        </p:nvSpPr>
        <p:spPr>
          <a:xfrm>
            <a:off x="8686800" y="1097280"/>
            <a:ext cx="3063240" cy="347472"/>
          </a:xfrm>
          <a:prstGeom prst="rect">
            <a:avLst/>
          </a:prstGeom>
          <a:solidFill>
            <a:srgbClr val="000000"/>
          </a:solidFill>
          <a:ln w="19050">
            <a:solidFill>
              <a:srgbClr val="000000"/>
            </a:solidFill>
            <a:prstDash val="solid"/>
          </a:ln>
        </p:spPr>
      </p:sp>
      <p:sp>
        <p:nvSpPr>
          <p:cNvPr id="31" name="Text 29"/>
          <p:cNvSpPr txBox="1"/>
          <p:nvPr/>
        </p:nvSpPr>
        <p:spPr>
          <a:xfrm>
            <a:off x="8814816" y="1097280"/>
            <a:ext cx="2807208" cy="347472"/>
          </a:xfrm>
          <a:prstGeom prst="rect">
            <a:avLst/>
          </a:prstGeom>
          <a:noFill/>
          <a:ln/>
        </p:spPr>
        <p:txBody>
          <a:bodyPr wrap="square" lIns="0" tIns="0" rIns="0" bIns="0" rtlCol="0" anchor="ctr"/>
          <a:lstStyle/>
          <a:p>
            <a:pPr algn="l" indent="0" marL="0">
              <a:buNone/>
            </a:pPr>
            <a:r>
              <a:rPr lang="en-US" sz="1300" b="1" dirty="0">
                <a:solidFill>
                  <a:srgbClr val="FFFFFF"/>
                </a:solidFill>
              </a:rPr>
              <a:t>&gt; why PPO</a:t>
            </a:r>
            <a:endParaRPr lang="en-US" sz="1300" dirty="0"/>
          </a:p>
        </p:txBody>
      </p:sp>
      <p:sp>
        <p:nvSpPr>
          <p:cNvPr id="32" name="Text 30"/>
          <p:cNvSpPr txBox="1"/>
          <p:nvPr/>
        </p:nvSpPr>
        <p:spPr>
          <a:xfrm>
            <a:off x="8851392" y="1554480"/>
            <a:ext cx="2734056" cy="4142232"/>
          </a:xfrm>
          <a:prstGeom prst="rect">
            <a:avLst/>
          </a:prstGeom>
          <a:noFill/>
          <a:ln/>
        </p:spPr>
        <p:txBody>
          <a:bodyPr wrap="square" lIns="0" tIns="0" rIns="0" bIns="0" rtlCol="0" anchor="t"/>
          <a:lstStyle/>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Proximal Policy Optimization (Schulman et al., 2017).</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The standard, stable choice for games like this.</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The clip stops one lucky or unlucky batch from wrecking what was learned.</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200"/>
              </a:spcAft>
              <a:buNone/>
            </a:pPr>
            <a:r>
              <a:rPr lang="en-US" sz="1300" dirty="0">
                <a:solidFill>
                  <a:srgbClr val="000000"/>
                </a:solidFill>
                <a:latin typeface="Consolas" pitchFamily="34" charset="0"/>
                <a:ea typeface="Consolas" pitchFamily="34" charset="-122"/>
                <a:cs typeface="Consolas" pitchFamily="34" charset="-120"/>
              </a:rPr>
              <a:t>Implementation: Stable-Baselines3.</a:t>
            </a:r>
            <a:endParaRPr lang="en-US" sz="1300" dirty="0"/>
          </a:p>
        </p:txBody>
      </p:sp>
      <p:sp>
        <p:nvSpPr>
          <p:cNvPr id="34"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how it learns</a:t>
            </a:r>
            <a:endParaRPr lang="en-US" sz="900" dirty="0"/>
          </a:p>
        </p:txBody>
      </p:sp>
      <p:sp>
        <p:nvSpPr>
          <p:cNvPr id="35"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[ 19/42 ]</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TRAINING SETUP</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[ 04 ]</a:t>
            </a:r>
            <a:endParaRPr lang="en-US" sz="14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6309360" cy="914400"/>
        </p:xfrm>
        <a:graphic>
          <a:graphicData uri="http://schemas.openxmlformats.org/drawingml/2006/table">
            <a:tbl>
              <a:tblPr/>
              <a:tblGrid>
                <a:gridCol w="3291840"/>
                <a:gridCol w="3017520"/>
              </a:tblGrid>
              <a:tr h="429768">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setting</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value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r>
              <a:tr h="429768">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algorithm</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PPO (Stable-Baselines3)</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29768">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network</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2 x 256 ReLU, actor and critic separate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29768">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parallel games</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8</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29768">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decisions per game per round</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256</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29768">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batch size / passes</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512 / 5</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29768">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learning rate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0.0003</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29768">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discount gamma / GAE lambda</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0.99 / 0.95</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29768">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clip range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0.2</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29768">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entropy bonus (keep exploring)</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0.01</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7315200" y="1051560"/>
            <a:ext cx="4389120" cy="566928"/>
          </a:xfrm>
          <a:prstGeom prst="rect">
            <a:avLst/>
          </a:prstGeom>
          <a:noFill/>
          <a:ln/>
        </p:spPr>
        <p:txBody>
          <a:bodyPr wrap="square" lIns="0" tIns="0" rIns="0" bIns="0" rtlCol="0" anchor="b"/>
          <a:lstStyle/>
          <a:p>
            <a:pPr indent="0" marL="0">
              <a:buNone/>
            </a:pPr>
            <a:r>
              <a:rPr lang="en-US" sz="3400" b="1" dirty="0">
                <a:solidFill>
                  <a:srgbClr val="000000"/>
                </a:solidFill>
              </a:rPr>
              <a:t>300 h</a:t>
            </a:r>
            <a:endParaRPr lang="en-US" sz="3400" dirty="0"/>
          </a:p>
        </p:txBody>
      </p:sp>
      <p:sp>
        <p:nvSpPr>
          <p:cNvPr id="6" name="Text 3"/>
          <p:cNvSpPr txBox="1"/>
          <p:nvPr/>
        </p:nvSpPr>
        <p:spPr>
          <a:xfrm>
            <a:off x="7315200" y="1655064"/>
            <a:ext cx="4389120" cy="566928"/>
          </a:xfrm>
          <a:prstGeom prst="rect">
            <a:avLst/>
          </a:prstGeom>
          <a:noFill/>
          <a:ln/>
        </p:spPr>
        <p:txBody>
          <a:bodyPr wrap="square" lIns="0" tIns="0" rIns="0" bIns="0" rtlCol="0" anchor="t"/>
          <a:lstStyle/>
          <a:p>
            <a:pPr indent="0" marL="0">
              <a:buNone/>
            </a:pPr>
            <a:r>
              <a:rPr lang="en-US" sz="1300" dirty="0">
                <a:solidFill>
                  <a:srgbClr val="5A5A5A"/>
                </a:solidFill>
              </a:rPr>
              <a:t>of simulated play = 16.2 million decisions</a:t>
            </a:r>
            <a:endParaRPr lang="en-US" sz="1300" dirty="0"/>
          </a:p>
        </p:txBody>
      </p:sp>
      <p:sp>
        <p:nvSpPr>
          <p:cNvPr id="7" name="Text 4"/>
          <p:cNvSpPr txBox="1"/>
          <p:nvPr/>
        </p:nvSpPr>
        <p:spPr>
          <a:xfrm>
            <a:off x="7315200" y="2377440"/>
            <a:ext cx="4389120" cy="566928"/>
          </a:xfrm>
          <a:prstGeom prst="rect">
            <a:avLst/>
          </a:prstGeom>
          <a:noFill/>
          <a:ln/>
        </p:spPr>
        <p:txBody>
          <a:bodyPr wrap="square" lIns="0" tIns="0" rIns="0" bIns="0" rtlCol="0" anchor="b"/>
          <a:lstStyle/>
          <a:p>
            <a:pPr indent="0" marL="0">
              <a:buNone/>
            </a:pPr>
            <a:r>
              <a:rPr lang="en-US" sz="3400" b="1" dirty="0">
                <a:solidFill>
                  <a:srgbClr val="000000"/>
                </a:solidFill>
              </a:rPr>
              <a:t>4.7 h</a:t>
            </a:r>
            <a:endParaRPr lang="en-US" sz="3400" dirty="0"/>
          </a:p>
        </p:txBody>
      </p:sp>
      <p:sp>
        <p:nvSpPr>
          <p:cNvPr id="8" name="Text 5"/>
          <p:cNvSpPr txBox="1"/>
          <p:nvPr/>
        </p:nvSpPr>
        <p:spPr>
          <a:xfrm>
            <a:off x="7315200" y="2980944"/>
            <a:ext cx="4389120" cy="566928"/>
          </a:xfrm>
          <a:prstGeom prst="rect">
            <a:avLst/>
          </a:prstGeom>
          <a:noFill/>
          <a:ln/>
        </p:spPr>
        <p:txBody>
          <a:bodyPr wrap="square" lIns="0" tIns="0" rIns="0" bIns="0" rtlCol="0" anchor="t"/>
          <a:lstStyle/>
          <a:p>
            <a:pPr indent="0" marL="0">
              <a:buNone/>
            </a:pPr>
            <a:r>
              <a:rPr lang="en-US" sz="1300" dirty="0">
                <a:solidFill>
                  <a:srgbClr val="5A5A5A"/>
                </a:solidFill>
              </a:rPr>
              <a:t>of real time on a laptop CPU, no GPU</a:t>
            </a:r>
            <a:endParaRPr lang="en-US" sz="1300" dirty="0"/>
          </a:p>
        </p:txBody>
      </p:sp>
      <p:sp>
        <p:nvSpPr>
          <p:cNvPr id="9" name="Text 6"/>
          <p:cNvSpPr txBox="1"/>
          <p:nvPr/>
        </p:nvSpPr>
        <p:spPr>
          <a:xfrm>
            <a:off x="7315200" y="3703320"/>
            <a:ext cx="4389120" cy="566928"/>
          </a:xfrm>
          <a:prstGeom prst="rect">
            <a:avLst/>
          </a:prstGeom>
          <a:noFill/>
          <a:ln/>
        </p:spPr>
        <p:txBody>
          <a:bodyPr wrap="square" lIns="0" tIns="0" rIns="0" bIns="0" rtlCol="0" anchor="b"/>
          <a:lstStyle/>
          <a:p>
            <a:pPr indent="0" marL="0">
              <a:buNone/>
            </a:pPr>
            <a:r>
              <a:rPr lang="en-US" sz="3400" b="1" dirty="0">
                <a:solidFill>
                  <a:srgbClr val="000000"/>
                </a:solidFill>
              </a:rPr>
              <a:t>~2,700 / s</a:t>
            </a:r>
            <a:endParaRPr lang="en-US" sz="3400" dirty="0"/>
          </a:p>
        </p:txBody>
      </p:sp>
      <p:sp>
        <p:nvSpPr>
          <p:cNvPr id="10" name="Text 7"/>
          <p:cNvSpPr txBox="1"/>
          <p:nvPr/>
        </p:nvSpPr>
        <p:spPr>
          <a:xfrm>
            <a:off x="7315200" y="4306824"/>
            <a:ext cx="4389120" cy="566928"/>
          </a:xfrm>
          <a:prstGeom prst="rect">
            <a:avLst/>
          </a:prstGeom>
          <a:noFill/>
          <a:ln/>
        </p:spPr>
        <p:txBody>
          <a:bodyPr wrap="square" lIns="0" tIns="0" rIns="0" bIns="0" rtlCol="0" anchor="t"/>
          <a:lstStyle/>
          <a:p>
            <a:pPr indent="0" marL="0">
              <a:buNone/>
            </a:pPr>
            <a:r>
              <a:rPr lang="en-US" sz="1300" dirty="0">
                <a:solidFill>
                  <a:srgbClr val="5A5A5A"/>
                </a:solidFill>
              </a:rPr>
              <a:t>decisions: about 180x faster than real time</a:t>
            </a:r>
            <a:endParaRPr lang="en-US" sz="1300" dirty="0"/>
          </a:p>
        </p:txBody>
      </p:sp>
      <p:sp>
        <p:nvSpPr>
          <p:cNvPr id="11" name="Text 8"/>
          <p:cNvSpPr txBox="1"/>
          <p:nvPr/>
        </p:nvSpPr>
        <p:spPr>
          <a:xfrm>
            <a:off x="457200" y="5760720"/>
            <a:ext cx="11247120" cy="274320"/>
          </a:xfrm>
          <a:prstGeom prst="rect">
            <a:avLst/>
          </a:prstGeom>
          <a:noFill/>
          <a:ln/>
        </p:spPr>
        <p:txBody>
          <a:bodyPr wrap="square" lIns="0" tIns="0" rIns="0" bIns="0" rtlCol="0" anchor="ctr"/>
          <a:lstStyle/>
          <a:p>
            <a:pPr indent="0" marL="0">
              <a:buNone/>
            </a:pPr>
            <a:r>
              <a:rPr lang="en-US" sz="1100" i="1" dirty="0">
                <a:solidFill>
                  <a:srgbClr val="5A5A5A"/>
                </a:solidFill>
              </a:rPr>
              <a:t>"300 h" = 16.2 M decisions / 15 per second: practice time summed over the 8 parallel games</a:t>
            </a:r>
            <a:endParaRPr lang="en-US" sz="1100" dirty="0"/>
          </a:p>
        </p:txBody>
      </p:sp>
      <p:sp>
        <p:nvSpPr>
          <p:cNvPr id="13"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how it learns</a:t>
            </a:r>
            <a:endParaRPr lang="en-US" sz="900" dirty="0"/>
          </a:p>
        </p:txBody>
      </p:sp>
      <p:sp>
        <p:nvSpPr>
          <p:cNvPr id="14"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[ 20/42 ]</a:t>
            </a:r>
            <a:endParaRPr lang="en-US" sz="9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A CURRICULUM FROM EASY TO HARD</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[ 04 ]</a:t>
            </a:r>
            <a:endParaRPr lang="en-US" sz="1400" dirty="0"/>
          </a:p>
        </p:txBody>
      </p:sp>
      <p:pic>
        <p:nvPicPr>
          <p:cNvPr id="4" name="08_curriculum.png" descr="C:/Users/dynam/Desktop/rl da3/ProcGen_RL/runs/presentation/08_curriculum.png">    </p:cNvPr>
          <p:cNvPicPr>
            <a:picLocks noChangeAspect="1"/>
          </p:cNvPicPr>
          <p:nvPr/>
        </p:nvPicPr>
        <p:blipFill>
          <a:blip r:embed="rId1"/>
          <a:stretch>
            <a:fillRect/>
          </a:stretch>
        </p:blipFill>
        <p:spPr>
          <a:xfrm>
            <a:off x="457200" y="914400"/>
            <a:ext cx="7863840" cy="3011683"/>
          </a:xfrm>
          <a:prstGeom prst="rect">
            <a:avLst/>
          </a:prstGeom>
        </p:spPr>
      </p:pic>
      <p:sp>
        <p:nvSpPr>
          <p:cNvPr id="5" name="Shape 2"/>
          <p:cNvSpPr/>
          <p:nvPr/>
        </p:nvSpPr>
        <p:spPr>
          <a:xfrm>
            <a:off x="457200" y="914400"/>
            <a:ext cx="7863840" cy="3011683"/>
          </a:xfrm>
          <a:prstGeom prst="rect">
            <a:avLst/>
          </a:prstGeom>
          <a:ln w="12700">
            <a:solidFill>
              <a:srgbClr val="000000"/>
            </a:solidFill>
            <a:prstDash val="solid"/>
          </a:ln>
        </p:spPr>
      </p:sp>
      <p:sp>
        <p:nvSpPr>
          <p:cNvPr id="6" name="Text 3"/>
          <p:cNvSpPr txBox="1"/>
          <p:nvPr/>
        </p:nvSpPr>
        <p:spPr>
          <a:xfrm>
            <a:off x="8686800" y="1051560"/>
            <a:ext cx="3108960" cy="566928"/>
          </a:xfrm>
          <a:prstGeom prst="rect">
            <a:avLst/>
          </a:prstGeom>
          <a:noFill/>
          <a:ln/>
        </p:spPr>
        <p:txBody>
          <a:bodyPr wrap="square" lIns="0" tIns="0" rIns="0" bIns="0" rtlCol="0" anchor="b"/>
          <a:lstStyle/>
          <a:p>
            <a:pPr indent="0" marL="0">
              <a:buNone/>
            </a:pPr>
            <a:r>
              <a:rPr lang="en-US" sz="3400" b="1" dirty="0">
                <a:solidFill>
                  <a:srgbClr val="000000"/>
                </a:solidFill>
              </a:rPr>
              <a:t>0.1 -&gt; 0.9</a:t>
            </a:r>
            <a:endParaRPr lang="en-US" sz="3400" dirty="0"/>
          </a:p>
        </p:txBody>
      </p:sp>
      <p:sp>
        <p:nvSpPr>
          <p:cNvPr id="7" name="Text 4"/>
          <p:cNvSpPr txBox="1"/>
          <p:nvPr/>
        </p:nvSpPr>
        <p:spPr>
          <a:xfrm>
            <a:off x="8686800" y="1655064"/>
            <a:ext cx="3108960" cy="566928"/>
          </a:xfrm>
          <a:prstGeom prst="rect">
            <a:avLst/>
          </a:prstGeom>
          <a:noFill/>
          <a:ln/>
        </p:spPr>
        <p:txBody>
          <a:bodyPr wrap="square" lIns="0" tIns="0" rIns="0" bIns="0" rtlCol="0" anchor="t"/>
          <a:lstStyle/>
          <a:p>
            <a:pPr indent="0" marL="0">
              <a:buNone/>
            </a:pPr>
            <a:r>
              <a:rPr lang="en-US" sz="1300" dirty="0">
                <a:solidFill>
                  <a:srgbClr val="5A5A5A"/>
                </a:solidFill>
              </a:rPr>
              <a:t>difficulty in the first 14 simulated hours</a:t>
            </a:r>
            <a:endParaRPr lang="en-US" sz="1300" dirty="0"/>
          </a:p>
        </p:txBody>
      </p:sp>
      <p:sp>
        <p:nvSpPr>
          <p:cNvPr id="8" name="Text 5"/>
          <p:cNvSpPr txBox="1"/>
          <p:nvPr/>
        </p:nvSpPr>
        <p:spPr>
          <a:xfrm>
            <a:off x="8686800" y="2423160"/>
            <a:ext cx="3108960" cy="566928"/>
          </a:xfrm>
          <a:prstGeom prst="rect">
            <a:avLst/>
          </a:prstGeom>
          <a:noFill/>
          <a:ln/>
        </p:spPr>
        <p:txBody>
          <a:bodyPr wrap="square" lIns="0" tIns="0" rIns="0" bIns="0" rtlCol="0" anchor="b"/>
          <a:lstStyle/>
          <a:p>
            <a:pPr indent="0" marL="0">
              <a:buNone/>
            </a:pPr>
            <a:r>
              <a:rPr lang="en-US" sz="3400" b="1" dirty="0">
                <a:solidFill>
                  <a:srgbClr val="000000"/>
                </a:solidFill>
              </a:rPr>
              <a:t>1.0 at 33 h</a:t>
            </a:r>
            <a:endParaRPr lang="en-US" sz="3400" dirty="0"/>
          </a:p>
        </p:txBody>
      </p:sp>
      <p:sp>
        <p:nvSpPr>
          <p:cNvPr id="9" name="Text 6"/>
          <p:cNvSpPr txBox="1"/>
          <p:nvPr/>
        </p:nvSpPr>
        <p:spPr>
          <a:xfrm>
            <a:off x="8686800" y="3026664"/>
            <a:ext cx="3108960" cy="566928"/>
          </a:xfrm>
          <a:prstGeom prst="rect">
            <a:avLst/>
          </a:prstGeom>
          <a:noFill/>
          <a:ln/>
        </p:spPr>
        <p:txBody>
          <a:bodyPr wrap="square" lIns="0" tIns="0" rIns="0" bIns="0" rtlCol="0" anchor="t"/>
          <a:lstStyle/>
          <a:p>
            <a:pPr indent="0" marL="0">
              <a:buNone/>
            </a:pPr>
            <a:r>
              <a:rPr lang="en-US" sz="1300" dirty="0">
                <a:solidFill>
                  <a:srgbClr val="5A5A5A"/>
                </a:solidFill>
              </a:rPr>
              <a:t>the last step, the widest gaps, was the hardest</a:t>
            </a:r>
            <a:endParaRPr lang="en-US" sz="1300" dirty="0"/>
          </a:p>
        </p:txBody>
      </p:sp>
      <p:sp>
        <p:nvSpPr>
          <p:cNvPr id="10" name="Text 7"/>
          <p:cNvSpPr txBox="1"/>
          <p:nvPr/>
        </p:nvSpPr>
        <p:spPr>
          <a:xfrm>
            <a:off x="8686800" y="3794760"/>
            <a:ext cx="3108960" cy="566928"/>
          </a:xfrm>
          <a:prstGeom prst="rect">
            <a:avLst/>
          </a:prstGeom>
          <a:noFill/>
          <a:ln/>
        </p:spPr>
        <p:txBody>
          <a:bodyPr wrap="square" lIns="0" tIns="0" rIns="0" bIns="0" rtlCol="0" anchor="b"/>
          <a:lstStyle/>
          <a:p>
            <a:pPr indent="0" marL="0">
              <a:buNone/>
            </a:pPr>
            <a:r>
              <a:rPr lang="en-US" sz="3400" b="1" dirty="0">
                <a:solidFill>
                  <a:srgbClr val="000000"/>
                </a:solidFill>
              </a:rPr>
              <a:t>70%</a:t>
            </a:r>
            <a:endParaRPr lang="en-US" sz="3400" dirty="0"/>
          </a:p>
        </p:txBody>
      </p:sp>
      <p:sp>
        <p:nvSpPr>
          <p:cNvPr id="11" name="Text 8"/>
          <p:cNvSpPr txBox="1"/>
          <p:nvPr/>
        </p:nvSpPr>
        <p:spPr>
          <a:xfrm>
            <a:off x="8686800" y="4398264"/>
            <a:ext cx="3108960" cy="566928"/>
          </a:xfrm>
          <a:prstGeom prst="rect">
            <a:avLst/>
          </a:prstGeom>
          <a:noFill/>
          <a:ln/>
        </p:spPr>
        <p:txBody>
          <a:bodyPr wrap="square" lIns="0" tIns="0" rIns="0" bIns="0" rtlCol="0" anchor="t"/>
          <a:lstStyle/>
          <a:p>
            <a:pPr indent="0" marL="0">
              <a:buNone/>
            </a:pPr>
            <a:r>
              <a:rPr lang="en-US" sz="1300" dirty="0">
                <a:solidFill>
                  <a:srgbClr val="5A5A5A"/>
                </a:solidFill>
              </a:rPr>
              <a:t>of recent levels completed: move up by 0.1</a:t>
            </a:r>
            <a:endParaRPr lang="en-US" sz="1300" dirty="0"/>
          </a:p>
        </p:txBody>
      </p:sp>
      <p:sp>
        <p:nvSpPr>
          <p:cNvPr id="12" name="Shape 9"/>
          <p:cNvSpPr/>
          <p:nvPr/>
        </p:nvSpPr>
        <p:spPr>
          <a:xfrm>
            <a:off x="457200" y="5257800"/>
            <a:ext cx="11338560" cy="548640"/>
          </a:xfrm>
          <a:prstGeom prst="rect">
            <a:avLst/>
          </a:prstGeom>
          <a:solidFill>
            <a:srgbClr val="000000"/>
          </a:solidFill>
          <a:ln w="12700">
            <a:solidFill>
              <a:srgbClr val="000000"/>
            </a:solidFill>
            <a:prstDash val="solid"/>
          </a:ln>
        </p:spPr>
      </p:sp>
      <p:sp>
        <p:nvSpPr>
          <p:cNvPr id="13" name="Text 10"/>
          <p:cNvSpPr txBox="1"/>
          <p:nvPr/>
        </p:nvSpPr>
        <p:spPr>
          <a:xfrm>
            <a:off x="594360" y="5257800"/>
            <a:ext cx="11064240" cy="548640"/>
          </a:xfrm>
          <a:prstGeom prst="rect">
            <a:avLst/>
          </a:prstGeom>
          <a:noFill/>
          <a:ln/>
        </p:spPr>
        <p:txBody>
          <a:bodyPr wrap="square" lIns="0" tIns="0" rIns="0" bIns="0" rtlCol="0" anchor="ctr"/>
          <a:lstStyle/>
          <a:p>
            <a:pPr algn="ctr" indent="0" marL="0">
              <a:buNone/>
            </a:pPr>
            <a:r>
              <a:rPr lang="en-US" sz="1400" b="1" dirty="0">
                <a:solidFill>
                  <a:srgbClr val="FFFFFF"/>
                </a:solidFill>
              </a:rPr>
              <a:t>70% of levels at the current ceiling, 30% easier ones, so old skills are not forgotten</a:t>
            </a:r>
            <a:endParaRPr lang="en-US" sz="1400" dirty="0"/>
          </a:p>
        </p:txBody>
      </p:sp>
      <p:sp>
        <p:nvSpPr>
          <p:cNvPr id="15"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how it learns</a:t>
            </a:r>
            <a:endParaRPr lang="en-US" sz="900" dirty="0"/>
          </a:p>
        </p:txBody>
      </p:sp>
      <p:sp>
        <p:nvSpPr>
          <p:cNvPr id="16"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[ 21/42 ]</a:t>
            </a:r>
            <a:endParaRPr lang="en-US" sz="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THE LEARNING CURVE</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[ 04 ]</a:t>
            </a:r>
            <a:endParaRPr lang="en-US" sz="1400" dirty="0"/>
          </a:p>
        </p:txBody>
      </p:sp>
      <p:pic>
        <p:nvPicPr>
          <p:cNvPr id="4" name="07_learning_curve.png" descr="C:/Users/dynam/Desktop/rl da3/ProcGen_RL/runs/presentation/07_learning_curve.png">    </p:cNvPr>
          <p:cNvPicPr>
            <a:picLocks noChangeAspect="1"/>
          </p:cNvPicPr>
          <p:nvPr/>
        </p:nvPicPr>
        <p:blipFill>
          <a:blip r:embed="rId1"/>
          <a:stretch>
            <a:fillRect/>
          </a:stretch>
        </p:blipFill>
        <p:spPr>
          <a:xfrm>
            <a:off x="457200" y="914400"/>
            <a:ext cx="7863840" cy="3448655"/>
          </a:xfrm>
          <a:prstGeom prst="rect">
            <a:avLst/>
          </a:prstGeom>
        </p:spPr>
      </p:pic>
      <p:sp>
        <p:nvSpPr>
          <p:cNvPr id="5" name="Shape 2"/>
          <p:cNvSpPr/>
          <p:nvPr/>
        </p:nvSpPr>
        <p:spPr>
          <a:xfrm>
            <a:off x="457200" y="914400"/>
            <a:ext cx="7863840" cy="3448655"/>
          </a:xfrm>
          <a:prstGeom prst="rect">
            <a:avLst/>
          </a:prstGeom>
          <a:ln w="12700">
            <a:solidFill>
              <a:srgbClr val="000000"/>
            </a:solidFill>
            <a:prstDash val="solid"/>
          </a:ln>
        </p:spPr>
      </p:sp>
      <p:sp>
        <p:nvSpPr>
          <p:cNvPr id="6" name="Text 3"/>
          <p:cNvSpPr txBox="1"/>
          <p:nvPr/>
        </p:nvSpPr>
        <p:spPr>
          <a:xfrm>
            <a:off x="8686800" y="1051560"/>
            <a:ext cx="3108960" cy="566928"/>
          </a:xfrm>
          <a:prstGeom prst="rect">
            <a:avLst/>
          </a:prstGeom>
          <a:noFill/>
          <a:ln/>
        </p:spPr>
        <p:txBody>
          <a:bodyPr wrap="square" lIns="0" tIns="0" rIns="0" bIns="0" rtlCol="0" anchor="b"/>
          <a:lstStyle/>
          <a:p>
            <a:pPr indent="0" marL="0">
              <a:buNone/>
            </a:pPr>
            <a:r>
              <a:rPr lang="en-US" sz="3400" b="1" dirty="0">
                <a:solidFill>
                  <a:srgbClr val="000000"/>
                </a:solidFill>
              </a:rPr>
              <a:t>33% -&gt; 89%</a:t>
            </a:r>
            <a:endParaRPr lang="en-US" sz="3400" dirty="0"/>
          </a:p>
        </p:txBody>
      </p:sp>
      <p:sp>
        <p:nvSpPr>
          <p:cNvPr id="7" name="Text 4"/>
          <p:cNvSpPr txBox="1"/>
          <p:nvPr/>
        </p:nvSpPr>
        <p:spPr>
          <a:xfrm>
            <a:off x="8686800" y="1655064"/>
            <a:ext cx="3108960" cy="566928"/>
          </a:xfrm>
          <a:prstGeom prst="rect">
            <a:avLst/>
          </a:prstGeom>
          <a:noFill/>
          <a:ln/>
        </p:spPr>
        <p:txBody>
          <a:bodyPr wrap="square" lIns="0" tIns="0" rIns="0" bIns="0" rtlCol="0" anchor="t"/>
          <a:lstStyle/>
          <a:p>
            <a:pPr indent="0" marL="0">
              <a:buNone/>
            </a:pPr>
            <a:r>
              <a:rPr lang="en-US" sz="1300" dirty="0">
                <a:solidFill>
                  <a:srgbClr val="5A5A5A"/>
                </a:solidFill>
              </a:rPr>
              <a:t>of training levels completed, first to last</a:t>
            </a:r>
            <a:endParaRPr lang="en-US" sz="1300" dirty="0"/>
          </a:p>
        </p:txBody>
      </p:sp>
      <p:sp>
        <p:nvSpPr>
          <p:cNvPr id="8" name="Text 5"/>
          <p:cNvSpPr txBox="1"/>
          <p:nvPr/>
        </p:nvSpPr>
        <p:spPr>
          <a:xfrm>
            <a:off x="8686800" y="2423160"/>
            <a:ext cx="3108960" cy="566928"/>
          </a:xfrm>
          <a:prstGeom prst="rect">
            <a:avLst/>
          </a:prstGeom>
          <a:noFill/>
          <a:ln/>
        </p:spPr>
        <p:txBody>
          <a:bodyPr wrap="square" lIns="0" tIns="0" rIns="0" bIns="0" rtlCol="0" anchor="b"/>
          <a:lstStyle/>
          <a:p>
            <a:pPr indent="0" marL="0">
              <a:buNone/>
            </a:pPr>
            <a:r>
              <a:rPr lang="en-US" sz="3400" b="1" dirty="0">
                <a:solidFill>
                  <a:srgbClr val="000000"/>
                </a:solidFill>
              </a:rPr>
              <a:t>dips</a:t>
            </a:r>
            <a:endParaRPr lang="en-US" sz="3400" dirty="0"/>
          </a:p>
        </p:txBody>
      </p:sp>
      <p:sp>
        <p:nvSpPr>
          <p:cNvPr id="9" name="Text 6"/>
          <p:cNvSpPr txBox="1"/>
          <p:nvPr/>
        </p:nvSpPr>
        <p:spPr>
          <a:xfrm>
            <a:off x="8686800" y="3026664"/>
            <a:ext cx="3108960" cy="566928"/>
          </a:xfrm>
          <a:prstGeom prst="rect">
            <a:avLst/>
          </a:prstGeom>
          <a:noFill/>
          <a:ln/>
        </p:spPr>
        <p:txBody>
          <a:bodyPr wrap="square" lIns="0" tIns="0" rIns="0" bIns="0" rtlCol="0" anchor="t"/>
          <a:lstStyle/>
          <a:p>
            <a:pPr indent="0" marL="0">
              <a:buNone/>
            </a:pPr>
            <a:r>
              <a:rPr lang="en-US" sz="1300" dirty="0">
                <a:solidFill>
                  <a:srgbClr val="5A5A5A"/>
                </a:solidFill>
              </a:rPr>
              <a:t>= the curriculum making levels harder</a:t>
            </a:r>
            <a:endParaRPr lang="en-US" sz="1300" dirty="0"/>
          </a:p>
        </p:txBody>
      </p:sp>
      <p:sp>
        <p:nvSpPr>
          <p:cNvPr id="10" name="Text 7"/>
          <p:cNvSpPr txBox="1"/>
          <p:nvPr/>
        </p:nvSpPr>
        <p:spPr>
          <a:xfrm>
            <a:off x="8686800" y="3794760"/>
            <a:ext cx="3108960" cy="566928"/>
          </a:xfrm>
          <a:prstGeom prst="rect">
            <a:avLst/>
          </a:prstGeom>
          <a:noFill/>
          <a:ln/>
        </p:spPr>
        <p:txBody>
          <a:bodyPr wrap="square" lIns="0" tIns="0" rIns="0" bIns="0" rtlCol="0" anchor="b"/>
          <a:lstStyle/>
          <a:p>
            <a:pPr indent="0" marL="0">
              <a:buNone/>
            </a:pPr>
            <a:r>
              <a:rPr lang="en-US" sz="3400" b="1" dirty="0">
                <a:solidFill>
                  <a:srgbClr val="000000"/>
                </a:solidFill>
              </a:rPr>
              <a:t>log axis</a:t>
            </a:r>
            <a:endParaRPr lang="en-US" sz="3400" dirty="0"/>
          </a:p>
        </p:txBody>
      </p:sp>
      <p:sp>
        <p:nvSpPr>
          <p:cNvPr id="11" name="Text 8"/>
          <p:cNvSpPr txBox="1"/>
          <p:nvPr/>
        </p:nvSpPr>
        <p:spPr>
          <a:xfrm>
            <a:off x="8686800" y="4398264"/>
            <a:ext cx="3108960" cy="566928"/>
          </a:xfrm>
          <a:prstGeom prst="rect">
            <a:avLst/>
          </a:prstGeom>
          <a:noFill/>
          <a:ln/>
        </p:spPr>
        <p:txBody>
          <a:bodyPr wrap="square" lIns="0" tIns="0" rIns="0" bIns="0" rtlCol="0" anchor="t"/>
          <a:lstStyle/>
          <a:p>
            <a:pPr indent="0" marL="0">
              <a:buNone/>
            </a:pPr>
            <a:r>
              <a:rPr lang="en-US" sz="1300" dirty="0">
                <a:solidFill>
                  <a:srgbClr val="5A5A5A"/>
                </a:solidFill>
              </a:rPr>
              <a:t>most learning happens in the first 30 hours</a:t>
            </a:r>
            <a:endParaRPr lang="en-US" sz="1300" dirty="0"/>
          </a:p>
        </p:txBody>
      </p:sp>
      <p:sp>
        <p:nvSpPr>
          <p:cNvPr id="13"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how it learns</a:t>
            </a:r>
            <a:endParaRPr lang="en-US" sz="900" dirty="0"/>
          </a:p>
        </p:txBody>
      </p:sp>
      <p:sp>
        <p:nvSpPr>
          <p:cNvPr id="14"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[ 22/42 ]</a:t>
            </a:r>
            <a:endParaRPr lang="en-US" sz="9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822960" y="2331720"/>
            <a:ext cx="7315200" cy="365760"/>
          </a:xfrm>
          <a:prstGeom prst="rect">
            <a:avLst/>
          </a:prstGeom>
          <a:noFill/>
          <a:ln/>
        </p:spPr>
        <p:txBody>
          <a:bodyPr wrap="square" lIns="0" tIns="0" rIns="0" bIns="0" rtlCol="0" anchor="ctr"/>
          <a:lstStyle/>
          <a:p>
            <a:pPr indent="0" marL="0">
              <a:buNone/>
            </a:pPr>
            <a:r>
              <a:rPr lang="en-US" sz="1600" dirty="0">
                <a:solidFill>
                  <a:srgbClr val="D9D9D9"/>
                </a:solidFill>
              </a:rPr>
              <a:t>&gt; cd section_05</a:t>
            </a:r>
            <a:endParaRPr lang="en-US" sz="1600" dirty="0"/>
          </a:p>
        </p:txBody>
      </p:sp>
      <p:sp>
        <p:nvSpPr>
          <p:cNvPr id="3" name="Text 1"/>
          <p:cNvSpPr txBox="1"/>
          <p:nvPr/>
        </p:nvSpPr>
        <p:spPr>
          <a:xfrm>
            <a:off x="822960" y="2697480"/>
            <a:ext cx="7315200" cy="1143000"/>
          </a:xfrm>
          <a:prstGeom prst="rect">
            <a:avLst/>
          </a:prstGeom>
          <a:noFill/>
          <a:ln/>
        </p:spPr>
        <p:txBody>
          <a:bodyPr wrap="square" lIns="0" tIns="0" rIns="0" bIns="0" rtlCol="0" anchor="ctr"/>
          <a:lstStyle/>
          <a:p>
            <a:pPr indent="0" marL="0">
              <a:buNone/>
            </a:pPr>
            <a:r>
              <a:rPr lang="en-US" sz="8000" b="1" dirty="0">
                <a:solidFill>
                  <a:srgbClr val="FFFFFF"/>
                </a:solidFill>
              </a:rPr>
              <a:t>05</a:t>
            </a:r>
            <a:endParaRPr lang="en-US" sz="8000" dirty="0"/>
          </a:p>
        </p:txBody>
      </p:sp>
      <p:sp>
        <p:nvSpPr>
          <p:cNvPr id="4" name="Text 2"/>
          <p:cNvSpPr txBox="1"/>
          <p:nvPr/>
        </p:nvSpPr>
        <p:spPr>
          <a:xfrm>
            <a:off x="822960" y="3840480"/>
            <a:ext cx="10515600" cy="685800"/>
          </a:xfrm>
          <a:prstGeom prst="rect">
            <a:avLst/>
          </a:prstGeom>
          <a:noFill/>
          <a:ln/>
        </p:spPr>
        <p:txBody>
          <a:bodyPr wrap="square" lIns="0" tIns="0" rIns="0" bIns="0" rtlCol="0" anchor="ctr"/>
          <a:lstStyle/>
          <a:p>
            <a:pPr indent="0" marL="0">
              <a:buNone/>
            </a:pPr>
            <a:r>
              <a:rPr lang="en-US" sz="3400" b="1" dirty="0">
                <a:solidFill>
                  <a:srgbClr val="FFFFFF"/>
                </a:solidFill>
              </a:rPr>
              <a:t>OPENING THE BLACK BOX</a:t>
            </a:r>
            <a:pPr indent="0" marL="0">
              <a:buNone/>
            </a:pPr>
            <a:r>
              <a:rPr lang="en-US" sz="3400" b="1" dirty="0">
                <a:solidFill>
                  <a:srgbClr val="FFFFFF"/>
                </a:solidFill>
              </a:rPr>
              <a:t>█</a:t>
            </a:r>
            <a:endParaRPr lang="en-US" sz="3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DEBUG MODE: ONE GHOST, FULLY VISIBLE</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[ 05 ]</a:t>
            </a:r>
            <a:endParaRPr lang="en-US" sz="1400" dirty="0"/>
          </a:p>
        </p:txBody>
      </p:sp>
      <p:pic>
        <p:nvPicPr>
          <p:cNvPr id="4" name="27_debug_view.png" descr="C:/Users/dynam/Desktop/rl da3/ProcGen_RL/runs/presentation/27_debug_view.png">    </p:cNvPr>
          <p:cNvPicPr>
            <a:picLocks noChangeAspect="1"/>
          </p:cNvPicPr>
          <p:nvPr/>
        </p:nvPicPr>
        <p:blipFill>
          <a:blip r:embed="rId1"/>
          <a:stretch>
            <a:fillRect/>
          </a:stretch>
        </p:blipFill>
        <p:spPr>
          <a:xfrm>
            <a:off x="411480" y="868680"/>
            <a:ext cx="8001000" cy="4333875"/>
          </a:xfrm>
          <a:prstGeom prst="rect">
            <a:avLst/>
          </a:prstGeom>
        </p:spPr>
      </p:pic>
      <p:sp>
        <p:nvSpPr>
          <p:cNvPr id="5" name="Shape 2"/>
          <p:cNvSpPr/>
          <p:nvPr/>
        </p:nvSpPr>
        <p:spPr>
          <a:xfrm>
            <a:off x="411480" y="868680"/>
            <a:ext cx="8001000" cy="4333875"/>
          </a:xfrm>
          <a:prstGeom prst="rect">
            <a:avLst/>
          </a:prstGeom>
          <a:ln w="12700">
            <a:solidFill>
              <a:srgbClr val="000000"/>
            </a:solidFill>
            <a:prstDash val="solid"/>
          </a:ln>
        </p:spPr>
      </p:sp>
      <p:sp>
        <p:nvSpPr>
          <p:cNvPr id="6" name="Text 3"/>
          <p:cNvSpPr txBox="1"/>
          <p:nvPr/>
        </p:nvSpPr>
        <p:spPr>
          <a:xfrm>
            <a:off x="8641080" y="896112"/>
            <a:ext cx="3200400" cy="4343400"/>
          </a:xfrm>
          <a:prstGeom prst="rect">
            <a:avLst/>
          </a:prstGeom>
          <a:noFill/>
          <a:ln/>
        </p:spPr>
        <p:txBody>
          <a:bodyPr wrap="square" lIns="0" tIns="0" rIns="0" bIns="0" rtlCol="0" anchor="t"/>
          <a:lstStyle/>
          <a:p>
            <a:pPr marL="254000" indent="-254000">
              <a:spcAft>
                <a:spcPts val="600"/>
              </a:spcAft>
              <a:buSzPct val="100000"/>
              <a:buChar char="&gt;"/>
            </a:pPr>
            <a:r>
              <a:rPr lang="en-US" b="1" dirty="0">
                <a:solidFill>
                  <a:srgbClr val="000000"/>
                </a:solidFill>
              </a:rPr>
              <a:t>view window</a:t>
            </a:r>
            <a:pPr indent="0" marL="0">
              <a:spcAft>
                <a:spcPts val="600"/>
              </a:spcAft>
              <a:buNone/>
            </a:pPr>
            <a:r>
              <a:rPr lang="en-US" dirty="0">
                <a:solidFill>
                  <a:srgbClr val="000000"/>
                </a:solidFill>
              </a:rPr>
              <a:t> on the level; orange = tiles the decision depends on</a:t>
            </a:r>
            <a:endParaRPr lang="en-US" dirty="0"/>
          </a:p>
          <a:p>
            <a:pPr marL="254000" indent="-254000">
              <a:spcAft>
                <a:spcPts val="600"/>
              </a:spcAft>
              <a:buSzPct val="100000"/>
              <a:buChar char="&gt;"/>
            </a:pPr>
            <a:r>
              <a:rPr lang="en-US" b="1" dirty="0">
                <a:solidFill>
                  <a:srgbClr val="000000"/>
                </a:solidFill>
              </a:rPr>
              <a:t>840 tile inputs</a:t>
            </a:r>
            <a:pPr indent="0" marL="0">
              <a:spcAft>
                <a:spcPts val="600"/>
              </a:spcAft>
              <a:buNone/>
            </a:pPr>
            <a:r>
              <a:rPr lang="en-US" dirty="0">
                <a:solidFill>
                  <a:srgbClr val="000000"/>
                </a:solidFill>
              </a:rPr>
              <a:t> as the 3 layers it receives</a:t>
            </a:r>
            <a:endParaRPr lang="en-US" dirty="0"/>
          </a:p>
          <a:p>
            <a:pPr marL="254000" indent="-254000">
              <a:spcAft>
                <a:spcPts val="600"/>
              </a:spcAft>
              <a:buSzPct val="100000"/>
              <a:buChar char="&gt;"/>
            </a:pPr>
            <a:r>
              <a:rPr lang="en-US" b="1" dirty="0">
                <a:solidFill>
                  <a:srgbClr val="000000"/>
                </a:solidFill>
              </a:rPr>
              <a:t>7 numbers</a:t>
            </a:r>
            <a:pPr indent="0" marL="0">
              <a:spcAft>
                <a:spcPts val="600"/>
              </a:spcAft>
              <a:buNone/>
            </a:pPr>
            <a:r>
              <a:rPr lang="en-US" dirty="0">
                <a:solidFill>
                  <a:srgbClr val="000000"/>
                </a:solidFill>
              </a:rPr>
              <a:t> about itself</a:t>
            </a:r>
            <a:endParaRPr lang="en-US" dirty="0"/>
          </a:p>
          <a:p>
            <a:pPr marL="254000" indent="-254000">
              <a:spcAft>
                <a:spcPts val="600"/>
              </a:spcAft>
              <a:buSzPct val="100000"/>
              <a:buChar char="&gt;"/>
            </a:pPr>
            <a:r>
              <a:rPr lang="en-US" b="1" dirty="0">
                <a:solidFill>
                  <a:srgbClr val="000000"/>
                </a:solidFill>
              </a:rPr>
              <a:t>sensitivity</a:t>
            </a:r>
            <a:pPr indent="0" marL="0">
              <a:spcAft>
                <a:spcPts val="600"/>
              </a:spcAft>
              <a:buNone/>
            </a:pPr>
            <a:r>
              <a:rPr lang="en-US" dirty="0">
                <a:solidFill>
                  <a:srgbClr val="000000"/>
                </a:solidFill>
              </a:rPr>
              <a:t> by input group, in %</a:t>
            </a:r>
            <a:endParaRPr lang="en-US" dirty="0"/>
          </a:p>
          <a:p>
            <a:pPr marL="254000" indent="-254000">
              <a:spcAft>
                <a:spcPts val="600"/>
              </a:spcAft>
              <a:buSzPct val="100000"/>
              <a:buChar char="&gt;"/>
            </a:pPr>
            <a:r>
              <a:rPr lang="en-US" b="1" dirty="0">
                <a:solidFill>
                  <a:srgbClr val="000000"/>
                </a:solidFill>
              </a:rPr>
              <a:t>live network:</a:t>
            </a:r>
            <a:pPr indent="0" marL="0">
              <a:spcAft>
                <a:spcPts val="600"/>
              </a:spcAft>
              <a:buNone/>
            </a:pPr>
            <a:r>
              <a:rPr lang="en-US" dirty="0">
                <a:solidFill>
                  <a:srgbClr val="000000"/>
                </a:solidFill>
              </a:rPr>
              <a:t> every neuron, strongest links</a:t>
            </a:r>
            <a:endParaRPr lang="en-US" dirty="0"/>
          </a:p>
          <a:p>
            <a:pPr marL="254000" indent="-254000">
              <a:spcAft>
                <a:spcPts val="600"/>
              </a:spcAft>
              <a:buSzPct val="100000"/>
              <a:buChar char="&gt;"/>
            </a:pPr>
            <a:r>
              <a:rPr lang="en-US" b="1" dirty="0">
                <a:solidFill>
                  <a:srgbClr val="000000"/>
                </a:solidFill>
              </a:rPr>
              <a:t>6 probabilities</a:t>
            </a:r>
            <a:pPr indent="0" marL="0">
              <a:spcAft>
                <a:spcPts val="600"/>
              </a:spcAft>
              <a:buNone/>
            </a:pPr>
            <a:r>
              <a:rPr lang="en-US" dirty="0">
                <a:solidFill>
                  <a:srgbClr val="000000"/>
                </a:solidFill>
              </a:rPr>
              <a:t> and actions chosen so far</a:t>
            </a:r>
            <a:endParaRPr lang="en-US" dirty="0"/>
          </a:p>
          <a:p>
            <a:pPr marL="254000" indent="-254000">
              <a:spcAft>
                <a:spcPts val="600"/>
              </a:spcAft>
              <a:buSzPct val="100000"/>
              <a:buChar char="&gt;"/>
            </a:pPr>
            <a:r>
              <a:rPr lang="en-US" b="1" dirty="0">
                <a:solidFill>
                  <a:srgbClr val="000000"/>
                </a:solidFill>
              </a:rPr>
              <a:t>critic</a:t>
            </a:r>
            <a:pPr indent="0" marL="0">
              <a:spcAft>
                <a:spcPts val="600"/>
              </a:spcAft>
              <a:buNone/>
            </a:pPr>
            <a:r>
              <a:rPr lang="en-US" dirty="0">
                <a:solidFill>
                  <a:srgbClr val="000000"/>
                </a:solidFill>
              </a:rPr>
              <a:t> and confidence over time</a:t>
            </a:r>
            <a:endParaRPr lang="en-US" dirty="0"/>
          </a:p>
        </p:txBody>
      </p:sp>
      <p:sp>
        <p:nvSpPr>
          <p:cNvPr id="7" name="Shape 4"/>
          <p:cNvSpPr/>
          <p:nvPr/>
        </p:nvSpPr>
        <p:spPr>
          <a:xfrm>
            <a:off x="411480" y="5440680"/>
            <a:ext cx="4754880" cy="502920"/>
          </a:xfrm>
          <a:prstGeom prst="rect">
            <a:avLst/>
          </a:prstGeom>
          <a:solidFill>
            <a:srgbClr val="000000"/>
          </a:solidFill>
          <a:ln w="12700">
            <a:solidFill>
              <a:srgbClr val="000000"/>
            </a:solidFill>
            <a:prstDash val="solid"/>
          </a:ln>
        </p:spPr>
      </p:sp>
      <p:sp>
        <p:nvSpPr>
          <p:cNvPr id="8" name="Text 5"/>
          <p:cNvSpPr txBox="1"/>
          <p:nvPr/>
        </p:nvSpPr>
        <p:spPr>
          <a:xfrm>
            <a:off x="548640" y="5440680"/>
            <a:ext cx="4480560" cy="502920"/>
          </a:xfrm>
          <a:prstGeom prst="rect">
            <a:avLst/>
          </a:prstGeom>
          <a:noFill/>
          <a:ln/>
        </p:spPr>
        <p:txBody>
          <a:bodyPr wrap="square" lIns="0" tIns="0" rIns="0" bIns="0" rtlCol="0" anchor="ctr"/>
          <a:lstStyle/>
          <a:p>
            <a:pPr algn="l" indent="0" marL="0">
              <a:buNone/>
            </a:pPr>
            <a:r>
              <a:rPr lang="en-US" sz="1400" b="1" dirty="0">
                <a:solidFill>
                  <a:srgbClr val="FFFFFF"/>
                </a:solidFill>
              </a:rPr>
              <a:t>$ python demo.py --debug 300h</a:t>
            </a:r>
            <a:endParaRPr lang="en-US" sz="1400" dirty="0"/>
          </a:p>
        </p:txBody>
      </p:sp>
      <p:sp>
        <p:nvSpPr>
          <p:cNvPr id="9" name="Text 6"/>
          <p:cNvSpPr txBox="1"/>
          <p:nvPr/>
        </p:nvSpPr>
        <p:spPr>
          <a:xfrm>
            <a:off x="5349240" y="5440680"/>
            <a:ext cx="6492240" cy="502920"/>
          </a:xfrm>
          <a:prstGeom prst="rect">
            <a:avLst/>
          </a:prstGeom>
          <a:noFill/>
          <a:ln/>
        </p:spPr>
        <p:txBody>
          <a:bodyPr wrap="square" lIns="0" tIns="0" rIns="0" bIns="0" rtlCol="0" anchor="ctr"/>
          <a:lstStyle/>
          <a:p>
            <a:pPr indent="0" marL="0">
              <a:buNone/>
            </a:pPr>
            <a:r>
              <a:rPr lang="en-US" sz="1200" dirty="0">
                <a:solidFill>
                  <a:srgbClr val="000000"/>
                </a:solidFill>
              </a:rPr>
              <a:t>I on/off  Tab ghost  Space pause  Right step  O overlay  F slow-mo</a:t>
            </a:r>
            <a:endParaRPr lang="en-US" sz="1200" dirty="0"/>
          </a:p>
        </p:txBody>
      </p:sp>
      <p:sp>
        <p:nvSpPr>
          <p:cNvPr id="11"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opening the black box</a:t>
            </a:r>
            <a:endParaRPr lang="en-US" sz="900" dirty="0"/>
          </a:p>
        </p:txBody>
      </p:sp>
      <p:sp>
        <p:nvSpPr>
          <p:cNvPr id="12"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[ 24/42 ]</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HOW WE ASK "WHAT MATTERED?"</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[ 05 ]</a:t>
            </a:r>
            <a:endParaRPr lang="en-US" sz="1400" dirty="0"/>
          </a:p>
        </p:txBody>
      </p:sp>
      <p:sp>
        <p:nvSpPr>
          <p:cNvPr id="4" name="Shape 2"/>
          <p:cNvSpPr/>
          <p:nvPr/>
        </p:nvSpPr>
        <p:spPr>
          <a:xfrm>
            <a:off x="530352" y="1170432"/>
            <a:ext cx="5486400" cy="3703320"/>
          </a:xfrm>
          <a:prstGeom prst="rect">
            <a:avLst/>
          </a:prstGeom>
          <a:solidFill>
            <a:srgbClr val="000000"/>
          </a:solidFill>
          <a:ln w="9525">
            <a:solidFill>
              <a:srgbClr val="000000"/>
            </a:solidFill>
            <a:prstDash val="solid"/>
          </a:ln>
        </p:spPr>
      </p:sp>
      <p:sp>
        <p:nvSpPr>
          <p:cNvPr id="5" name="Shape 3"/>
          <p:cNvSpPr/>
          <p:nvPr/>
        </p:nvSpPr>
        <p:spPr>
          <a:xfrm>
            <a:off x="457200" y="1097280"/>
            <a:ext cx="5486400" cy="3703320"/>
          </a:xfrm>
          <a:prstGeom prst="rect">
            <a:avLst/>
          </a:prstGeom>
          <a:solidFill>
            <a:srgbClr val="FFFFFF"/>
          </a:solidFill>
          <a:ln w="19050">
            <a:solidFill>
              <a:srgbClr val="000000"/>
            </a:solidFill>
            <a:prstDash val="solid"/>
          </a:ln>
        </p:spPr>
      </p:sp>
      <p:sp>
        <p:nvSpPr>
          <p:cNvPr id="6" name="Shape 4"/>
          <p:cNvSpPr/>
          <p:nvPr/>
        </p:nvSpPr>
        <p:spPr>
          <a:xfrm>
            <a:off x="457200" y="1097280"/>
            <a:ext cx="5486400" cy="347472"/>
          </a:xfrm>
          <a:prstGeom prst="rect">
            <a:avLst/>
          </a:prstGeom>
          <a:solidFill>
            <a:srgbClr val="000000"/>
          </a:solidFill>
          <a:ln w="19050">
            <a:solidFill>
              <a:srgbClr val="000000"/>
            </a:solidFill>
            <a:prstDash val="solid"/>
          </a:ln>
        </p:spPr>
      </p:sp>
      <p:sp>
        <p:nvSpPr>
          <p:cNvPr id="7" name="Text 5"/>
          <p:cNvSpPr txBox="1"/>
          <p:nvPr/>
        </p:nvSpPr>
        <p:spPr>
          <a:xfrm>
            <a:off x="585216" y="1097280"/>
            <a:ext cx="5230368" cy="347472"/>
          </a:xfrm>
          <a:prstGeom prst="rect">
            <a:avLst/>
          </a:prstGeom>
          <a:noFill/>
          <a:ln/>
        </p:spPr>
        <p:txBody>
          <a:bodyPr wrap="square" lIns="0" tIns="0" rIns="0" bIns="0" rtlCol="0" anchor="ctr"/>
          <a:lstStyle/>
          <a:p>
            <a:pPr algn="l" indent="0" marL="0">
              <a:buNone/>
            </a:pPr>
            <a:r>
              <a:rPr lang="en-US" sz="1300" b="1" dirty="0">
                <a:solidFill>
                  <a:srgbClr val="FFFFFF"/>
                </a:solidFill>
              </a:rPr>
              <a:t>&gt; flip test (every decision, live)</a:t>
            </a:r>
            <a:endParaRPr lang="en-US" sz="1300" dirty="0"/>
          </a:p>
        </p:txBody>
      </p:sp>
      <p:sp>
        <p:nvSpPr>
          <p:cNvPr id="8" name="Text 6"/>
          <p:cNvSpPr txBox="1"/>
          <p:nvPr/>
        </p:nvSpPr>
        <p:spPr>
          <a:xfrm>
            <a:off x="621792" y="1554480"/>
            <a:ext cx="5157216" cy="3136392"/>
          </a:xfrm>
          <a:prstGeom prst="rect">
            <a:avLst/>
          </a:prstGeom>
          <a:noFill/>
          <a:ln/>
        </p:spPr>
        <p:txBody>
          <a:bodyPr wrap="square" lIns="0" tIns="0" rIns="0" bIns="0" rtlCol="0" anchor="t"/>
          <a:lstStyle/>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1  take the 847 inputs</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2  flip one: tile 0 &lt;-&gt; 1; speeds set to 0</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3  run the network again</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4  measure how far the 6 probabilities moved</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   0 = not at all, 1 = a different decision</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5  all 847 at once: one batched pass, ~7 ms</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300"/>
              </a:spcAft>
              <a:buNone/>
            </a:pPr>
            <a:r>
              <a:rPr lang="en-US" sz="1300" b="1" dirty="0">
                <a:solidFill>
                  <a:srgbClr val="000000"/>
                </a:solidFill>
                <a:latin typeface="Consolas" pitchFamily="34" charset="0"/>
                <a:ea typeface="Consolas" pitchFamily="34" charset="-122"/>
                <a:cs typeface="Consolas" pitchFamily="34" charset="-120"/>
              </a:rPr>
              <a:t>gives:</a:t>
            </a:r>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 the orange tiles, the % per group</a:t>
            </a:r>
            <a:endParaRPr lang="en-US" sz="1300" dirty="0"/>
          </a:p>
        </p:txBody>
      </p:sp>
      <p:sp>
        <p:nvSpPr>
          <p:cNvPr id="9" name="Shape 7"/>
          <p:cNvSpPr/>
          <p:nvPr/>
        </p:nvSpPr>
        <p:spPr>
          <a:xfrm>
            <a:off x="6336792" y="1170432"/>
            <a:ext cx="5486400" cy="3703320"/>
          </a:xfrm>
          <a:prstGeom prst="rect">
            <a:avLst/>
          </a:prstGeom>
          <a:solidFill>
            <a:srgbClr val="000000"/>
          </a:solidFill>
          <a:ln w="9525">
            <a:solidFill>
              <a:srgbClr val="000000"/>
            </a:solidFill>
            <a:prstDash val="solid"/>
          </a:ln>
        </p:spPr>
      </p:sp>
      <p:sp>
        <p:nvSpPr>
          <p:cNvPr id="10" name="Shape 8"/>
          <p:cNvSpPr/>
          <p:nvPr/>
        </p:nvSpPr>
        <p:spPr>
          <a:xfrm>
            <a:off x="6263640" y="1097280"/>
            <a:ext cx="5486400" cy="3703320"/>
          </a:xfrm>
          <a:prstGeom prst="rect">
            <a:avLst/>
          </a:prstGeom>
          <a:solidFill>
            <a:srgbClr val="FFFFFF"/>
          </a:solidFill>
          <a:ln w="19050">
            <a:solidFill>
              <a:srgbClr val="000000"/>
            </a:solidFill>
            <a:prstDash val="solid"/>
          </a:ln>
        </p:spPr>
      </p:sp>
      <p:sp>
        <p:nvSpPr>
          <p:cNvPr id="11" name="Shape 9"/>
          <p:cNvSpPr/>
          <p:nvPr/>
        </p:nvSpPr>
        <p:spPr>
          <a:xfrm>
            <a:off x="6263640" y="1097280"/>
            <a:ext cx="5486400" cy="347472"/>
          </a:xfrm>
          <a:prstGeom prst="rect">
            <a:avLst/>
          </a:prstGeom>
          <a:solidFill>
            <a:srgbClr val="000000"/>
          </a:solidFill>
          <a:ln w="19050">
            <a:solidFill>
              <a:srgbClr val="000000"/>
            </a:solidFill>
            <a:prstDash val="solid"/>
          </a:ln>
        </p:spPr>
      </p:sp>
      <p:sp>
        <p:nvSpPr>
          <p:cNvPr id="12" name="Text 10"/>
          <p:cNvSpPr txBox="1"/>
          <p:nvPr/>
        </p:nvSpPr>
        <p:spPr>
          <a:xfrm>
            <a:off x="6391656" y="1097280"/>
            <a:ext cx="5230368" cy="347472"/>
          </a:xfrm>
          <a:prstGeom prst="rect">
            <a:avLst/>
          </a:prstGeom>
          <a:noFill/>
          <a:ln/>
        </p:spPr>
        <p:txBody>
          <a:bodyPr wrap="square" lIns="0" tIns="0" rIns="0" bIns="0" rtlCol="0" anchor="ctr"/>
          <a:lstStyle/>
          <a:p>
            <a:pPr algn="l" indent="0" marL="0">
              <a:buNone/>
            </a:pPr>
            <a:r>
              <a:rPr lang="en-US" sz="1300" b="1" dirty="0">
                <a:solidFill>
                  <a:srgbClr val="FFFFFF"/>
                </a:solidFill>
              </a:rPr>
              <a:t>&gt; blindfold test (whole levels)</a:t>
            </a:r>
            <a:endParaRPr lang="en-US" sz="1300" dirty="0"/>
          </a:p>
        </p:txBody>
      </p:sp>
      <p:sp>
        <p:nvSpPr>
          <p:cNvPr id="13" name="Text 11"/>
          <p:cNvSpPr txBox="1"/>
          <p:nvPr/>
        </p:nvSpPr>
        <p:spPr>
          <a:xfrm>
            <a:off x="6428232" y="1554480"/>
            <a:ext cx="5157216" cy="3136392"/>
          </a:xfrm>
          <a:prstGeom prst="rect">
            <a:avLst/>
          </a:prstGeom>
          <a:noFill/>
          <a:ln/>
        </p:spPr>
        <p:txBody>
          <a:bodyPr wrap="square" lIns="0" tIns="0" rIns="0" bIns="0" rtlCol="0" anchor="t"/>
          <a:lstStyle/>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1  remove one group of inputs for a whole</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   run (set it to 0)</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2  play 100 levels it has never seen</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3  count how many it still finishes</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 </a:t>
            </a:r>
            <a:endParaRPr lang="en-US" sz="1300" dirty="0"/>
          </a:p>
          <a:p>
            <a:pPr indent="0" marL="0">
              <a:spcAft>
                <a:spcPts val="300"/>
              </a:spcAft>
              <a:buNone/>
            </a:pPr>
            <a:r>
              <a:rPr lang="en-US" sz="1300" b="1" dirty="0">
                <a:solidFill>
                  <a:srgbClr val="000000"/>
                </a:solidFill>
                <a:latin typeface="Consolas" pitchFamily="34" charset="0"/>
                <a:ea typeface="Consolas" pitchFamily="34" charset="-122"/>
                <a:cs typeface="Consolas" pitchFamily="34" charset="-120"/>
              </a:rPr>
              <a:t>gives:</a:t>
            </a:r>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 what it really relies on</a:t>
            </a:r>
            <a:endParaRPr lang="en-US" sz="1300" dirty="0"/>
          </a:p>
        </p:txBody>
      </p:sp>
      <p:sp>
        <p:nvSpPr>
          <p:cNvPr id="14" name="Shape 12"/>
          <p:cNvSpPr/>
          <p:nvPr/>
        </p:nvSpPr>
        <p:spPr>
          <a:xfrm>
            <a:off x="457200" y="5120640"/>
            <a:ext cx="11292840" cy="685800"/>
          </a:xfrm>
          <a:prstGeom prst="rect">
            <a:avLst/>
          </a:prstGeom>
          <a:solidFill>
            <a:srgbClr val="000000"/>
          </a:solidFill>
          <a:ln w="12700">
            <a:solidFill>
              <a:srgbClr val="000000"/>
            </a:solidFill>
            <a:prstDash val="solid"/>
          </a:ln>
        </p:spPr>
      </p:sp>
      <p:sp>
        <p:nvSpPr>
          <p:cNvPr id="15" name="Text 13"/>
          <p:cNvSpPr txBox="1"/>
          <p:nvPr/>
        </p:nvSpPr>
        <p:spPr>
          <a:xfrm>
            <a:off x="594360" y="5120640"/>
            <a:ext cx="11018520" cy="685800"/>
          </a:xfrm>
          <a:prstGeom prst="rect">
            <a:avLst/>
          </a:prstGeom>
          <a:noFill/>
          <a:ln/>
        </p:spPr>
        <p:txBody>
          <a:bodyPr wrap="square" lIns="0" tIns="0" rIns="0" bIns="0" rtlCol="0" anchor="ctr"/>
          <a:lstStyle/>
          <a:p>
            <a:pPr algn="ctr" indent="0" marL="0">
              <a:buNone/>
            </a:pPr>
            <a:r>
              <a:rPr lang="en-US" sz="1400" b="1" dirty="0">
                <a:solidFill>
                  <a:srgbClr val="FFFFFF"/>
                </a:solidFill>
              </a:rPr>
              <a:t>sensitive to != relies on:  "what if this were different?"  vs  "can it cope without it?"</a:t>
            </a:r>
            <a:endParaRPr lang="en-US" sz="1400" dirty="0"/>
          </a:p>
        </p:txBody>
      </p:sp>
      <p:sp>
        <p:nvSpPr>
          <p:cNvPr id="17"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opening the black box</a:t>
            </a:r>
            <a:endParaRPr lang="en-US" sz="900" dirty="0"/>
          </a:p>
        </p:txBody>
      </p:sp>
      <p:sp>
        <p:nvSpPr>
          <p:cNvPr id="18"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[ 25/42 ]</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WHERE IT LOOKS</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[ 05 ]</a:t>
            </a:r>
            <a:endParaRPr lang="en-US" sz="1400" dirty="0"/>
          </a:p>
        </p:txBody>
      </p:sp>
      <p:pic>
        <p:nvPicPr>
          <p:cNvPr id="4" name="21_where_it_looks.png" descr="C:/Users/dynam/Desktop/rl da3/ProcGen_RL/runs/presentation/21_where_it_looks.png">    </p:cNvPr>
          <p:cNvPicPr>
            <a:picLocks noChangeAspect="1"/>
          </p:cNvPicPr>
          <p:nvPr/>
        </p:nvPicPr>
        <p:blipFill>
          <a:blip r:embed="rId1"/>
          <a:stretch>
            <a:fillRect/>
          </a:stretch>
        </p:blipFill>
        <p:spPr>
          <a:xfrm>
            <a:off x="457200" y="868680"/>
            <a:ext cx="11247120" cy="3249903"/>
          </a:xfrm>
          <a:prstGeom prst="rect">
            <a:avLst/>
          </a:prstGeom>
        </p:spPr>
      </p:pic>
      <p:sp>
        <p:nvSpPr>
          <p:cNvPr id="5" name="Shape 2"/>
          <p:cNvSpPr/>
          <p:nvPr/>
        </p:nvSpPr>
        <p:spPr>
          <a:xfrm>
            <a:off x="457200" y="868680"/>
            <a:ext cx="11247120" cy="3249903"/>
          </a:xfrm>
          <a:prstGeom prst="rect">
            <a:avLst/>
          </a:prstGeom>
          <a:ln w="12700">
            <a:solidFill>
              <a:srgbClr val="000000"/>
            </a:solidFill>
            <a:prstDash val="solid"/>
          </a:ln>
        </p:spPr>
      </p:sp>
      <p:sp>
        <p:nvSpPr>
          <p:cNvPr id="6" name="Text 3"/>
          <p:cNvSpPr txBox="1"/>
          <p:nvPr/>
        </p:nvSpPr>
        <p:spPr>
          <a:xfrm>
            <a:off x="548640" y="4434840"/>
            <a:ext cx="3474720" cy="566928"/>
          </a:xfrm>
          <a:prstGeom prst="rect">
            <a:avLst/>
          </a:prstGeom>
          <a:noFill/>
          <a:ln/>
        </p:spPr>
        <p:txBody>
          <a:bodyPr wrap="square" lIns="0" tIns="0" rIns="0" bIns="0" rtlCol="0" anchor="b"/>
          <a:lstStyle/>
          <a:p>
            <a:pPr indent="0" marL="0">
              <a:buNone/>
            </a:pPr>
            <a:r>
              <a:rPr lang="en-US" sz="3400" b="1" dirty="0">
                <a:solidFill>
                  <a:srgbClr val="000000"/>
                </a:solidFill>
              </a:rPr>
              <a:t>2 tiles ahead</a:t>
            </a:r>
            <a:endParaRPr lang="en-US" sz="3400" dirty="0"/>
          </a:p>
        </p:txBody>
      </p:sp>
      <p:sp>
        <p:nvSpPr>
          <p:cNvPr id="7" name="Text 4"/>
          <p:cNvSpPr txBox="1"/>
          <p:nvPr/>
        </p:nvSpPr>
        <p:spPr>
          <a:xfrm>
            <a:off x="548640" y="5038344"/>
            <a:ext cx="3474720" cy="566928"/>
          </a:xfrm>
          <a:prstGeom prst="rect">
            <a:avLst/>
          </a:prstGeom>
          <a:noFill/>
          <a:ln/>
        </p:spPr>
        <p:txBody>
          <a:bodyPr wrap="square" lIns="0" tIns="0" rIns="0" bIns="0" rtlCol="0" anchor="t"/>
          <a:lstStyle/>
          <a:p>
            <a:pPr indent="0" marL="0">
              <a:buNone/>
            </a:pPr>
            <a:r>
              <a:rPr lang="en-US" sz="1300" dirty="0">
                <a:solidFill>
                  <a:srgbClr val="5A5A5A"/>
                </a:solidFill>
              </a:rPr>
              <a:t>the column it watches most</a:t>
            </a:r>
            <a:endParaRPr lang="en-US" sz="1300" dirty="0"/>
          </a:p>
        </p:txBody>
      </p:sp>
      <p:sp>
        <p:nvSpPr>
          <p:cNvPr id="8" name="Text 5"/>
          <p:cNvSpPr txBox="1"/>
          <p:nvPr/>
        </p:nvSpPr>
        <p:spPr>
          <a:xfrm>
            <a:off x="4343400" y="4434840"/>
            <a:ext cx="3474720" cy="566928"/>
          </a:xfrm>
          <a:prstGeom prst="rect">
            <a:avLst/>
          </a:prstGeom>
          <a:noFill/>
          <a:ln/>
        </p:spPr>
        <p:txBody>
          <a:bodyPr wrap="square" lIns="0" tIns="0" rIns="0" bIns="0" rtlCol="0" anchor="b"/>
          <a:lstStyle/>
          <a:p>
            <a:pPr indent="0" marL="0">
              <a:buNone/>
            </a:pPr>
            <a:r>
              <a:rPr lang="en-US" sz="3400" b="1" dirty="0">
                <a:solidFill>
                  <a:srgbClr val="000000"/>
                </a:solidFill>
              </a:rPr>
              <a:t>49%</a:t>
            </a:r>
            <a:endParaRPr lang="en-US" sz="3400" dirty="0"/>
          </a:p>
        </p:txBody>
      </p:sp>
      <p:sp>
        <p:nvSpPr>
          <p:cNvPr id="9" name="Text 6"/>
          <p:cNvSpPr txBox="1"/>
          <p:nvPr/>
        </p:nvSpPr>
        <p:spPr>
          <a:xfrm>
            <a:off x="4343400" y="5038344"/>
            <a:ext cx="3474720" cy="566928"/>
          </a:xfrm>
          <a:prstGeom prst="rect">
            <a:avLst/>
          </a:prstGeom>
          <a:noFill/>
          <a:ln/>
        </p:spPr>
        <p:txBody>
          <a:bodyPr wrap="square" lIns="0" tIns="0" rIns="0" bIns="0" rtlCol="0" anchor="t"/>
          <a:lstStyle/>
          <a:p>
            <a:pPr indent="0" marL="0">
              <a:buNone/>
            </a:pPr>
            <a:r>
              <a:rPr lang="en-US" sz="1300" dirty="0">
                <a:solidFill>
                  <a:srgbClr val="5A5A5A"/>
                </a:solidFill>
              </a:rPr>
              <a:t>of its sensitivity is 1 to 6 tiles ahead</a:t>
            </a:r>
            <a:endParaRPr lang="en-US" sz="1300" dirty="0"/>
          </a:p>
        </p:txBody>
      </p:sp>
      <p:sp>
        <p:nvSpPr>
          <p:cNvPr id="10" name="Text 7"/>
          <p:cNvSpPr txBox="1"/>
          <p:nvPr/>
        </p:nvSpPr>
        <p:spPr>
          <a:xfrm>
            <a:off x="8138160" y="4434840"/>
            <a:ext cx="3566160" cy="566928"/>
          </a:xfrm>
          <a:prstGeom prst="rect">
            <a:avLst/>
          </a:prstGeom>
          <a:noFill/>
          <a:ln/>
        </p:spPr>
        <p:txBody>
          <a:bodyPr wrap="square" lIns="0" tIns="0" rIns="0" bIns="0" rtlCol="0" anchor="b"/>
          <a:lstStyle/>
          <a:p>
            <a:pPr indent="0" marL="0">
              <a:buNone/>
            </a:pPr>
            <a:r>
              <a:rPr lang="en-US" sz="3400" b="1" dirty="0">
                <a:solidFill>
                  <a:srgbClr val="000000"/>
                </a:solidFill>
              </a:rPr>
              <a:t>13%</a:t>
            </a:r>
            <a:endParaRPr lang="en-US" sz="3400" dirty="0"/>
          </a:p>
        </p:txBody>
      </p:sp>
      <p:sp>
        <p:nvSpPr>
          <p:cNvPr id="11" name="Text 8"/>
          <p:cNvSpPr txBox="1"/>
          <p:nvPr/>
        </p:nvSpPr>
        <p:spPr>
          <a:xfrm>
            <a:off x="8138160" y="5038344"/>
            <a:ext cx="3566160" cy="566928"/>
          </a:xfrm>
          <a:prstGeom prst="rect">
            <a:avLst/>
          </a:prstGeom>
          <a:noFill/>
          <a:ln/>
        </p:spPr>
        <p:txBody>
          <a:bodyPr wrap="square" lIns="0" tIns="0" rIns="0" bIns="0" rtlCol="0" anchor="t"/>
          <a:lstStyle/>
          <a:p>
            <a:pPr indent="0" marL="0">
              <a:buNone/>
            </a:pPr>
            <a:r>
              <a:rPr lang="en-US" sz="1300" dirty="0">
                <a:solidFill>
                  <a:srgbClr val="5A5A5A"/>
                </a:solidFill>
              </a:rPr>
              <a:t>on the 4 columns behind it</a:t>
            </a:r>
            <a:endParaRPr lang="en-US" sz="1300" dirty="0"/>
          </a:p>
        </p:txBody>
      </p:sp>
      <p:sp>
        <p:nvSpPr>
          <p:cNvPr id="12" name="Text 9"/>
          <p:cNvSpPr txBox="1"/>
          <p:nvPr/>
        </p:nvSpPr>
        <p:spPr>
          <a:xfrm>
            <a:off x="457200" y="5989320"/>
            <a:ext cx="11247120" cy="274320"/>
          </a:xfrm>
          <a:prstGeom prst="rect">
            <a:avLst/>
          </a:prstGeom>
          <a:noFill/>
          <a:ln/>
        </p:spPr>
        <p:txBody>
          <a:bodyPr wrap="square" lIns="0" tIns="0" rIns="0" bIns="0" rtlCol="0" anchor="ctr"/>
          <a:lstStyle/>
          <a:p>
            <a:pPr indent="0" marL="0">
              <a:buNone/>
            </a:pPr>
            <a:r>
              <a:rPr lang="en-US" sz="1100" i="1" dirty="0">
                <a:solidFill>
                  <a:srgbClr val="5A5A5A"/>
                </a:solidFill>
              </a:rPr>
              <a:t>average over 6,462 decisions of the 300h ghost on 25 unseen levels, difficulty 0.75</a:t>
            </a:r>
            <a:endParaRPr lang="en-US" sz="1100" dirty="0"/>
          </a:p>
        </p:txBody>
      </p:sp>
      <p:sp>
        <p:nvSpPr>
          <p:cNvPr id="14"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opening the black box</a:t>
            </a:r>
            <a:endParaRPr lang="en-US" sz="900" dirty="0"/>
          </a:p>
        </p:txBody>
      </p:sp>
      <p:sp>
        <p:nvSpPr>
          <p:cNvPr id="15"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[ 26/42 ]</a:t>
            </a:r>
            <a:endParaRPr lang="en-US" sz="9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WHAT IT IS SENSITIVE TO</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[ 05 ]</a:t>
            </a:r>
            <a:endParaRPr lang="en-US" sz="1400" dirty="0"/>
          </a:p>
        </p:txBody>
      </p:sp>
      <p:graphicFrame>
        <p:nvGraphicFramePr>
          <p:cNvPr id="4" name="Chart 0" descr=""/>
          <p:cNvGraphicFramePr/>
          <p:nvPr/>
        </p:nvGraphicFramePr>
        <p:xfrm>
          <a:off x="457200" y="960120"/>
          <a:ext cx="7406640" cy="4846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183880" y="1097280"/>
            <a:ext cx="3611880" cy="3931920"/>
          </a:xfrm>
          <a:prstGeom prst="rect">
            <a:avLst/>
          </a:prstGeom>
          <a:noFill/>
          <a:ln/>
        </p:spPr>
        <p:txBody>
          <a:bodyPr wrap="square" lIns="0" tIns="0" rIns="0" bIns="0" rtlCol="0" anchor="t"/>
          <a:lstStyle/>
          <a:p>
            <a:pPr marL="254000" indent="-254000">
              <a:spcAft>
                <a:spcPts val="1000"/>
              </a:spcAft>
              <a:buSzPct val="100000"/>
              <a:buChar char="&gt;"/>
            </a:pPr>
            <a:r>
              <a:rPr lang="en-US" b="1" dirty="0">
                <a:solidFill>
                  <a:srgbClr val="000000"/>
                </a:solidFill>
              </a:rPr>
              <a:t>spikes 48%:</a:t>
            </a:r>
            <a:pPr indent="0" marL="0">
              <a:spcAft>
                <a:spcPts val="1000"/>
              </a:spcAft>
              <a:buNone/>
            </a:pPr>
            <a:r>
              <a:rPr lang="en-US" dirty="0">
                <a:solidFill>
                  <a:srgbClr val="000000"/>
                </a:solidFill>
              </a:rPr>
              <a:t> a spike appearing ahead would change its mind most</a:t>
            </a:r>
            <a:endParaRPr lang="en-US" dirty="0"/>
          </a:p>
          <a:p>
            <a:pPr marL="254000" indent="-254000">
              <a:spcAft>
                <a:spcPts val="1000"/>
              </a:spcAft>
              <a:buSzPct val="100000"/>
              <a:buChar char="&gt;"/>
            </a:pPr>
            <a:r>
              <a:rPr lang="en-US" b="1" dirty="0">
                <a:solidFill>
                  <a:srgbClr val="000000"/>
                </a:solidFill>
              </a:rPr>
              <a:t>ground 34%:</a:t>
            </a:r>
            <a:pPr indent="0" marL="0">
              <a:spcAft>
                <a:spcPts val="1000"/>
              </a:spcAft>
              <a:buNone/>
            </a:pPr>
            <a:r>
              <a:rPr lang="en-US" dirty="0">
                <a:solidFill>
                  <a:srgbClr val="000000"/>
                </a:solidFill>
              </a:rPr>
              <a:t> where the ground starts and ends</a:t>
            </a:r>
            <a:endParaRPr lang="en-US" dirty="0"/>
          </a:p>
          <a:p>
            <a:pPr marL="254000" indent="-254000">
              <a:spcAft>
                <a:spcPts val="1000"/>
              </a:spcAft>
              <a:buSzPct val="100000"/>
              <a:buChar char="&gt;"/>
            </a:pPr>
            <a:r>
              <a:rPr lang="en-US" b="1" dirty="0">
                <a:solidFill>
                  <a:srgbClr val="000000"/>
                </a:solidFill>
              </a:rPr>
              <a:t>finish line 15%</a:t>
            </a:r>
            <a:endParaRPr lang="en-US" dirty="0"/>
          </a:p>
          <a:p>
            <a:pPr marL="254000" indent="-254000">
              <a:spcAft>
                <a:spcPts val="1000"/>
              </a:spcAft>
              <a:buSzPct val="100000"/>
              <a:buChar char="&gt;"/>
            </a:pPr>
            <a:r>
              <a:rPr lang="en-US" b="1" dirty="0">
                <a:solidFill>
                  <a:srgbClr val="000000"/>
                </a:solidFill>
              </a:rPr>
              <a:t>its own state ~2%:</a:t>
            </a:r>
            <a:pPr indent="0" marL="0">
              <a:spcAft>
                <a:spcPts val="1000"/>
              </a:spcAft>
              <a:buNone/>
            </a:pPr>
            <a:r>
              <a:rPr lang="en-US" dirty="0">
                <a:solidFill>
                  <a:srgbClr val="000000"/>
                </a:solidFill>
              </a:rPr>
              <a:t> speed and jump flags matter only in the moment before a jump</a:t>
            </a:r>
            <a:endParaRPr lang="en-US" dirty="0"/>
          </a:p>
        </p:txBody>
      </p:sp>
      <p:sp>
        <p:nvSpPr>
          <p:cNvPr id="6" name="Text 3"/>
          <p:cNvSpPr txBox="1"/>
          <p:nvPr/>
        </p:nvSpPr>
        <p:spPr>
          <a:xfrm>
            <a:off x="457200" y="5989320"/>
            <a:ext cx="11247120" cy="274320"/>
          </a:xfrm>
          <a:prstGeom prst="rect">
            <a:avLst/>
          </a:prstGeom>
          <a:noFill/>
          <a:ln/>
        </p:spPr>
        <p:txBody>
          <a:bodyPr wrap="square" lIns="0" tIns="0" rIns="0" bIns="0" rtlCol="0" anchor="ctr"/>
          <a:lstStyle/>
          <a:p>
            <a:pPr indent="0" marL="0">
              <a:buNone/>
            </a:pPr>
            <a:r>
              <a:rPr lang="en-US" sz="1100" i="1" dirty="0">
                <a:solidFill>
                  <a:srgbClr val="5A5A5A"/>
                </a:solidFill>
              </a:rPr>
              <a:t>share of the total flip-test change per input group, averaged over all decisions on unseen levels</a:t>
            </a:r>
            <a:endParaRPr lang="en-US" sz="1100" dirty="0"/>
          </a:p>
        </p:txBody>
      </p:sp>
      <p:sp>
        <p:nvSpPr>
          <p:cNvPr id="8"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opening the black box</a:t>
            </a:r>
            <a:endParaRPr lang="en-US" sz="900" dirty="0"/>
          </a:p>
        </p:txBody>
      </p:sp>
      <p:sp>
        <p:nvSpPr>
          <p:cNvPr id="9"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[ 27/42 ]</a:t>
            </a:r>
            <a:endParaRPr lang="en-US" sz="9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BLINDFOLD TEST</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[ 05 ]</a:t>
            </a:r>
            <a:endParaRPr lang="en-US" sz="1400" dirty="0"/>
          </a:p>
        </p:txBody>
      </p:sp>
      <p:graphicFrame>
        <p:nvGraphicFramePr>
          <p:cNvPr id="4" name="Chart 0" descr=""/>
          <p:cNvGraphicFramePr/>
          <p:nvPr/>
        </p:nvGraphicFramePr>
        <p:xfrm>
          <a:off x="457200" y="960120"/>
          <a:ext cx="7406640" cy="489204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183880" y="1097280"/>
            <a:ext cx="3611880" cy="4023360"/>
          </a:xfrm>
          <a:prstGeom prst="rect">
            <a:avLst/>
          </a:prstGeom>
          <a:noFill/>
          <a:ln/>
        </p:spPr>
        <p:txBody>
          <a:bodyPr wrap="square" lIns="0" tIns="0" rIns="0" bIns="0" rtlCol="0" anchor="t"/>
          <a:lstStyle/>
          <a:p>
            <a:pPr marL="254000" indent="-254000">
              <a:spcAft>
                <a:spcPts val="1000"/>
              </a:spcAft>
              <a:buSzPct val="100000"/>
              <a:buChar char="&gt;"/>
            </a:pPr>
            <a:r>
              <a:rPr lang="en-US" b="1" dirty="0">
                <a:solidFill>
                  <a:srgbClr val="000000"/>
                </a:solidFill>
              </a:rPr>
              <a:t>spikes are essential:</a:t>
            </a:r>
            <a:pPr indent="0" marL="0">
              <a:spcAft>
                <a:spcPts val="1000"/>
              </a:spcAft>
              <a:buNone/>
            </a:pPr>
            <a:r>
              <a:rPr lang="en-US" dirty="0">
                <a:solidFill>
                  <a:srgbClr val="000000"/>
                </a:solidFill>
              </a:rPr>
              <a:t> 96% -&gt; 12%</a:t>
            </a:r>
            <a:endParaRPr lang="en-US" dirty="0"/>
          </a:p>
          <a:p>
            <a:pPr marL="254000" indent="-254000">
              <a:spcAft>
                <a:spcPts val="1000"/>
              </a:spcAft>
              <a:buSzPct val="100000"/>
              <a:buChar char="&gt;"/>
            </a:pPr>
            <a:r>
              <a:rPr lang="en-US" b="1" dirty="0">
                <a:solidFill>
                  <a:srgbClr val="000000"/>
                </a:solidFill>
              </a:rPr>
              <a:t>8 tiles of look-ahead are enough</a:t>
            </a:r>
            <a:pPr indent="0" marL="0">
              <a:spcAft>
                <a:spcPts val="1000"/>
              </a:spcAft>
              <a:buNone/>
            </a:pPr>
            <a:r>
              <a:rPr lang="en-US" dirty="0">
                <a:solidFill>
                  <a:srgbClr val="000000"/>
                </a:solidFill>
              </a:rPr>
              <a:t> (99%); 2 tiles are not (20%)</a:t>
            </a:r>
            <a:endParaRPr lang="en-US" dirty="0"/>
          </a:p>
          <a:p>
            <a:pPr marL="254000" indent="-254000">
              <a:spcAft>
                <a:spcPts val="1000"/>
              </a:spcAft>
              <a:buSzPct val="100000"/>
              <a:buChar char="&gt;"/>
            </a:pPr>
            <a:r>
              <a:rPr lang="en-US" b="1" dirty="0">
                <a:solidFill>
                  <a:srgbClr val="000000"/>
                </a:solidFill>
              </a:rPr>
              <a:t>jump flags, position in tile:</a:t>
            </a:r>
            <a:pPr indent="0" marL="0">
              <a:spcAft>
                <a:spcPts val="1000"/>
              </a:spcAft>
              <a:buNone/>
            </a:pPr>
            <a:r>
              <a:rPr lang="en-US" dirty="0">
                <a:solidFill>
                  <a:srgbClr val="000000"/>
                </a:solidFill>
              </a:rPr>
              <a:t> -10 points each</a:t>
            </a:r>
            <a:endParaRPr lang="en-US" dirty="0"/>
          </a:p>
          <a:p>
            <a:pPr marL="254000" indent="-254000">
              <a:spcAft>
                <a:spcPts val="1000"/>
              </a:spcAft>
              <a:buSzPct val="100000"/>
              <a:buChar char="&gt;"/>
            </a:pPr>
            <a:r>
              <a:rPr lang="en-US" b="1" dirty="0">
                <a:solidFill>
                  <a:srgbClr val="000000"/>
                </a:solidFill>
              </a:rPr>
              <a:t>own speed, finish line:</a:t>
            </a:r>
            <a:pPr indent="0" marL="0">
              <a:spcAft>
                <a:spcPts val="1000"/>
              </a:spcAft>
              <a:buNone/>
            </a:pPr>
            <a:r>
              <a:rPr lang="en-US" dirty="0">
                <a:solidFill>
                  <a:srgbClr val="000000"/>
                </a:solidFill>
              </a:rPr>
              <a:t> hardly needed</a:t>
            </a:r>
            <a:endParaRPr lang="en-US" dirty="0"/>
          </a:p>
        </p:txBody>
      </p:sp>
      <p:sp>
        <p:nvSpPr>
          <p:cNvPr id="6" name="Text 3"/>
          <p:cNvSpPr txBox="1"/>
          <p:nvPr/>
        </p:nvSpPr>
        <p:spPr>
          <a:xfrm>
            <a:off x="457200" y="5989320"/>
            <a:ext cx="11247120" cy="274320"/>
          </a:xfrm>
          <a:prstGeom prst="rect">
            <a:avLst/>
          </a:prstGeom>
          <a:noFill/>
          <a:ln/>
        </p:spPr>
        <p:txBody>
          <a:bodyPr wrap="square" lIns="0" tIns="0" rIns="0" bIns="0" rtlCol="0" anchor="ctr"/>
          <a:lstStyle/>
          <a:p>
            <a:pPr indent="0" marL="0">
              <a:buNone/>
            </a:pPr>
            <a:r>
              <a:rPr lang="en-US" sz="1100" i="1" dirty="0">
                <a:solidFill>
                  <a:srgbClr val="5A5A5A"/>
                </a:solidFill>
              </a:rPr>
              <a:t>300h ghost, 100 unseen levels at difficulty 0.75; removed inputs read as 0 (empty air, standing still)</a:t>
            </a:r>
            <a:endParaRPr lang="en-US" sz="1100" dirty="0"/>
          </a:p>
        </p:txBody>
      </p:sp>
      <p:sp>
        <p:nvSpPr>
          <p:cNvPr id="8"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opening the black box</a:t>
            </a:r>
            <a:endParaRPr lang="en-US" sz="900" dirty="0"/>
          </a:p>
        </p:txBody>
      </p:sp>
      <p:sp>
        <p:nvSpPr>
          <p:cNvPr id="9"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[ 28/42 ]</a:t>
            </a:r>
            <a:endParaRPr lang="en-US" sz="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NEURONS LEARN DETECTORS</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[ 05 ]</a:t>
            </a:r>
            <a:endParaRPr lang="en-US" sz="1400" dirty="0"/>
          </a:p>
        </p:txBody>
      </p:sp>
      <p:pic>
        <p:nvPicPr>
          <p:cNvPr id="4" name="26_neuron_templates.png" descr="C:/Users/dynam/Desktop/rl da3/ProcGen_RL/runs/presentation/26_neuron_templates.png">    </p:cNvPr>
          <p:cNvPicPr>
            <a:picLocks noChangeAspect="1"/>
          </p:cNvPicPr>
          <p:nvPr/>
        </p:nvPicPr>
        <p:blipFill>
          <a:blip r:embed="rId1"/>
          <a:stretch>
            <a:fillRect/>
          </a:stretch>
        </p:blipFill>
        <p:spPr>
          <a:xfrm>
            <a:off x="457200" y="868680"/>
            <a:ext cx="11247120" cy="3401061"/>
          </a:xfrm>
          <a:prstGeom prst="rect">
            <a:avLst/>
          </a:prstGeom>
        </p:spPr>
      </p:pic>
      <p:sp>
        <p:nvSpPr>
          <p:cNvPr id="5" name="Shape 2"/>
          <p:cNvSpPr/>
          <p:nvPr/>
        </p:nvSpPr>
        <p:spPr>
          <a:xfrm>
            <a:off x="457200" y="868680"/>
            <a:ext cx="11247120" cy="3401061"/>
          </a:xfrm>
          <a:prstGeom prst="rect">
            <a:avLst/>
          </a:prstGeom>
          <a:ln w="12700">
            <a:solidFill>
              <a:srgbClr val="000000"/>
            </a:solidFill>
            <a:prstDash val="solid"/>
          </a:ln>
        </p:spPr>
      </p:sp>
      <p:sp>
        <p:nvSpPr>
          <p:cNvPr id="6" name="Text 3"/>
          <p:cNvSpPr txBox="1"/>
          <p:nvPr/>
        </p:nvSpPr>
        <p:spPr>
          <a:xfrm>
            <a:off x="457200" y="4526280"/>
            <a:ext cx="5760720" cy="1463040"/>
          </a:xfrm>
          <a:prstGeom prst="rect">
            <a:avLst/>
          </a:prstGeom>
          <a:noFill/>
          <a:ln/>
        </p:spPr>
        <p:txBody>
          <a:bodyPr wrap="square" lIns="0" tIns="0" rIns="0" bIns="0" rtlCol="0" anchor="t"/>
          <a:lstStyle/>
          <a:p>
            <a:pPr marL="254000" indent="-254000">
              <a:spcAft>
                <a:spcPts val="500"/>
              </a:spcAft>
              <a:buSzPct val="100000"/>
              <a:buChar char="&gt;"/>
            </a:pPr>
            <a:r>
              <a:rPr lang="en-US" b="1" dirty="0">
                <a:solidFill>
                  <a:srgbClr val="000000"/>
                </a:solidFill>
              </a:rPr>
              <a:t>neuron 21:</a:t>
            </a:r>
            <a:pPr indent="0" marL="0">
              <a:spcAft>
                <a:spcPts val="500"/>
              </a:spcAft>
              <a:buNone/>
            </a:pPr>
            <a:r>
              <a:rPr lang="en-US" dirty="0">
                <a:solidFill>
                  <a:srgbClr val="000000"/>
                </a:solidFill>
              </a:rPr>
              <a:t> the wall at the end of the level</a:t>
            </a:r>
            <a:endParaRPr lang="en-US" dirty="0"/>
          </a:p>
          <a:p>
            <a:pPr marL="254000" indent="-254000">
              <a:spcAft>
                <a:spcPts val="500"/>
              </a:spcAft>
              <a:buSzPct val="100000"/>
              <a:buChar char="&gt;"/>
            </a:pPr>
            <a:r>
              <a:rPr lang="en-US" b="1" dirty="0">
                <a:solidFill>
                  <a:srgbClr val="000000"/>
                </a:solidFill>
              </a:rPr>
              <a:t>neuron 105:</a:t>
            </a:r>
            <a:pPr indent="0" marL="0">
              <a:spcAft>
                <a:spcPts val="500"/>
              </a:spcAft>
              <a:buNone/>
            </a:pPr>
            <a:r>
              <a:rPr lang="en-US" dirty="0">
                <a:solidFill>
                  <a:srgbClr val="000000"/>
                </a:solidFill>
              </a:rPr>
              <a:t> flat ground under its feet</a:t>
            </a:r>
            <a:endParaRPr lang="en-US" dirty="0"/>
          </a:p>
          <a:p>
            <a:pPr marL="254000" indent="-254000">
              <a:spcAft>
                <a:spcPts val="500"/>
              </a:spcAft>
              <a:buSzPct val="100000"/>
              <a:buChar char="&gt;"/>
            </a:pPr>
            <a:r>
              <a:rPr lang="en-US" b="1" dirty="0">
                <a:solidFill>
                  <a:srgbClr val="000000"/>
                </a:solidFill>
              </a:rPr>
              <a:t>neuron 161:</a:t>
            </a:r>
            <a:pPr indent="0" marL="0">
              <a:spcAft>
                <a:spcPts val="500"/>
              </a:spcAft>
              <a:buNone/>
            </a:pPr>
            <a:r>
              <a:rPr lang="en-US" dirty="0">
                <a:solidFill>
                  <a:srgbClr val="000000"/>
                </a:solidFill>
              </a:rPr>
              <a:t> no ground ahead at foot level</a:t>
            </a:r>
            <a:endParaRPr lang="en-US" dirty="0"/>
          </a:p>
          <a:p>
            <a:pPr marL="254000" indent="-254000">
              <a:spcAft>
                <a:spcPts val="500"/>
              </a:spcAft>
              <a:buSzPct val="100000"/>
              <a:buChar char="&gt;"/>
            </a:pPr>
            <a:r>
              <a:rPr lang="en-US" b="1" dirty="0">
                <a:solidFill>
                  <a:srgbClr val="000000"/>
                </a:solidFill>
              </a:rPr>
              <a:t>neuron 135:</a:t>
            </a:r>
            <a:pPr indent="0" marL="0">
              <a:spcAft>
                <a:spcPts val="500"/>
              </a:spcAft>
              <a:buNone/>
            </a:pPr>
            <a:r>
              <a:rPr lang="en-US" dirty="0">
                <a:solidFill>
                  <a:srgbClr val="000000"/>
                </a:solidFill>
              </a:rPr>
              <a:t> a step up ahead</a:t>
            </a:r>
            <a:endParaRPr lang="en-US" dirty="0"/>
          </a:p>
        </p:txBody>
      </p:sp>
      <p:sp>
        <p:nvSpPr>
          <p:cNvPr id="7" name="Shape 4"/>
          <p:cNvSpPr/>
          <p:nvPr/>
        </p:nvSpPr>
        <p:spPr>
          <a:xfrm>
            <a:off x="6656832" y="4553712"/>
            <a:ext cx="5166360" cy="1508760"/>
          </a:xfrm>
          <a:prstGeom prst="rect">
            <a:avLst/>
          </a:prstGeom>
          <a:solidFill>
            <a:srgbClr val="000000"/>
          </a:solidFill>
          <a:ln w="9525">
            <a:solidFill>
              <a:srgbClr val="000000"/>
            </a:solidFill>
            <a:prstDash val="solid"/>
          </a:ln>
        </p:spPr>
      </p:sp>
      <p:sp>
        <p:nvSpPr>
          <p:cNvPr id="8" name="Shape 5"/>
          <p:cNvSpPr/>
          <p:nvPr/>
        </p:nvSpPr>
        <p:spPr>
          <a:xfrm>
            <a:off x="6583680" y="4480560"/>
            <a:ext cx="5166360" cy="1508760"/>
          </a:xfrm>
          <a:prstGeom prst="rect">
            <a:avLst/>
          </a:prstGeom>
          <a:solidFill>
            <a:srgbClr val="FFFFFF"/>
          </a:solidFill>
          <a:ln w="19050">
            <a:solidFill>
              <a:srgbClr val="000000"/>
            </a:solidFill>
            <a:prstDash val="solid"/>
          </a:ln>
        </p:spPr>
      </p:sp>
      <p:sp>
        <p:nvSpPr>
          <p:cNvPr id="9" name="Shape 6"/>
          <p:cNvSpPr/>
          <p:nvPr/>
        </p:nvSpPr>
        <p:spPr>
          <a:xfrm>
            <a:off x="6583680" y="4480560"/>
            <a:ext cx="5166360" cy="347472"/>
          </a:xfrm>
          <a:prstGeom prst="rect">
            <a:avLst/>
          </a:prstGeom>
          <a:solidFill>
            <a:srgbClr val="000000"/>
          </a:solidFill>
          <a:ln w="19050">
            <a:solidFill>
              <a:srgbClr val="000000"/>
            </a:solidFill>
            <a:prstDash val="solid"/>
          </a:ln>
        </p:spPr>
      </p:sp>
      <p:sp>
        <p:nvSpPr>
          <p:cNvPr id="10" name="Text 7"/>
          <p:cNvSpPr txBox="1"/>
          <p:nvPr/>
        </p:nvSpPr>
        <p:spPr>
          <a:xfrm>
            <a:off x="6711696" y="4480560"/>
            <a:ext cx="4910328" cy="347472"/>
          </a:xfrm>
          <a:prstGeom prst="rect">
            <a:avLst/>
          </a:prstGeom>
          <a:noFill/>
          <a:ln/>
        </p:spPr>
        <p:txBody>
          <a:bodyPr wrap="square" lIns="0" tIns="0" rIns="0" bIns="0" rtlCol="0" anchor="ctr"/>
          <a:lstStyle/>
          <a:p>
            <a:pPr algn="l" indent="0" marL="0">
              <a:buNone/>
            </a:pPr>
            <a:r>
              <a:rPr lang="en-US" sz="1300" b="1" dirty="0">
                <a:solidFill>
                  <a:srgbClr val="FFFFFF"/>
                </a:solidFill>
              </a:rPr>
              <a:t>&gt; fewer, sharper neurons</a:t>
            </a:r>
            <a:endParaRPr lang="en-US" sz="1300" dirty="0"/>
          </a:p>
        </p:txBody>
      </p:sp>
      <p:sp>
        <p:nvSpPr>
          <p:cNvPr id="11" name="Text 8"/>
          <p:cNvSpPr txBox="1"/>
          <p:nvPr/>
        </p:nvSpPr>
        <p:spPr>
          <a:xfrm>
            <a:off x="6748272" y="4937760"/>
            <a:ext cx="4837176" cy="941832"/>
          </a:xfrm>
          <a:prstGeom prst="rect">
            <a:avLst/>
          </a:prstGeom>
          <a:noFill/>
          <a:ln/>
        </p:spPr>
        <p:txBody>
          <a:bodyPr wrap="square" lIns="0" tIns="0" rIns="0" bIns="0" rtlCol="0" anchor="t"/>
          <a:lstStyle/>
          <a:p>
            <a:pPr indent="0" marL="0">
              <a:spcAft>
                <a:spcPts val="500"/>
              </a:spcAft>
              <a:buNone/>
            </a:pPr>
            <a:r>
              <a:rPr lang="en-US" sz="1200" dirty="0">
                <a:solidFill>
                  <a:srgbClr val="000000"/>
                </a:solidFill>
                <a:latin typeface="Consolas" pitchFamily="34" charset="0"/>
                <a:ea typeface="Consolas" pitchFamily="34" charset="-122"/>
                <a:cs typeface="Consolas" pitchFamily="34" charset="-120"/>
              </a:rPr>
              <a:t>Active per decision (layer 1 / 2): untrained 138 / 135, 30h 93 / 110, 300h 66 / 30. Training made it specialised.</a:t>
            </a:r>
            <a:endParaRPr lang="en-US" sz="1200" dirty="0"/>
          </a:p>
        </p:txBody>
      </p:sp>
      <p:sp>
        <p:nvSpPr>
          <p:cNvPr id="13"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opening the black box</a:t>
            </a:r>
            <a:endParaRPr lang="en-US" sz="900" dirty="0"/>
          </a:p>
        </p:txBody>
      </p:sp>
      <p:sp>
        <p:nvSpPr>
          <p:cNvPr id="14"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[ 29/42 ]</a:t>
            </a:r>
            <a:endParaRPr lang="en-US" sz="9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WHAT IT LEARNED TO PRESS</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[ 05 ]</a:t>
            </a:r>
            <a:endParaRPr lang="en-US" sz="1400" dirty="0"/>
          </a:p>
        </p:txBody>
      </p:sp>
      <p:pic>
        <p:nvPicPr>
          <p:cNvPr id="4" name="24_action_usage.png" descr="C:/Users/dynam/Desktop/rl da3/ProcGen_RL/runs/presentation/24_action_usage.png">    </p:cNvPr>
          <p:cNvPicPr>
            <a:picLocks noChangeAspect="1"/>
          </p:cNvPicPr>
          <p:nvPr/>
        </p:nvPicPr>
        <p:blipFill>
          <a:blip r:embed="rId1"/>
          <a:stretch>
            <a:fillRect/>
          </a:stretch>
        </p:blipFill>
        <p:spPr>
          <a:xfrm>
            <a:off x="457200" y="868680"/>
            <a:ext cx="7680960" cy="3531057"/>
          </a:xfrm>
          <a:prstGeom prst="rect">
            <a:avLst/>
          </a:prstGeom>
        </p:spPr>
      </p:pic>
      <p:sp>
        <p:nvSpPr>
          <p:cNvPr id="5" name="Shape 2"/>
          <p:cNvSpPr/>
          <p:nvPr/>
        </p:nvSpPr>
        <p:spPr>
          <a:xfrm>
            <a:off x="457200" y="868680"/>
            <a:ext cx="7680960" cy="3531057"/>
          </a:xfrm>
          <a:prstGeom prst="rect">
            <a:avLst/>
          </a:prstGeom>
          <a:ln w="12700">
            <a:solidFill>
              <a:srgbClr val="000000"/>
            </a:solidFill>
            <a:prstDash val="solid"/>
          </a:ln>
        </p:spPr>
      </p:sp>
      <p:sp>
        <p:nvSpPr>
          <p:cNvPr id="6" name="Text 3"/>
          <p:cNvSpPr txBox="1"/>
          <p:nvPr/>
        </p:nvSpPr>
        <p:spPr>
          <a:xfrm>
            <a:off x="8412480" y="1051560"/>
            <a:ext cx="3383280" cy="4572000"/>
          </a:xfrm>
          <a:prstGeom prst="rect">
            <a:avLst/>
          </a:prstGeom>
          <a:noFill/>
          <a:ln/>
        </p:spPr>
        <p:txBody>
          <a:bodyPr wrap="square" lIns="0" tIns="0" rIns="0" bIns="0" rtlCol="0" anchor="t"/>
          <a:lstStyle/>
          <a:p>
            <a:pPr marL="254000" indent="-254000">
              <a:spcAft>
                <a:spcPts val="1200"/>
              </a:spcAft>
              <a:buSzPct val="100000"/>
              <a:buChar char="&gt;"/>
            </a:pPr>
            <a:r>
              <a:rPr lang="en-US" b="1" dirty="0">
                <a:solidFill>
                  <a:srgbClr val="000000"/>
                </a:solidFill>
              </a:rPr>
              <a:t>0 min:</a:t>
            </a:r>
            <a:pPr indent="0" marL="0">
              <a:spcAft>
                <a:spcPts val="1200"/>
              </a:spcAft>
              <a:buNone/>
            </a:pPr>
            <a:r>
              <a:rPr lang="en-US" dirty="0">
                <a:solidFill>
                  <a:srgbClr val="000000"/>
                </a:solidFill>
              </a:rPr>
              <a:t> idle 96%; random weights happen to favour idle</a:t>
            </a:r>
            <a:endParaRPr lang="en-US" dirty="0"/>
          </a:p>
          <a:p>
            <a:pPr marL="254000" indent="-254000">
              <a:spcAft>
                <a:spcPts val="1200"/>
              </a:spcAft>
              <a:buSzPct val="100000"/>
              <a:buChar char="&gt;"/>
            </a:pPr>
            <a:r>
              <a:rPr lang="en-US" b="1" dirty="0">
                <a:solidFill>
                  <a:srgbClr val="000000"/>
                </a:solidFill>
              </a:rPr>
              <a:t>30 min:</a:t>
            </a:r>
            <a:pPr indent="0" marL="0">
              <a:spcAft>
                <a:spcPts val="1200"/>
              </a:spcAft>
              <a:buNone/>
            </a:pPr>
            <a:r>
              <a:rPr lang="en-US" dirty="0">
                <a:solidFill>
                  <a:srgbClr val="000000"/>
                </a:solidFill>
              </a:rPr>
              <a:t> right+jump 100%; hop over everything</a:t>
            </a:r>
            <a:endParaRPr lang="en-US" dirty="0"/>
          </a:p>
          <a:p>
            <a:pPr marL="254000" indent="-254000">
              <a:spcAft>
                <a:spcPts val="1200"/>
              </a:spcAft>
              <a:buSzPct val="100000"/>
              <a:buChar char="&gt;"/>
            </a:pPr>
            <a:r>
              <a:rPr lang="en-US" b="1" dirty="0">
                <a:solidFill>
                  <a:srgbClr val="000000"/>
                </a:solidFill>
              </a:rPr>
              <a:t>300 h:</a:t>
            </a:r>
            <a:pPr indent="0" marL="0">
              <a:spcAft>
                <a:spcPts val="1200"/>
              </a:spcAft>
              <a:buNone/>
            </a:pPr>
            <a:r>
              <a:rPr lang="en-US" dirty="0">
                <a:solidFill>
                  <a:srgbClr val="000000"/>
                </a:solidFill>
              </a:rPr>
              <a:t> right 59%, right+jump 35%, idle 5%; jumps only when needed</a:t>
            </a:r>
            <a:endParaRPr lang="en-US" dirty="0"/>
          </a:p>
          <a:p>
            <a:pPr marL="254000" indent="-254000">
              <a:spcAft>
                <a:spcPts val="1200"/>
              </a:spcAft>
              <a:buSzPct val="100000"/>
              <a:buChar char="&gt;"/>
            </a:pPr>
            <a:r>
              <a:rPr lang="en-US" b="1" dirty="0">
                <a:solidFill>
                  <a:srgbClr val="000000"/>
                </a:solidFill>
              </a:rPr>
              <a:t>left is never used:</a:t>
            </a:r>
            <a:pPr indent="0" marL="0">
              <a:spcAft>
                <a:spcPts val="1200"/>
              </a:spcAft>
              <a:buNone/>
            </a:pPr>
            <a:r>
              <a:rPr lang="en-US" dirty="0">
                <a:solidFill>
                  <a:srgbClr val="000000"/>
                </a:solidFill>
              </a:rPr>
              <a:t> nobody told it which way to go</a:t>
            </a:r>
            <a:endParaRPr lang="en-US" dirty="0"/>
          </a:p>
        </p:txBody>
      </p:sp>
      <p:sp>
        <p:nvSpPr>
          <p:cNvPr id="8"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opening the black box</a:t>
            </a:r>
            <a:endParaRPr lang="en-US" sz="900" dirty="0"/>
          </a:p>
        </p:txBody>
      </p:sp>
      <p:sp>
        <p:nvSpPr>
          <p:cNvPr id="9"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[ 30/42 ]</a:t>
            </a:r>
            <a:endParaRPr lang="en-US" sz="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A FAILURE, EXPLAINED</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[ 05 ]</a:t>
            </a:r>
            <a:endParaRPr lang="en-US" sz="1400" dirty="0"/>
          </a:p>
        </p:txBody>
      </p:sp>
      <p:pic>
        <p:nvPicPr>
          <p:cNvPr id="4" name="28_debug_5h.png" descr="C:/Users/dynam/Desktop/rl da3/ProcGen_RL/runs/presentation/28_debug_5h.png">    </p:cNvPr>
          <p:cNvPicPr>
            <a:picLocks noChangeAspect="1"/>
          </p:cNvPicPr>
          <p:nvPr/>
        </p:nvPicPr>
        <p:blipFill>
          <a:blip r:embed="rId1"/>
          <a:stretch>
            <a:fillRect/>
          </a:stretch>
        </p:blipFill>
        <p:spPr>
          <a:xfrm>
            <a:off x="411480" y="868680"/>
            <a:ext cx="8001000" cy="4333875"/>
          </a:xfrm>
          <a:prstGeom prst="rect">
            <a:avLst/>
          </a:prstGeom>
        </p:spPr>
      </p:pic>
      <p:sp>
        <p:nvSpPr>
          <p:cNvPr id="5" name="Shape 2"/>
          <p:cNvSpPr/>
          <p:nvPr/>
        </p:nvSpPr>
        <p:spPr>
          <a:xfrm>
            <a:off x="411480" y="868680"/>
            <a:ext cx="8001000" cy="4333875"/>
          </a:xfrm>
          <a:prstGeom prst="rect">
            <a:avLst/>
          </a:prstGeom>
          <a:ln w="12700">
            <a:solidFill>
              <a:srgbClr val="000000"/>
            </a:solidFill>
            <a:prstDash val="solid"/>
          </a:ln>
        </p:spPr>
      </p:sp>
      <p:sp>
        <p:nvSpPr>
          <p:cNvPr id="6" name="Text 3"/>
          <p:cNvSpPr txBox="1"/>
          <p:nvPr/>
        </p:nvSpPr>
        <p:spPr>
          <a:xfrm>
            <a:off x="8641080" y="960120"/>
            <a:ext cx="3200400" cy="4297680"/>
          </a:xfrm>
          <a:prstGeom prst="rect">
            <a:avLst/>
          </a:prstGeom>
          <a:noFill/>
          <a:ln/>
        </p:spPr>
        <p:txBody>
          <a:bodyPr wrap="square" lIns="0" tIns="0" rIns="0" bIns="0" rtlCol="0" anchor="t"/>
          <a:lstStyle/>
          <a:p>
            <a:pPr marL="254000" indent="-254000">
              <a:spcAft>
                <a:spcPts val="1200"/>
              </a:spcAft>
              <a:buSzPct val="100000"/>
              <a:buChar char="&gt;"/>
            </a:pPr>
            <a:r>
              <a:rPr lang="en-US" b="1" dirty="0">
                <a:solidFill>
                  <a:srgbClr val="000000"/>
                </a:solidFill>
              </a:rPr>
              <a:t>5h ghost at the edge of a pit, 9.8 s in</a:t>
            </a:r>
            <a:endParaRPr lang="en-US" dirty="0"/>
          </a:p>
          <a:p>
            <a:pPr marL="254000" indent="-254000">
              <a:spcAft>
                <a:spcPts val="1200"/>
              </a:spcAft>
              <a:buSzPct val="100000"/>
              <a:buChar char="&gt;"/>
            </a:pPr>
            <a:r>
              <a:rPr lang="en-US" b="1" dirty="0">
                <a:solidFill>
                  <a:srgbClr val="000000"/>
                </a:solidFill>
              </a:rPr>
              <a:t>undecided:</a:t>
            </a:r>
            <a:pPr indent="0" marL="0">
              <a:spcAft>
                <a:spcPts val="1200"/>
              </a:spcAft>
              <a:buNone/>
            </a:pPr>
            <a:r>
              <a:rPr lang="en-US" dirty="0">
                <a:solidFill>
                  <a:srgbClr val="000000"/>
                </a:solidFill>
              </a:rPr>
              <a:t> right 47% vs right+jump 42%</a:t>
            </a:r>
            <a:endParaRPr lang="en-US" dirty="0"/>
          </a:p>
          <a:p>
            <a:pPr marL="254000" indent="-254000">
              <a:spcAft>
                <a:spcPts val="1200"/>
              </a:spcAft>
              <a:buSzPct val="100000"/>
              <a:buChar char="&gt;"/>
            </a:pPr>
            <a:r>
              <a:rPr lang="en-US" b="1" dirty="0">
                <a:solidFill>
                  <a:srgbClr val="000000"/>
                </a:solidFill>
              </a:rPr>
              <a:t>busy network:</a:t>
            </a:r>
            <a:pPr indent="0" marL="0">
              <a:spcAft>
                <a:spcPts val="1200"/>
              </a:spcAft>
              <a:buNone/>
            </a:pPr>
            <a:r>
              <a:rPr lang="en-US" dirty="0">
                <a:solidFill>
                  <a:srgbClr val="000000"/>
                </a:solidFill>
              </a:rPr>
              <a:t> 151 of 256 neurons fire; the 300h ghost needs about 60</a:t>
            </a:r>
            <a:endParaRPr lang="en-US" dirty="0"/>
          </a:p>
          <a:p>
            <a:pPr marL="254000" indent="-254000">
              <a:spcAft>
                <a:spcPts val="1200"/>
              </a:spcAft>
              <a:buSzPct val="100000"/>
              <a:buChar char="&gt;"/>
            </a:pPr>
            <a:r>
              <a:rPr lang="en-US" b="1" dirty="0">
                <a:solidFill>
                  <a:srgbClr val="000000"/>
                </a:solidFill>
              </a:rPr>
              <a:t>result:</a:t>
            </a:r>
            <a:pPr indent="0" marL="0">
              <a:spcAft>
                <a:spcPts val="1200"/>
              </a:spcAft>
              <a:buNone/>
            </a:pPr>
            <a:r>
              <a:rPr lang="en-US" dirty="0">
                <a:solidFill>
                  <a:srgbClr val="000000"/>
                </a:solidFill>
              </a:rPr>
              <a:t> it runs off the edge; its critic falls from 5.3 to 0.5</a:t>
            </a:r>
            <a:endParaRPr lang="en-US" dirty="0"/>
          </a:p>
        </p:txBody>
      </p:sp>
      <p:sp>
        <p:nvSpPr>
          <p:cNvPr id="7" name="Shape 4"/>
          <p:cNvSpPr/>
          <p:nvPr/>
        </p:nvSpPr>
        <p:spPr>
          <a:xfrm>
            <a:off x="411480" y="5440680"/>
            <a:ext cx="11384280" cy="502920"/>
          </a:xfrm>
          <a:prstGeom prst="rect">
            <a:avLst/>
          </a:prstGeom>
          <a:solidFill>
            <a:srgbClr val="000000"/>
          </a:solidFill>
          <a:ln w="12700">
            <a:solidFill>
              <a:srgbClr val="000000"/>
            </a:solidFill>
            <a:prstDash val="solid"/>
          </a:ln>
        </p:spPr>
      </p:sp>
      <p:sp>
        <p:nvSpPr>
          <p:cNvPr id="8" name="Text 5"/>
          <p:cNvSpPr txBox="1"/>
          <p:nvPr/>
        </p:nvSpPr>
        <p:spPr>
          <a:xfrm>
            <a:off x="548640" y="5440680"/>
            <a:ext cx="11109960" cy="502920"/>
          </a:xfrm>
          <a:prstGeom prst="rect">
            <a:avLst/>
          </a:prstGeom>
          <a:noFill/>
          <a:ln/>
        </p:spPr>
        <p:txBody>
          <a:bodyPr wrap="square" lIns="0" tIns="0" rIns="0" bIns="0" rtlCol="0" anchor="ctr"/>
          <a:lstStyle/>
          <a:p>
            <a:pPr algn="ctr" indent="0" marL="0">
              <a:buNone/>
            </a:pPr>
            <a:r>
              <a:rPr lang="en-US" sz="1400" b="1" dirty="0">
                <a:solidFill>
                  <a:srgbClr val="FFFFFF"/>
                </a:solidFill>
              </a:rPr>
              <a:t>same level, same moment: the 300h ghost is 99% sure and jumps in time</a:t>
            </a:r>
            <a:endParaRPr lang="en-US" sz="1400" dirty="0"/>
          </a:p>
        </p:txBody>
      </p:sp>
      <p:sp>
        <p:nvSpPr>
          <p:cNvPr id="10"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opening the black box</a:t>
            </a:r>
            <a:endParaRPr lang="en-US" sz="900" dirty="0"/>
          </a:p>
        </p:txBody>
      </p:sp>
      <p:sp>
        <p:nvSpPr>
          <p:cNvPr id="11"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[ 31/42 ]</a:t>
            </a:r>
            <a:endParaRPr lang="en-US" sz="9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txBox="1"/>
          <p:nvPr/>
        </p:nvSpPr>
        <p:spPr>
          <a:xfrm>
            <a:off x="822960" y="2331720"/>
            <a:ext cx="7315200" cy="365760"/>
          </a:xfrm>
          <a:prstGeom prst="rect">
            <a:avLst/>
          </a:prstGeom>
          <a:noFill/>
          <a:ln/>
        </p:spPr>
        <p:txBody>
          <a:bodyPr wrap="square" lIns="0" tIns="0" rIns="0" bIns="0" rtlCol="0" anchor="ctr"/>
          <a:lstStyle/>
          <a:p>
            <a:pPr indent="0" marL="0">
              <a:buNone/>
            </a:pPr>
            <a:r>
              <a:rPr lang="en-US" sz="1600" dirty="0">
                <a:solidFill>
                  <a:srgbClr val="D9D9D9"/>
                </a:solidFill>
              </a:rPr>
              <a:t>&gt; cd section_06</a:t>
            </a:r>
            <a:endParaRPr lang="en-US" sz="1600" dirty="0"/>
          </a:p>
        </p:txBody>
      </p:sp>
      <p:sp>
        <p:nvSpPr>
          <p:cNvPr id="3" name="Text 1"/>
          <p:cNvSpPr txBox="1"/>
          <p:nvPr/>
        </p:nvSpPr>
        <p:spPr>
          <a:xfrm>
            <a:off x="822960" y="2697480"/>
            <a:ext cx="7315200" cy="1143000"/>
          </a:xfrm>
          <a:prstGeom prst="rect">
            <a:avLst/>
          </a:prstGeom>
          <a:noFill/>
          <a:ln/>
        </p:spPr>
        <p:txBody>
          <a:bodyPr wrap="square" lIns="0" tIns="0" rIns="0" bIns="0" rtlCol="0" anchor="ctr"/>
          <a:lstStyle/>
          <a:p>
            <a:pPr indent="0" marL="0">
              <a:buNone/>
            </a:pPr>
            <a:r>
              <a:rPr lang="en-US" sz="8000" b="1" dirty="0">
                <a:solidFill>
                  <a:srgbClr val="FFFFFF"/>
                </a:solidFill>
              </a:rPr>
              <a:t>06</a:t>
            </a:r>
            <a:endParaRPr lang="en-US" sz="8000" dirty="0"/>
          </a:p>
        </p:txBody>
      </p:sp>
      <p:sp>
        <p:nvSpPr>
          <p:cNvPr id="4" name="Text 2"/>
          <p:cNvSpPr txBox="1"/>
          <p:nvPr/>
        </p:nvSpPr>
        <p:spPr>
          <a:xfrm>
            <a:off x="822960" y="3840480"/>
            <a:ext cx="10515600" cy="685800"/>
          </a:xfrm>
          <a:prstGeom prst="rect">
            <a:avLst/>
          </a:prstGeom>
          <a:noFill/>
          <a:ln/>
        </p:spPr>
        <p:txBody>
          <a:bodyPr wrap="square" lIns="0" tIns="0" rIns="0" bIns="0" rtlCol="0" anchor="ctr"/>
          <a:lstStyle/>
          <a:p>
            <a:pPr indent="0" marL="0">
              <a:buNone/>
            </a:pPr>
            <a:r>
              <a:rPr lang="en-US" sz="3400" b="1" dirty="0">
                <a:solidFill>
                  <a:srgbClr val="FFFFFF"/>
                </a:solidFill>
              </a:rPr>
              <a:t>RESULTS</a:t>
            </a:r>
            <a:pPr indent="0" marL="0">
              <a:buNone/>
            </a:pPr>
            <a:r>
              <a:rPr lang="en-US" sz="3400" b="1" dirty="0">
                <a:solidFill>
                  <a:srgbClr val="FFFFFF"/>
                </a:solidFill>
              </a:rPr>
              <a:t>█</a:t>
            </a:r>
            <a:endParaRPr lang="en-US" sz="34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ONE NIGHT ON A LAPTOP</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[ 06 ]</a:t>
            </a:r>
            <a:endParaRPr lang="en-US" sz="1400" dirty="0"/>
          </a:p>
        </p:txBody>
      </p:sp>
      <p:sp>
        <p:nvSpPr>
          <p:cNvPr id="4" name="Shape 2"/>
          <p:cNvSpPr/>
          <p:nvPr/>
        </p:nvSpPr>
        <p:spPr>
          <a:xfrm>
            <a:off x="530352" y="1536192"/>
            <a:ext cx="2651760" cy="2926080"/>
          </a:xfrm>
          <a:prstGeom prst="rect">
            <a:avLst/>
          </a:prstGeom>
          <a:solidFill>
            <a:srgbClr val="000000"/>
          </a:solidFill>
          <a:ln w="9525">
            <a:solidFill>
              <a:srgbClr val="000000"/>
            </a:solidFill>
            <a:prstDash val="solid"/>
          </a:ln>
        </p:spPr>
      </p:sp>
      <p:sp>
        <p:nvSpPr>
          <p:cNvPr id="5" name="Shape 3"/>
          <p:cNvSpPr/>
          <p:nvPr/>
        </p:nvSpPr>
        <p:spPr>
          <a:xfrm>
            <a:off x="457200" y="1463040"/>
            <a:ext cx="2651760" cy="2926080"/>
          </a:xfrm>
          <a:prstGeom prst="rect">
            <a:avLst/>
          </a:prstGeom>
          <a:solidFill>
            <a:srgbClr val="FFFFFF"/>
          </a:solidFill>
          <a:ln w="19050">
            <a:solidFill>
              <a:srgbClr val="000000"/>
            </a:solidFill>
            <a:prstDash val="solid"/>
          </a:ln>
        </p:spPr>
      </p:sp>
      <p:sp>
        <p:nvSpPr>
          <p:cNvPr id="6" name="Shape 4"/>
          <p:cNvSpPr/>
          <p:nvPr/>
        </p:nvSpPr>
        <p:spPr>
          <a:xfrm>
            <a:off x="457200" y="1463040"/>
            <a:ext cx="2651760" cy="347472"/>
          </a:xfrm>
          <a:prstGeom prst="rect">
            <a:avLst/>
          </a:prstGeom>
          <a:solidFill>
            <a:srgbClr val="000000"/>
          </a:solidFill>
          <a:ln w="19050">
            <a:solidFill>
              <a:srgbClr val="000000"/>
            </a:solidFill>
            <a:prstDash val="solid"/>
          </a:ln>
        </p:spPr>
      </p:sp>
      <p:sp>
        <p:nvSpPr>
          <p:cNvPr id="7" name="Text 5"/>
          <p:cNvSpPr txBox="1"/>
          <p:nvPr/>
        </p:nvSpPr>
        <p:spPr>
          <a:xfrm>
            <a:off x="585216" y="1463040"/>
            <a:ext cx="2395728" cy="347472"/>
          </a:xfrm>
          <a:prstGeom prst="rect">
            <a:avLst/>
          </a:prstGeom>
          <a:noFill/>
          <a:ln/>
        </p:spPr>
        <p:txBody>
          <a:bodyPr wrap="square" lIns="0" tIns="0" rIns="0" bIns="0" rtlCol="0" anchor="ctr"/>
          <a:lstStyle/>
          <a:p>
            <a:pPr algn="l" indent="0" marL="0">
              <a:buNone/>
            </a:pPr>
            <a:r>
              <a:rPr lang="en-US" sz="1300" b="1" dirty="0">
                <a:solidFill>
                  <a:srgbClr val="FFFFFF"/>
                </a:solidFill>
              </a:rPr>
              <a:t>&gt; main run</a:t>
            </a:r>
            <a:endParaRPr lang="en-US" sz="1300" dirty="0"/>
          </a:p>
        </p:txBody>
      </p:sp>
      <p:sp>
        <p:nvSpPr>
          <p:cNvPr id="8" name="Text 6"/>
          <p:cNvSpPr txBox="1"/>
          <p:nvPr/>
        </p:nvSpPr>
        <p:spPr>
          <a:xfrm>
            <a:off x="621792" y="1920240"/>
            <a:ext cx="2322576" cy="2359152"/>
          </a:xfrm>
          <a:prstGeom prst="rect">
            <a:avLst/>
          </a:prstGeom>
          <a:noFill/>
          <a:ln/>
        </p:spPr>
        <p:txBody>
          <a:bodyPr wrap="square" lIns="0" tIns="0" rIns="0" bIns="0" rtlCol="0" anchor="t"/>
          <a:lstStyle/>
          <a:p>
            <a:pPr indent="0" marL="0">
              <a:spcAft>
                <a:spcPts val="500"/>
              </a:spcAft>
              <a:buNone/>
            </a:pPr>
            <a:r>
              <a:rPr lang="en-US" sz="4400" b="1" dirty="0">
                <a:solidFill>
                  <a:srgbClr val="000000"/>
                </a:solidFill>
                <a:latin typeface="Consolas" pitchFamily="34" charset="0"/>
                <a:ea typeface="Consolas" pitchFamily="34" charset="-122"/>
                <a:cs typeface="Consolas" pitchFamily="34" charset="-120"/>
              </a:rPr>
              <a:t>300 h</a:t>
            </a:r>
            <a:endParaRPr lang="en-US" sz="1400" dirty="0"/>
          </a:p>
          <a:p>
            <a:pPr indent="0" marL="0">
              <a:spcAft>
                <a:spcPts val="500"/>
              </a:spcAft>
              <a:buNone/>
            </a:pPr>
            <a:r>
              <a:rPr lang="en-US" sz="1000" dirty="0">
                <a:solidFill>
                  <a:srgbClr val="000000"/>
                </a:solidFill>
                <a:latin typeface="Consolas" pitchFamily="34" charset="0"/>
                <a:ea typeface="Consolas" pitchFamily="34" charset="-122"/>
                <a:cs typeface="Consolas" pitchFamily="34" charset="-120"/>
              </a:rPr>
              <a:t> </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of simulated play:</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16.2 million decisions</a:t>
            </a:r>
            <a:endParaRPr lang="en-US" sz="1400" dirty="0"/>
          </a:p>
        </p:txBody>
      </p:sp>
      <p:sp>
        <p:nvSpPr>
          <p:cNvPr id="9" name="Shape 7"/>
          <p:cNvSpPr/>
          <p:nvPr/>
        </p:nvSpPr>
        <p:spPr>
          <a:xfrm>
            <a:off x="3392424" y="1536192"/>
            <a:ext cx="2651760" cy="2926080"/>
          </a:xfrm>
          <a:prstGeom prst="rect">
            <a:avLst/>
          </a:prstGeom>
          <a:solidFill>
            <a:srgbClr val="000000"/>
          </a:solidFill>
          <a:ln w="9525">
            <a:solidFill>
              <a:srgbClr val="000000"/>
            </a:solidFill>
            <a:prstDash val="solid"/>
          </a:ln>
        </p:spPr>
      </p:sp>
      <p:sp>
        <p:nvSpPr>
          <p:cNvPr id="10" name="Shape 8"/>
          <p:cNvSpPr/>
          <p:nvPr/>
        </p:nvSpPr>
        <p:spPr>
          <a:xfrm>
            <a:off x="3319272" y="1463040"/>
            <a:ext cx="2651760" cy="2926080"/>
          </a:xfrm>
          <a:prstGeom prst="rect">
            <a:avLst/>
          </a:prstGeom>
          <a:solidFill>
            <a:srgbClr val="FFFFFF"/>
          </a:solidFill>
          <a:ln w="19050">
            <a:solidFill>
              <a:srgbClr val="000000"/>
            </a:solidFill>
            <a:prstDash val="solid"/>
          </a:ln>
        </p:spPr>
      </p:sp>
      <p:sp>
        <p:nvSpPr>
          <p:cNvPr id="11" name="Shape 9"/>
          <p:cNvSpPr/>
          <p:nvPr/>
        </p:nvSpPr>
        <p:spPr>
          <a:xfrm>
            <a:off x="3319272" y="1463040"/>
            <a:ext cx="2651760" cy="347472"/>
          </a:xfrm>
          <a:prstGeom prst="rect">
            <a:avLst/>
          </a:prstGeom>
          <a:solidFill>
            <a:srgbClr val="000000"/>
          </a:solidFill>
          <a:ln w="19050">
            <a:solidFill>
              <a:srgbClr val="000000"/>
            </a:solidFill>
            <a:prstDash val="solid"/>
          </a:ln>
        </p:spPr>
      </p:sp>
      <p:sp>
        <p:nvSpPr>
          <p:cNvPr id="12" name="Text 10"/>
          <p:cNvSpPr txBox="1"/>
          <p:nvPr/>
        </p:nvSpPr>
        <p:spPr>
          <a:xfrm>
            <a:off x="3447288" y="1463040"/>
            <a:ext cx="2395728" cy="347472"/>
          </a:xfrm>
          <a:prstGeom prst="rect">
            <a:avLst/>
          </a:prstGeom>
          <a:noFill/>
          <a:ln/>
        </p:spPr>
        <p:txBody>
          <a:bodyPr wrap="square" lIns="0" tIns="0" rIns="0" bIns="0" rtlCol="0" anchor="ctr"/>
          <a:lstStyle/>
          <a:p>
            <a:pPr algn="l" indent="0" marL="0">
              <a:buNone/>
            </a:pPr>
            <a:r>
              <a:rPr lang="en-US" sz="1300" b="1" dirty="0">
                <a:solidFill>
                  <a:srgbClr val="FFFFFF"/>
                </a:solidFill>
              </a:rPr>
              <a:t>&gt; main run</a:t>
            </a:r>
            <a:endParaRPr lang="en-US" sz="1300" dirty="0"/>
          </a:p>
        </p:txBody>
      </p:sp>
      <p:sp>
        <p:nvSpPr>
          <p:cNvPr id="13" name="Text 11"/>
          <p:cNvSpPr txBox="1"/>
          <p:nvPr/>
        </p:nvSpPr>
        <p:spPr>
          <a:xfrm>
            <a:off x="3483864" y="1920240"/>
            <a:ext cx="2322576" cy="2359152"/>
          </a:xfrm>
          <a:prstGeom prst="rect">
            <a:avLst/>
          </a:prstGeom>
          <a:noFill/>
          <a:ln/>
        </p:spPr>
        <p:txBody>
          <a:bodyPr wrap="square" lIns="0" tIns="0" rIns="0" bIns="0" rtlCol="0" anchor="t"/>
          <a:lstStyle/>
          <a:p>
            <a:pPr indent="0" marL="0">
              <a:spcAft>
                <a:spcPts val="500"/>
              </a:spcAft>
              <a:buNone/>
            </a:pPr>
            <a:r>
              <a:rPr lang="en-US" sz="4400" b="1" dirty="0">
                <a:solidFill>
                  <a:srgbClr val="000000"/>
                </a:solidFill>
                <a:latin typeface="Consolas" pitchFamily="34" charset="0"/>
                <a:ea typeface="Consolas" pitchFamily="34" charset="-122"/>
                <a:cs typeface="Consolas" pitchFamily="34" charset="-120"/>
              </a:rPr>
              <a:t>4.7 h</a:t>
            </a:r>
            <a:endParaRPr lang="en-US" sz="1400" dirty="0"/>
          </a:p>
          <a:p>
            <a:pPr indent="0" marL="0">
              <a:spcAft>
                <a:spcPts val="500"/>
              </a:spcAft>
              <a:buNone/>
            </a:pPr>
            <a:r>
              <a:rPr lang="en-US" sz="1000" dirty="0">
                <a:solidFill>
                  <a:srgbClr val="000000"/>
                </a:solidFill>
                <a:latin typeface="Consolas" pitchFamily="34" charset="0"/>
                <a:ea typeface="Consolas" pitchFamily="34" charset="-122"/>
                <a:cs typeface="Consolas" pitchFamily="34" charset="-120"/>
              </a:rPr>
              <a:t> </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of real training time,</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CPU only</a:t>
            </a:r>
            <a:endParaRPr lang="en-US" sz="1400" dirty="0"/>
          </a:p>
        </p:txBody>
      </p:sp>
      <p:sp>
        <p:nvSpPr>
          <p:cNvPr id="14" name="Shape 12"/>
          <p:cNvSpPr/>
          <p:nvPr/>
        </p:nvSpPr>
        <p:spPr>
          <a:xfrm>
            <a:off x="6254496" y="1536192"/>
            <a:ext cx="2651760" cy="2926080"/>
          </a:xfrm>
          <a:prstGeom prst="rect">
            <a:avLst/>
          </a:prstGeom>
          <a:solidFill>
            <a:srgbClr val="000000"/>
          </a:solidFill>
          <a:ln w="9525">
            <a:solidFill>
              <a:srgbClr val="000000"/>
            </a:solidFill>
            <a:prstDash val="solid"/>
          </a:ln>
        </p:spPr>
      </p:sp>
      <p:sp>
        <p:nvSpPr>
          <p:cNvPr id="15" name="Shape 13"/>
          <p:cNvSpPr/>
          <p:nvPr/>
        </p:nvSpPr>
        <p:spPr>
          <a:xfrm>
            <a:off x="6181344" y="1463040"/>
            <a:ext cx="2651760" cy="2926080"/>
          </a:xfrm>
          <a:prstGeom prst="rect">
            <a:avLst/>
          </a:prstGeom>
          <a:solidFill>
            <a:srgbClr val="FFFFFF"/>
          </a:solidFill>
          <a:ln w="19050">
            <a:solidFill>
              <a:srgbClr val="000000"/>
            </a:solidFill>
            <a:prstDash val="solid"/>
          </a:ln>
        </p:spPr>
      </p:sp>
      <p:sp>
        <p:nvSpPr>
          <p:cNvPr id="16" name="Shape 14"/>
          <p:cNvSpPr/>
          <p:nvPr/>
        </p:nvSpPr>
        <p:spPr>
          <a:xfrm>
            <a:off x="6181344" y="1463040"/>
            <a:ext cx="2651760" cy="347472"/>
          </a:xfrm>
          <a:prstGeom prst="rect">
            <a:avLst/>
          </a:prstGeom>
          <a:solidFill>
            <a:srgbClr val="000000"/>
          </a:solidFill>
          <a:ln w="19050">
            <a:solidFill>
              <a:srgbClr val="000000"/>
            </a:solidFill>
            <a:prstDash val="solid"/>
          </a:ln>
        </p:spPr>
      </p:sp>
      <p:sp>
        <p:nvSpPr>
          <p:cNvPr id="17" name="Text 15"/>
          <p:cNvSpPr txBox="1"/>
          <p:nvPr/>
        </p:nvSpPr>
        <p:spPr>
          <a:xfrm>
            <a:off x="6309360" y="1463040"/>
            <a:ext cx="2395728" cy="347472"/>
          </a:xfrm>
          <a:prstGeom prst="rect">
            <a:avLst/>
          </a:prstGeom>
          <a:noFill/>
          <a:ln/>
        </p:spPr>
        <p:txBody>
          <a:bodyPr wrap="square" lIns="0" tIns="0" rIns="0" bIns="0" rtlCol="0" anchor="ctr"/>
          <a:lstStyle/>
          <a:p>
            <a:pPr algn="l" indent="0" marL="0">
              <a:buNone/>
            </a:pPr>
            <a:r>
              <a:rPr lang="en-US" sz="1300" b="1" dirty="0">
                <a:solidFill>
                  <a:srgbClr val="FFFFFF"/>
                </a:solidFill>
              </a:rPr>
              <a:t>&gt; main run</a:t>
            </a:r>
            <a:endParaRPr lang="en-US" sz="1300" dirty="0"/>
          </a:p>
        </p:txBody>
      </p:sp>
      <p:sp>
        <p:nvSpPr>
          <p:cNvPr id="18" name="Text 16"/>
          <p:cNvSpPr txBox="1"/>
          <p:nvPr/>
        </p:nvSpPr>
        <p:spPr>
          <a:xfrm>
            <a:off x="6345936" y="1920240"/>
            <a:ext cx="2322576" cy="2359152"/>
          </a:xfrm>
          <a:prstGeom prst="rect">
            <a:avLst/>
          </a:prstGeom>
          <a:noFill/>
          <a:ln/>
        </p:spPr>
        <p:txBody>
          <a:bodyPr wrap="square" lIns="0" tIns="0" rIns="0" bIns="0" rtlCol="0" anchor="t"/>
          <a:lstStyle/>
          <a:p>
            <a:pPr indent="0" marL="0">
              <a:spcAft>
                <a:spcPts val="500"/>
              </a:spcAft>
              <a:buNone/>
            </a:pPr>
            <a:r>
              <a:rPr lang="en-US" sz="4400" b="1" dirty="0">
                <a:solidFill>
                  <a:srgbClr val="000000"/>
                </a:solidFill>
                <a:latin typeface="Consolas" pitchFamily="34" charset="0"/>
                <a:ea typeface="Consolas" pitchFamily="34" charset="-122"/>
                <a:cs typeface="Consolas" pitchFamily="34" charset="-120"/>
              </a:rPr>
              <a:t>96%</a:t>
            </a:r>
            <a:endParaRPr lang="en-US" sz="1400" dirty="0"/>
          </a:p>
          <a:p>
            <a:pPr indent="0" marL="0">
              <a:spcAft>
                <a:spcPts val="500"/>
              </a:spcAft>
              <a:buNone/>
            </a:pPr>
            <a:r>
              <a:rPr lang="en-US" sz="1000" dirty="0">
                <a:solidFill>
                  <a:srgbClr val="000000"/>
                </a:solidFill>
                <a:latin typeface="Consolas" pitchFamily="34" charset="0"/>
                <a:ea typeface="Consolas" pitchFamily="34" charset="-122"/>
                <a:cs typeface="Consolas" pitchFamily="34" charset="-120"/>
              </a:rPr>
              <a:t> </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of never-seen levels</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finished at difficulty 0.75</a:t>
            </a:r>
            <a:endParaRPr lang="en-US" sz="1400" dirty="0"/>
          </a:p>
        </p:txBody>
      </p:sp>
      <p:sp>
        <p:nvSpPr>
          <p:cNvPr id="19" name="Shape 17"/>
          <p:cNvSpPr/>
          <p:nvPr/>
        </p:nvSpPr>
        <p:spPr>
          <a:xfrm>
            <a:off x="9116568" y="1536192"/>
            <a:ext cx="2651760" cy="2926080"/>
          </a:xfrm>
          <a:prstGeom prst="rect">
            <a:avLst/>
          </a:prstGeom>
          <a:solidFill>
            <a:srgbClr val="000000"/>
          </a:solidFill>
          <a:ln w="9525">
            <a:solidFill>
              <a:srgbClr val="000000"/>
            </a:solidFill>
            <a:prstDash val="solid"/>
          </a:ln>
        </p:spPr>
      </p:sp>
      <p:sp>
        <p:nvSpPr>
          <p:cNvPr id="20" name="Shape 18"/>
          <p:cNvSpPr/>
          <p:nvPr/>
        </p:nvSpPr>
        <p:spPr>
          <a:xfrm>
            <a:off x="9043416" y="1463040"/>
            <a:ext cx="2651760" cy="2926080"/>
          </a:xfrm>
          <a:prstGeom prst="rect">
            <a:avLst/>
          </a:prstGeom>
          <a:solidFill>
            <a:srgbClr val="FFFFFF"/>
          </a:solidFill>
          <a:ln w="19050">
            <a:solidFill>
              <a:srgbClr val="000000"/>
            </a:solidFill>
            <a:prstDash val="solid"/>
          </a:ln>
        </p:spPr>
      </p:sp>
      <p:sp>
        <p:nvSpPr>
          <p:cNvPr id="21" name="Shape 19"/>
          <p:cNvSpPr/>
          <p:nvPr/>
        </p:nvSpPr>
        <p:spPr>
          <a:xfrm>
            <a:off x="9043416" y="1463040"/>
            <a:ext cx="2651760" cy="347472"/>
          </a:xfrm>
          <a:prstGeom prst="rect">
            <a:avLst/>
          </a:prstGeom>
          <a:solidFill>
            <a:srgbClr val="000000"/>
          </a:solidFill>
          <a:ln w="19050">
            <a:solidFill>
              <a:srgbClr val="000000"/>
            </a:solidFill>
            <a:prstDash val="solid"/>
          </a:ln>
        </p:spPr>
      </p:sp>
      <p:sp>
        <p:nvSpPr>
          <p:cNvPr id="22" name="Text 20"/>
          <p:cNvSpPr txBox="1"/>
          <p:nvPr/>
        </p:nvSpPr>
        <p:spPr>
          <a:xfrm>
            <a:off x="9171432" y="1463040"/>
            <a:ext cx="2395728" cy="347472"/>
          </a:xfrm>
          <a:prstGeom prst="rect">
            <a:avLst/>
          </a:prstGeom>
          <a:noFill/>
          <a:ln/>
        </p:spPr>
        <p:txBody>
          <a:bodyPr wrap="square" lIns="0" tIns="0" rIns="0" bIns="0" rtlCol="0" anchor="ctr"/>
          <a:lstStyle/>
          <a:p>
            <a:pPr algn="l" indent="0" marL="0">
              <a:buNone/>
            </a:pPr>
            <a:r>
              <a:rPr lang="en-US" sz="1300" b="1" dirty="0">
                <a:solidFill>
                  <a:srgbClr val="FFFFFF"/>
                </a:solidFill>
              </a:rPr>
              <a:t>&gt; main run</a:t>
            </a:r>
            <a:endParaRPr lang="en-US" sz="1300" dirty="0"/>
          </a:p>
        </p:txBody>
      </p:sp>
      <p:sp>
        <p:nvSpPr>
          <p:cNvPr id="23" name="Text 21"/>
          <p:cNvSpPr txBox="1"/>
          <p:nvPr/>
        </p:nvSpPr>
        <p:spPr>
          <a:xfrm>
            <a:off x="9208008" y="1920240"/>
            <a:ext cx="2322576" cy="2359152"/>
          </a:xfrm>
          <a:prstGeom prst="rect">
            <a:avLst/>
          </a:prstGeom>
          <a:noFill/>
          <a:ln/>
        </p:spPr>
        <p:txBody>
          <a:bodyPr wrap="square" lIns="0" tIns="0" rIns="0" bIns="0" rtlCol="0" anchor="t"/>
          <a:lstStyle/>
          <a:p>
            <a:pPr indent="0" marL="0">
              <a:spcAft>
                <a:spcPts val="500"/>
              </a:spcAft>
              <a:buNone/>
            </a:pPr>
            <a:r>
              <a:rPr lang="en-US" sz="4400" b="1" dirty="0">
                <a:solidFill>
                  <a:srgbClr val="000000"/>
                </a:solidFill>
                <a:latin typeface="Consolas" pitchFamily="34" charset="0"/>
                <a:ea typeface="Consolas" pitchFamily="34" charset="-122"/>
                <a:cs typeface="Consolas" pitchFamily="34" charset="-120"/>
              </a:rPr>
              <a:t>85%</a:t>
            </a:r>
            <a:endParaRPr lang="en-US" sz="1400" dirty="0"/>
          </a:p>
          <a:p>
            <a:pPr indent="0" marL="0">
              <a:spcAft>
                <a:spcPts val="500"/>
              </a:spcAft>
              <a:buNone/>
            </a:pPr>
            <a:r>
              <a:rPr lang="en-US" sz="1000" dirty="0">
                <a:solidFill>
                  <a:srgbClr val="000000"/>
                </a:solidFill>
                <a:latin typeface="Consolas" pitchFamily="34" charset="0"/>
                <a:ea typeface="Consolas" pitchFamily="34" charset="-122"/>
                <a:cs typeface="Consolas" pitchFamily="34" charset="-120"/>
              </a:rPr>
              <a:t> </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at the hardest training</a:t>
            </a:r>
            <a:endParaRPr lang="en-US" sz="1400" dirty="0"/>
          </a:p>
          <a:p>
            <a:pPr indent="0" marL="0">
              <a:spcAft>
                <a:spcPts val="500"/>
              </a:spcAft>
              <a:buNone/>
            </a:pPr>
            <a:r>
              <a:rPr lang="en-US" sz="1400" dirty="0">
                <a:solidFill>
                  <a:srgbClr val="000000"/>
                </a:solidFill>
                <a:latin typeface="Consolas" pitchFamily="34" charset="0"/>
                <a:ea typeface="Consolas" pitchFamily="34" charset="-122"/>
                <a:cs typeface="Consolas" pitchFamily="34" charset="-120"/>
              </a:rPr>
              <a:t>difficulty, 1.0</a:t>
            </a:r>
            <a:endParaRPr lang="en-US" sz="1400" dirty="0"/>
          </a:p>
        </p:txBody>
      </p:sp>
      <p:sp>
        <p:nvSpPr>
          <p:cNvPr id="24" name="Shape 22"/>
          <p:cNvSpPr/>
          <p:nvPr/>
        </p:nvSpPr>
        <p:spPr>
          <a:xfrm>
            <a:off x="457200" y="4892040"/>
            <a:ext cx="11338560" cy="594360"/>
          </a:xfrm>
          <a:prstGeom prst="rect">
            <a:avLst/>
          </a:prstGeom>
          <a:solidFill>
            <a:srgbClr val="000000"/>
          </a:solidFill>
          <a:ln w="12700">
            <a:solidFill>
              <a:srgbClr val="000000"/>
            </a:solidFill>
            <a:prstDash val="solid"/>
          </a:ln>
        </p:spPr>
      </p:sp>
      <p:sp>
        <p:nvSpPr>
          <p:cNvPr id="25" name="Text 23"/>
          <p:cNvSpPr txBox="1"/>
          <p:nvPr/>
        </p:nvSpPr>
        <p:spPr>
          <a:xfrm>
            <a:off x="594360" y="4892040"/>
            <a:ext cx="11064240" cy="594360"/>
          </a:xfrm>
          <a:prstGeom prst="rect">
            <a:avLst/>
          </a:prstGeom>
          <a:noFill/>
          <a:ln/>
        </p:spPr>
        <p:txBody>
          <a:bodyPr wrap="square" lIns="0" tIns="0" rIns="0" bIns="0" rtlCol="0" anchor="ctr"/>
          <a:lstStyle/>
          <a:p>
            <a:pPr algn="ctr" indent="0" marL="0">
              <a:buNone/>
            </a:pPr>
            <a:r>
              <a:rPr lang="en-US" sz="1500" b="1" dirty="0">
                <a:solidFill>
                  <a:srgbClr val="FFFFFF"/>
                </a:solidFill>
              </a:rPr>
              <a:t>every test level comes from a seed range never used in training</a:t>
            </a:r>
            <a:endParaRPr lang="en-US" sz="1500" dirty="0"/>
          </a:p>
        </p:txBody>
      </p:sp>
      <p:sp>
        <p:nvSpPr>
          <p:cNvPr id="27"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results</a:t>
            </a:r>
            <a:endParaRPr lang="en-US" sz="900" dirty="0"/>
          </a:p>
        </p:txBody>
      </p:sp>
      <p:sp>
        <p:nvSpPr>
          <p:cNvPr id="28"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[ 33/42 ]</a:t>
            </a:r>
            <a:endParaRPr lang="en-US" sz="9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EVERY GHOST AT EVERY DIFFICULTY</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[ 06 ]</a:t>
            </a:r>
            <a:endParaRPr lang="en-US" sz="1400" dirty="0"/>
          </a:p>
        </p:txBody>
      </p:sp>
      <p:pic>
        <p:nvPicPr>
          <p:cNvPr id="4" name="10_eval_heatmap.png" descr="C:/Users/dynam/Desktop/rl da3/ProcGen_RL/runs/presentation/10_eval_heatmap.png">    </p:cNvPr>
          <p:cNvPicPr>
            <a:picLocks noChangeAspect="1"/>
          </p:cNvPicPr>
          <p:nvPr/>
        </p:nvPicPr>
        <p:blipFill>
          <a:blip r:embed="rId1"/>
          <a:stretch>
            <a:fillRect/>
          </a:stretch>
        </p:blipFill>
        <p:spPr>
          <a:xfrm>
            <a:off x="457200" y="868680"/>
            <a:ext cx="5455487" cy="5166360"/>
          </a:xfrm>
          <a:prstGeom prst="rect">
            <a:avLst/>
          </a:prstGeom>
        </p:spPr>
      </p:pic>
      <p:sp>
        <p:nvSpPr>
          <p:cNvPr id="5" name="Shape 2"/>
          <p:cNvSpPr/>
          <p:nvPr/>
        </p:nvSpPr>
        <p:spPr>
          <a:xfrm>
            <a:off x="457200" y="868680"/>
            <a:ext cx="5455487" cy="5166360"/>
          </a:xfrm>
          <a:prstGeom prst="rect">
            <a:avLst/>
          </a:prstGeom>
          <a:ln w="12700">
            <a:solidFill>
              <a:srgbClr val="000000"/>
            </a:solidFill>
            <a:prstDash val="solid"/>
          </a:ln>
        </p:spPr>
      </p:sp>
      <p:sp>
        <p:nvSpPr>
          <p:cNvPr id="6" name="Text 3"/>
          <p:cNvSpPr txBox="1"/>
          <p:nvPr/>
        </p:nvSpPr>
        <p:spPr>
          <a:xfrm>
            <a:off x="6629400" y="1143000"/>
            <a:ext cx="5120640" cy="4480560"/>
          </a:xfrm>
          <a:prstGeom prst="rect">
            <a:avLst/>
          </a:prstGeom>
          <a:noFill/>
          <a:ln/>
        </p:spPr>
        <p:txBody>
          <a:bodyPr wrap="square" lIns="0" tIns="0" rIns="0" bIns="0" rtlCol="0" anchor="t"/>
          <a:lstStyle/>
          <a:p>
            <a:pPr marL="254000" indent="-254000">
              <a:spcAft>
                <a:spcPts val="1600"/>
              </a:spcAft>
              <a:buSzPct val="100000"/>
              <a:buChar char="&gt;"/>
            </a:pPr>
            <a:r>
              <a:rPr lang="en-US" b="1" dirty="0">
                <a:solidFill>
                  <a:srgbClr val="000000"/>
                </a:solidFill>
              </a:rPr>
              <a:t>Across:</a:t>
            </a:r>
            <a:pPr indent="0" marL="0">
              <a:spcAft>
                <a:spcPts val="1600"/>
              </a:spcAft>
              <a:buNone/>
            </a:pPr>
            <a:r>
              <a:rPr lang="en-US" dirty="0">
                <a:solidFill>
                  <a:srgbClr val="000000"/>
                </a:solidFill>
              </a:rPr>
              <a:t> harder levels need more practice. At 10 h: 98% of easy levels, 52% of the hardest.</a:t>
            </a:r>
            <a:endParaRPr lang="en-US" dirty="0"/>
          </a:p>
          <a:p>
            <a:pPr marL="254000" indent="-254000">
              <a:spcAft>
                <a:spcPts val="1600"/>
              </a:spcAft>
              <a:buSzPct val="100000"/>
              <a:buChar char="&gt;"/>
            </a:pPr>
            <a:r>
              <a:rPr lang="en-US" b="1" dirty="0">
                <a:solidFill>
                  <a:srgbClr val="000000"/>
                </a:solidFill>
              </a:rPr>
              <a:t>Down:</a:t>
            </a:r>
            <a:pPr indent="0" marL="0">
              <a:spcAft>
                <a:spcPts val="1600"/>
              </a:spcAft>
              <a:buNone/>
            </a:pPr>
            <a:r>
              <a:rPr lang="en-US" dirty="0">
                <a:solidFill>
                  <a:srgbClr val="000000"/>
                </a:solidFill>
              </a:rPr>
              <a:t> fast, then flat. 30 h to 300 h, ten times more training: 80% -&gt; 85% on the hardest.</a:t>
            </a:r>
            <a:endParaRPr lang="en-US" dirty="0"/>
          </a:p>
          <a:p>
            <a:pPr marL="254000" indent="-254000">
              <a:spcAft>
                <a:spcPts val="1600"/>
              </a:spcAft>
              <a:buSzPct val="100000"/>
              <a:buChar char="&gt;"/>
            </a:pPr>
            <a:r>
              <a:rPr lang="en-US" b="1" dirty="0">
                <a:solidFill>
                  <a:srgbClr val="000000"/>
                </a:solidFill>
              </a:rPr>
              <a:t>Top rows make the demo fun:</a:t>
            </a:r>
            <a:pPr indent="0" marL="0">
              <a:spcAft>
                <a:spcPts val="1600"/>
              </a:spcAft>
              <a:buNone/>
            </a:pPr>
            <a:r>
              <a:rPr lang="en-US" dirty="0">
                <a:solidFill>
                  <a:srgbClr val="000000"/>
                </a:solidFill>
              </a:rPr>
              <a:t> ghosts up to 2 h almost never finish a medium level.</a:t>
            </a:r>
            <a:endParaRPr lang="en-US" dirty="0"/>
          </a:p>
        </p:txBody>
      </p:sp>
      <p:sp>
        <p:nvSpPr>
          <p:cNvPr id="8"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results</a:t>
            </a:r>
            <a:endParaRPr lang="en-US" sz="900" dirty="0"/>
          </a:p>
        </p:txBody>
      </p:sp>
      <p:sp>
        <p:nvSpPr>
          <p:cNvPr id="9"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[ 34/42 ]</a:t>
            </a:r>
            <a:endParaRPr lang="en-US" sz="9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ONE UNSEEN LEVEL, FIVE STAGES</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[ 06 ]</a:t>
            </a:r>
            <a:endParaRPr lang="en-US" sz="1400" dirty="0"/>
          </a:p>
        </p:txBody>
      </p:sp>
      <p:pic>
        <p:nvPicPr>
          <p:cNvPr id="4" name="11_ghost_trajectories.png" descr="C:/Users/dynam/Desktop/rl da3/ProcGen_RL/runs/presentation/11_ghost_trajectories.png">    </p:cNvPr>
          <p:cNvPicPr>
            <a:picLocks noChangeAspect="1"/>
          </p:cNvPicPr>
          <p:nvPr/>
        </p:nvPicPr>
        <p:blipFill>
          <a:blip r:embed="rId1"/>
          <a:stretch>
            <a:fillRect/>
          </a:stretch>
        </p:blipFill>
        <p:spPr>
          <a:xfrm>
            <a:off x="457200" y="1005840"/>
            <a:ext cx="11247120" cy="2013993"/>
          </a:xfrm>
          <a:prstGeom prst="rect">
            <a:avLst/>
          </a:prstGeom>
        </p:spPr>
      </p:pic>
      <p:sp>
        <p:nvSpPr>
          <p:cNvPr id="5" name="Shape 2"/>
          <p:cNvSpPr/>
          <p:nvPr/>
        </p:nvSpPr>
        <p:spPr>
          <a:xfrm>
            <a:off x="457200" y="1005840"/>
            <a:ext cx="11247120" cy="2013993"/>
          </a:xfrm>
          <a:prstGeom prst="rect">
            <a:avLst/>
          </a:prstGeom>
          <a:ln w="12700">
            <a:solidFill>
              <a:srgbClr val="000000"/>
            </a:solidFill>
            <a:prstDash val="solid"/>
          </a:ln>
        </p:spPr>
      </p:sp>
      <p:sp>
        <p:nvSpPr>
          <p:cNvPr id="6" name="Shape 3"/>
          <p:cNvSpPr/>
          <p:nvPr/>
        </p:nvSpPr>
        <p:spPr>
          <a:xfrm>
            <a:off x="512064" y="3575304"/>
            <a:ext cx="2103120" cy="1097280"/>
          </a:xfrm>
          <a:prstGeom prst="rect">
            <a:avLst/>
          </a:prstGeom>
          <a:solidFill>
            <a:srgbClr val="000000"/>
          </a:solidFill>
          <a:ln w="9525">
            <a:solidFill>
              <a:srgbClr val="000000"/>
            </a:solidFill>
            <a:prstDash val="solid"/>
          </a:ln>
        </p:spPr>
      </p:sp>
      <p:sp>
        <p:nvSpPr>
          <p:cNvPr id="7" name="Shape 4"/>
          <p:cNvSpPr/>
          <p:nvPr/>
        </p:nvSpPr>
        <p:spPr>
          <a:xfrm>
            <a:off x="457200" y="3520440"/>
            <a:ext cx="2103120" cy="1097280"/>
          </a:xfrm>
          <a:prstGeom prst="rect">
            <a:avLst/>
          </a:prstGeom>
          <a:solidFill>
            <a:srgbClr val="FFFFFF"/>
          </a:solidFill>
          <a:ln w="19050">
            <a:solidFill>
              <a:srgbClr val="000000"/>
            </a:solidFill>
            <a:prstDash val="solid"/>
          </a:ln>
        </p:spPr>
      </p:sp>
      <p:sp>
        <p:nvSpPr>
          <p:cNvPr id="8" name="Shape 5"/>
          <p:cNvSpPr/>
          <p:nvPr/>
        </p:nvSpPr>
        <p:spPr>
          <a:xfrm>
            <a:off x="457200" y="3520440"/>
            <a:ext cx="2103120" cy="347472"/>
          </a:xfrm>
          <a:prstGeom prst="rect">
            <a:avLst/>
          </a:prstGeom>
          <a:solidFill>
            <a:srgbClr val="000000"/>
          </a:solidFill>
          <a:ln w="19050">
            <a:solidFill>
              <a:srgbClr val="000000"/>
            </a:solidFill>
            <a:prstDash val="solid"/>
          </a:ln>
        </p:spPr>
      </p:sp>
      <p:sp>
        <p:nvSpPr>
          <p:cNvPr id="9" name="Text 6"/>
          <p:cNvSpPr txBox="1"/>
          <p:nvPr/>
        </p:nvSpPr>
        <p:spPr>
          <a:xfrm>
            <a:off x="585216" y="3520440"/>
            <a:ext cx="1847088" cy="347472"/>
          </a:xfrm>
          <a:prstGeom prst="rect">
            <a:avLst/>
          </a:prstGeom>
          <a:noFill/>
          <a:ln/>
        </p:spPr>
        <p:txBody>
          <a:bodyPr wrap="square" lIns="0" tIns="0" rIns="0" bIns="0" rtlCol="0" anchor="ctr"/>
          <a:lstStyle/>
          <a:p>
            <a:pPr algn="l" indent="0" marL="0">
              <a:buNone/>
            </a:pPr>
            <a:r>
              <a:rPr lang="en-US" sz="1300" b="1" dirty="0">
                <a:solidFill>
                  <a:srgbClr val="FFFFFF"/>
                </a:solidFill>
              </a:rPr>
              <a:t>&gt; 0 min</a:t>
            </a:r>
            <a:endParaRPr lang="en-US" sz="1300" dirty="0"/>
          </a:p>
        </p:txBody>
      </p:sp>
      <p:sp>
        <p:nvSpPr>
          <p:cNvPr id="10" name="Text 7"/>
          <p:cNvSpPr txBox="1"/>
          <p:nvPr/>
        </p:nvSpPr>
        <p:spPr>
          <a:xfrm>
            <a:off x="621792" y="3977640"/>
            <a:ext cx="1773936" cy="53035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barely moves: 0%</a:t>
            </a:r>
            <a:endParaRPr lang="en-US" sz="1300" dirty="0"/>
          </a:p>
        </p:txBody>
      </p:sp>
      <p:sp>
        <p:nvSpPr>
          <p:cNvPr id="11" name="Shape 8"/>
          <p:cNvSpPr/>
          <p:nvPr/>
        </p:nvSpPr>
        <p:spPr>
          <a:xfrm>
            <a:off x="2798064" y="3575304"/>
            <a:ext cx="2103120" cy="1097280"/>
          </a:xfrm>
          <a:prstGeom prst="rect">
            <a:avLst/>
          </a:prstGeom>
          <a:solidFill>
            <a:srgbClr val="000000"/>
          </a:solidFill>
          <a:ln w="9525">
            <a:solidFill>
              <a:srgbClr val="000000"/>
            </a:solidFill>
            <a:prstDash val="solid"/>
          </a:ln>
        </p:spPr>
      </p:sp>
      <p:sp>
        <p:nvSpPr>
          <p:cNvPr id="12" name="Shape 9"/>
          <p:cNvSpPr/>
          <p:nvPr/>
        </p:nvSpPr>
        <p:spPr>
          <a:xfrm>
            <a:off x="2743200" y="3520440"/>
            <a:ext cx="2103120" cy="1097280"/>
          </a:xfrm>
          <a:prstGeom prst="rect">
            <a:avLst/>
          </a:prstGeom>
          <a:solidFill>
            <a:srgbClr val="FFFFFF"/>
          </a:solidFill>
          <a:ln w="19050">
            <a:solidFill>
              <a:srgbClr val="000000"/>
            </a:solidFill>
            <a:prstDash val="solid"/>
          </a:ln>
        </p:spPr>
      </p:sp>
      <p:sp>
        <p:nvSpPr>
          <p:cNvPr id="13" name="Shape 10"/>
          <p:cNvSpPr/>
          <p:nvPr/>
        </p:nvSpPr>
        <p:spPr>
          <a:xfrm>
            <a:off x="2743200" y="3520440"/>
            <a:ext cx="2103120" cy="347472"/>
          </a:xfrm>
          <a:prstGeom prst="rect">
            <a:avLst/>
          </a:prstGeom>
          <a:solidFill>
            <a:srgbClr val="000000"/>
          </a:solidFill>
          <a:ln w="19050">
            <a:solidFill>
              <a:srgbClr val="000000"/>
            </a:solidFill>
            <a:prstDash val="solid"/>
          </a:ln>
        </p:spPr>
      </p:sp>
      <p:sp>
        <p:nvSpPr>
          <p:cNvPr id="14" name="Text 11"/>
          <p:cNvSpPr txBox="1"/>
          <p:nvPr/>
        </p:nvSpPr>
        <p:spPr>
          <a:xfrm>
            <a:off x="2871216" y="3520440"/>
            <a:ext cx="1847088" cy="347472"/>
          </a:xfrm>
          <a:prstGeom prst="rect">
            <a:avLst/>
          </a:prstGeom>
          <a:noFill/>
          <a:ln/>
        </p:spPr>
        <p:txBody>
          <a:bodyPr wrap="square" lIns="0" tIns="0" rIns="0" bIns="0" rtlCol="0" anchor="ctr"/>
          <a:lstStyle/>
          <a:p>
            <a:pPr algn="l" indent="0" marL="0">
              <a:buNone/>
            </a:pPr>
            <a:r>
              <a:rPr lang="en-US" sz="1300" b="1" dirty="0">
                <a:solidFill>
                  <a:srgbClr val="FFFFFF"/>
                </a:solidFill>
              </a:rPr>
              <a:t>&gt; 30 min</a:t>
            </a:r>
            <a:endParaRPr lang="en-US" sz="1300" dirty="0"/>
          </a:p>
        </p:txBody>
      </p:sp>
      <p:sp>
        <p:nvSpPr>
          <p:cNvPr id="15" name="Text 12"/>
          <p:cNvSpPr txBox="1"/>
          <p:nvPr/>
        </p:nvSpPr>
        <p:spPr>
          <a:xfrm>
            <a:off x="2907792" y="3977640"/>
            <a:ext cx="1773936" cy="53035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first pit, 16%</a:t>
            </a:r>
            <a:endParaRPr lang="en-US" sz="1300" dirty="0"/>
          </a:p>
        </p:txBody>
      </p:sp>
      <p:sp>
        <p:nvSpPr>
          <p:cNvPr id="16" name="Shape 13"/>
          <p:cNvSpPr/>
          <p:nvPr/>
        </p:nvSpPr>
        <p:spPr>
          <a:xfrm>
            <a:off x="5084064" y="3575304"/>
            <a:ext cx="2103120" cy="1097280"/>
          </a:xfrm>
          <a:prstGeom prst="rect">
            <a:avLst/>
          </a:prstGeom>
          <a:solidFill>
            <a:srgbClr val="000000"/>
          </a:solidFill>
          <a:ln w="9525">
            <a:solidFill>
              <a:srgbClr val="000000"/>
            </a:solidFill>
            <a:prstDash val="solid"/>
          </a:ln>
        </p:spPr>
      </p:sp>
      <p:sp>
        <p:nvSpPr>
          <p:cNvPr id="17" name="Shape 14"/>
          <p:cNvSpPr/>
          <p:nvPr/>
        </p:nvSpPr>
        <p:spPr>
          <a:xfrm>
            <a:off x="5029200" y="3520440"/>
            <a:ext cx="2103120" cy="1097280"/>
          </a:xfrm>
          <a:prstGeom prst="rect">
            <a:avLst/>
          </a:prstGeom>
          <a:solidFill>
            <a:srgbClr val="FFFFFF"/>
          </a:solidFill>
          <a:ln w="19050">
            <a:solidFill>
              <a:srgbClr val="000000"/>
            </a:solidFill>
            <a:prstDash val="solid"/>
          </a:ln>
        </p:spPr>
      </p:sp>
      <p:sp>
        <p:nvSpPr>
          <p:cNvPr id="18" name="Shape 15"/>
          <p:cNvSpPr/>
          <p:nvPr/>
        </p:nvSpPr>
        <p:spPr>
          <a:xfrm>
            <a:off x="5029200" y="3520440"/>
            <a:ext cx="2103120" cy="347472"/>
          </a:xfrm>
          <a:prstGeom prst="rect">
            <a:avLst/>
          </a:prstGeom>
          <a:solidFill>
            <a:srgbClr val="000000"/>
          </a:solidFill>
          <a:ln w="19050">
            <a:solidFill>
              <a:srgbClr val="000000"/>
            </a:solidFill>
            <a:prstDash val="solid"/>
          </a:ln>
        </p:spPr>
      </p:sp>
      <p:sp>
        <p:nvSpPr>
          <p:cNvPr id="19" name="Text 16"/>
          <p:cNvSpPr txBox="1"/>
          <p:nvPr/>
        </p:nvSpPr>
        <p:spPr>
          <a:xfrm>
            <a:off x="5157216" y="3520440"/>
            <a:ext cx="1847088" cy="347472"/>
          </a:xfrm>
          <a:prstGeom prst="rect">
            <a:avLst/>
          </a:prstGeom>
          <a:noFill/>
          <a:ln/>
        </p:spPr>
        <p:txBody>
          <a:bodyPr wrap="square" lIns="0" tIns="0" rIns="0" bIns="0" rtlCol="0" anchor="ctr"/>
          <a:lstStyle/>
          <a:p>
            <a:pPr algn="l" indent="0" marL="0">
              <a:buNone/>
            </a:pPr>
            <a:r>
              <a:rPr lang="en-US" sz="1300" b="1" dirty="0">
                <a:solidFill>
                  <a:srgbClr val="FFFFFF"/>
                </a:solidFill>
              </a:rPr>
              <a:t>&gt; 5 h</a:t>
            </a:r>
            <a:endParaRPr lang="en-US" sz="1300" dirty="0"/>
          </a:p>
        </p:txBody>
      </p:sp>
      <p:sp>
        <p:nvSpPr>
          <p:cNvPr id="20" name="Text 17"/>
          <p:cNvSpPr txBox="1"/>
          <p:nvPr/>
        </p:nvSpPr>
        <p:spPr>
          <a:xfrm>
            <a:off x="5193792" y="3977640"/>
            <a:ext cx="1773936" cy="53035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a later pit, 58%</a:t>
            </a:r>
            <a:endParaRPr lang="en-US" sz="1300" dirty="0"/>
          </a:p>
        </p:txBody>
      </p:sp>
      <p:sp>
        <p:nvSpPr>
          <p:cNvPr id="21" name="Shape 18"/>
          <p:cNvSpPr/>
          <p:nvPr/>
        </p:nvSpPr>
        <p:spPr>
          <a:xfrm>
            <a:off x="7370064" y="3575304"/>
            <a:ext cx="2103120" cy="1097280"/>
          </a:xfrm>
          <a:prstGeom prst="rect">
            <a:avLst/>
          </a:prstGeom>
          <a:solidFill>
            <a:srgbClr val="000000"/>
          </a:solidFill>
          <a:ln w="9525">
            <a:solidFill>
              <a:srgbClr val="000000"/>
            </a:solidFill>
            <a:prstDash val="solid"/>
          </a:ln>
        </p:spPr>
      </p:sp>
      <p:sp>
        <p:nvSpPr>
          <p:cNvPr id="22" name="Shape 19"/>
          <p:cNvSpPr/>
          <p:nvPr/>
        </p:nvSpPr>
        <p:spPr>
          <a:xfrm>
            <a:off x="7315200" y="3520440"/>
            <a:ext cx="2103120" cy="1097280"/>
          </a:xfrm>
          <a:prstGeom prst="rect">
            <a:avLst/>
          </a:prstGeom>
          <a:solidFill>
            <a:srgbClr val="FFFFFF"/>
          </a:solidFill>
          <a:ln w="19050">
            <a:solidFill>
              <a:srgbClr val="000000"/>
            </a:solidFill>
            <a:prstDash val="solid"/>
          </a:ln>
        </p:spPr>
      </p:sp>
      <p:sp>
        <p:nvSpPr>
          <p:cNvPr id="23" name="Shape 20"/>
          <p:cNvSpPr/>
          <p:nvPr/>
        </p:nvSpPr>
        <p:spPr>
          <a:xfrm>
            <a:off x="7315200" y="3520440"/>
            <a:ext cx="2103120" cy="347472"/>
          </a:xfrm>
          <a:prstGeom prst="rect">
            <a:avLst/>
          </a:prstGeom>
          <a:solidFill>
            <a:srgbClr val="000000"/>
          </a:solidFill>
          <a:ln w="19050">
            <a:solidFill>
              <a:srgbClr val="000000"/>
            </a:solidFill>
            <a:prstDash val="solid"/>
          </a:ln>
        </p:spPr>
      </p:sp>
      <p:sp>
        <p:nvSpPr>
          <p:cNvPr id="24" name="Text 21"/>
          <p:cNvSpPr txBox="1"/>
          <p:nvPr/>
        </p:nvSpPr>
        <p:spPr>
          <a:xfrm>
            <a:off x="7443216" y="3520440"/>
            <a:ext cx="1847088" cy="347472"/>
          </a:xfrm>
          <a:prstGeom prst="rect">
            <a:avLst/>
          </a:prstGeom>
          <a:noFill/>
          <a:ln/>
        </p:spPr>
        <p:txBody>
          <a:bodyPr wrap="square" lIns="0" tIns="0" rIns="0" bIns="0" rtlCol="0" anchor="ctr"/>
          <a:lstStyle/>
          <a:p>
            <a:pPr algn="l" indent="0" marL="0">
              <a:buNone/>
            </a:pPr>
            <a:r>
              <a:rPr lang="en-US" sz="1300" b="1" dirty="0">
                <a:solidFill>
                  <a:srgbClr val="FFFFFF"/>
                </a:solidFill>
              </a:rPr>
              <a:t>&gt; 50 h</a:t>
            </a:r>
            <a:endParaRPr lang="en-US" sz="1300" dirty="0"/>
          </a:p>
        </p:txBody>
      </p:sp>
      <p:sp>
        <p:nvSpPr>
          <p:cNvPr id="25" name="Text 22"/>
          <p:cNvSpPr txBox="1"/>
          <p:nvPr/>
        </p:nvSpPr>
        <p:spPr>
          <a:xfrm>
            <a:off x="7479792" y="3977640"/>
            <a:ext cx="1773936" cy="53035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finishes, 17.5 s</a:t>
            </a:r>
            <a:endParaRPr lang="en-US" sz="1300" dirty="0"/>
          </a:p>
        </p:txBody>
      </p:sp>
      <p:sp>
        <p:nvSpPr>
          <p:cNvPr id="26" name="Shape 23"/>
          <p:cNvSpPr/>
          <p:nvPr/>
        </p:nvSpPr>
        <p:spPr>
          <a:xfrm>
            <a:off x="9656064" y="3575304"/>
            <a:ext cx="2103120" cy="1097280"/>
          </a:xfrm>
          <a:prstGeom prst="rect">
            <a:avLst/>
          </a:prstGeom>
          <a:solidFill>
            <a:srgbClr val="000000"/>
          </a:solidFill>
          <a:ln w="9525">
            <a:solidFill>
              <a:srgbClr val="000000"/>
            </a:solidFill>
            <a:prstDash val="solid"/>
          </a:ln>
        </p:spPr>
      </p:sp>
      <p:sp>
        <p:nvSpPr>
          <p:cNvPr id="27" name="Shape 24"/>
          <p:cNvSpPr/>
          <p:nvPr/>
        </p:nvSpPr>
        <p:spPr>
          <a:xfrm>
            <a:off x="9601200" y="3520440"/>
            <a:ext cx="2103120" cy="1097280"/>
          </a:xfrm>
          <a:prstGeom prst="rect">
            <a:avLst/>
          </a:prstGeom>
          <a:solidFill>
            <a:srgbClr val="FFFFFF"/>
          </a:solidFill>
          <a:ln w="19050">
            <a:solidFill>
              <a:srgbClr val="000000"/>
            </a:solidFill>
            <a:prstDash val="solid"/>
          </a:ln>
        </p:spPr>
      </p:sp>
      <p:sp>
        <p:nvSpPr>
          <p:cNvPr id="28" name="Shape 25"/>
          <p:cNvSpPr/>
          <p:nvPr/>
        </p:nvSpPr>
        <p:spPr>
          <a:xfrm>
            <a:off x="9601200" y="3520440"/>
            <a:ext cx="2103120" cy="347472"/>
          </a:xfrm>
          <a:prstGeom prst="rect">
            <a:avLst/>
          </a:prstGeom>
          <a:solidFill>
            <a:srgbClr val="000000"/>
          </a:solidFill>
          <a:ln w="19050">
            <a:solidFill>
              <a:srgbClr val="000000"/>
            </a:solidFill>
            <a:prstDash val="solid"/>
          </a:ln>
        </p:spPr>
      </p:sp>
      <p:sp>
        <p:nvSpPr>
          <p:cNvPr id="29" name="Text 26"/>
          <p:cNvSpPr txBox="1"/>
          <p:nvPr/>
        </p:nvSpPr>
        <p:spPr>
          <a:xfrm>
            <a:off x="9729216" y="3520440"/>
            <a:ext cx="1847088" cy="347472"/>
          </a:xfrm>
          <a:prstGeom prst="rect">
            <a:avLst/>
          </a:prstGeom>
          <a:noFill/>
          <a:ln/>
        </p:spPr>
        <p:txBody>
          <a:bodyPr wrap="square" lIns="0" tIns="0" rIns="0" bIns="0" rtlCol="0" anchor="ctr"/>
          <a:lstStyle/>
          <a:p>
            <a:pPr algn="l" indent="0" marL="0">
              <a:buNone/>
            </a:pPr>
            <a:r>
              <a:rPr lang="en-US" sz="1300" b="1" dirty="0">
                <a:solidFill>
                  <a:srgbClr val="FFFFFF"/>
                </a:solidFill>
              </a:rPr>
              <a:t>&gt; 300 h</a:t>
            </a:r>
            <a:endParaRPr lang="en-US" sz="1300" dirty="0"/>
          </a:p>
        </p:txBody>
      </p:sp>
      <p:sp>
        <p:nvSpPr>
          <p:cNvPr id="30" name="Text 27"/>
          <p:cNvSpPr txBox="1"/>
          <p:nvPr/>
        </p:nvSpPr>
        <p:spPr>
          <a:xfrm>
            <a:off x="9765792" y="3977640"/>
            <a:ext cx="1773936" cy="530352"/>
          </a:xfrm>
          <a:prstGeom prst="rect">
            <a:avLst/>
          </a:prstGeom>
          <a:noFill/>
          <a:ln/>
        </p:spPr>
        <p:txBody>
          <a:bodyPr wrap="square" lIns="0" tIns="0" rIns="0" bIns="0" rtlCol="0" anchor="t"/>
          <a:lstStyle/>
          <a:p>
            <a:pPr indent="0" marL="0">
              <a:spcAft>
                <a:spcPts val="500"/>
              </a:spcAft>
              <a:buNone/>
            </a:pPr>
            <a:r>
              <a:rPr lang="en-US" sz="1300" dirty="0">
                <a:solidFill>
                  <a:srgbClr val="000000"/>
                </a:solidFill>
                <a:latin typeface="Consolas" pitchFamily="34" charset="0"/>
                <a:ea typeface="Consolas" pitchFamily="34" charset="-122"/>
                <a:cs typeface="Consolas" pitchFamily="34" charset="-120"/>
              </a:rPr>
              <a:t>finishes, 17.6 s</a:t>
            </a:r>
            <a:endParaRPr lang="en-US" sz="1300" dirty="0"/>
          </a:p>
        </p:txBody>
      </p:sp>
      <p:sp>
        <p:nvSpPr>
          <p:cNvPr id="31" name="Shape 28"/>
          <p:cNvSpPr/>
          <p:nvPr/>
        </p:nvSpPr>
        <p:spPr>
          <a:xfrm>
            <a:off x="457200" y="5029200"/>
            <a:ext cx="11247120" cy="566928"/>
          </a:xfrm>
          <a:prstGeom prst="rect">
            <a:avLst/>
          </a:prstGeom>
          <a:solidFill>
            <a:srgbClr val="000000"/>
          </a:solidFill>
          <a:ln w="12700">
            <a:solidFill>
              <a:srgbClr val="000000"/>
            </a:solidFill>
            <a:prstDash val="solid"/>
          </a:ln>
        </p:spPr>
      </p:sp>
      <p:sp>
        <p:nvSpPr>
          <p:cNvPr id="32" name="Text 29"/>
          <p:cNvSpPr txBox="1"/>
          <p:nvPr/>
        </p:nvSpPr>
        <p:spPr>
          <a:xfrm>
            <a:off x="594360" y="5029200"/>
            <a:ext cx="10972800" cy="566928"/>
          </a:xfrm>
          <a:prstGeom prst="rect">
            <a:avLst/>
          </a:prstGeom>
          <a:noFill/>
          <a:ln/>
        </p:spPr>
        <p:txBody>
          <a:bodyPr wrap="square" lIns="0" tIns="0" rIns="0" bIns="0" rtlCol="0" anchor="ctr"/>
          <a:lstStyle/>
          <a:p>
            <a:pPr algn="ctr" indent="0" marL="0">
              <a:buNone/>
            </a:pPr>
            <a:r>
              <a:rPr lang="en-US" sz="1400" b="1" dirty="0">
                <a:solidFill>
                  <a:srgbClr val="FFFFFF"/>
                </a:solidFill>
              </a:rPr>
              <a:t>training buys survival, not speed: every ghost that finishes takes about 17 s</a:t>
            </a:r>
            <a:endParaRPr lang="en-US" sz="1400" dirty="0"/>
          </a:p>
        </p:txBody>
      </p:sp>
      <p:sp>
        <p:nvSpPr>
          <p:cNvPr id="34"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results</a:t>
            </a:r>
            <a:endParaRPr lang="en-US" sz="900" dirty="0"/>
          </a:p>
        </p:txBody>
      </p:sp>
      <p:sp>
        <p:nvSpPr>
          <p:cNvPr id="35"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[ 35/42 ]</a:t>
            </a:r>
            <a:endParaRPr lang="en-US" sz="9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GENERALISATION: MEMORISE OR LEARN?</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[ 06 ]</a:t>
            </a:r>
            <a:endParaRPr lang="en-US" sz="1400" dirty="0"/>
          </a:p>
        </p:txBody>
      </p:sp>
      <p:graphicFrame>
        <p:nvGraphicFramePr>
          <p:cNvPr id="4" name="Chart 0" descr=""/>
          <p:cNvGraphicFramePr/>
          <p:nvPr/>
        </p:nvGraphicFramePr>
        <p:xfrm>
          <a:off x="457200" y="960120"/>
          <a:ext cx="7223760" cy="4846320"/>
        </p:xfrm>
        <a:graphic xmlns:a="http://schemas.openxmlformats.org/drawingml/2006/main">
          <a:graphicData uri="http://schemas.openxmlformats.org/drawingml/2006/chart">
            <c:chart xmlns:c="http://schemas.openxmlformats.org/drawingml/2006/chart" r:id="rId1"/>
          </a:graphicData>
        </a:graphic>
      </p:graphicFrame>
      <p:sp>
        <p:nvSpPr>
          <p:cNvPr id="5" name="Text 2"/>
          <p:cNvSpPr txBox="1"/>
          <p:nvPr/>
        </p:nvSpPr>
        <p:spPr>
          <a:xfrm>
            <a:off x="8046720" y="1143000"/>
            <a:ext cx="3749040" cy="4480560"/>
          </a:xfrm>
          <a:prstGeom prst="rect">
            <a:avLst/>
          </a:prstGeom>
          <a:noFill/>
          <a:ln/>
        </p:spPr>
        <p:txBody>
          <a:bodyPr wrap="square" lIns="0" tIns="0" rIns="0" bIns="0" rtlCol="0" anchor="t"/>
          <a:lstStyle/>
          <a:p>
            <a:pPr marL="254000" indent="-254000">
              <a:spcAft>
                <a:spcPts val="1400"/>
              </a:spcAft>
              <a:buSzPct val="100000"/>
              <a:buChar char="&gt;"/>
            </a:pPr>
            <a:r>
              <a:rPr lang="en-US" b="1" dirty="0">
                <a:solidFill>
                  <a:srgbClr val="000000"/>
                </a:solidFill>
              </a:rPr>
              <a:t>Same agent, same 100 h, same difficulty 0.5.</a:t>
            </a:r>
            <a:pPr indent="0" marL="0">
              <a:spcAft>
                <a:spcPts val="1400"/>
              </a:spcAft>
              <a:buNone/>
            </a:pPr>
            <a:r>
              <a:rPr lang="en-US" dirty="0">
                <a:solidFill>
                  <a:srgbClr val="000000"/>
                </a:solidFill>
              </a:rPr>
              <a:t> Only the number of different training levels changes.</a:t>
            </a:r>
            <a:endParaRPr lang="en-US" dirty="0"/>
          </a:p>
          <a:p>
            <a:pPr marL="254000" indent="-254000">
              <a:spcAft>
                <a:spcPts val="1400"/>
              </a:spcAft>
              <a:buSzPct val="100000"/>
              <a:buChar char="&gt;"/>
            </a:pPr>
            <a:r>
              <a:rPr lang="en-US" b="1" dirty="0">
                <a:solidFill>
                  <a:srgbClr val="000000"/>
                </a:solidFill>
              </a:rPr>
              <a:t>10 levels:</a:t>
            </a:r>
            <a:pPr indent="0" marL="0">
              <a:spcAft>
                <a:spcPts val="1400"/>
              </a:spcAft>
              <a:buNone/>
            </a:pPr>
            <a:r>
              <a:rPr lang="en-US" dirty="0">
                <a:solidFill>
                  <a:srgbClr val="000000"/>
                </a:solidFill>
              </a:rPr>
              <a:t> 100% on those, 60% on new ones. It memorised them.</a:t>
            </a:r>
            <a:endParaRPr lang="en-US" dirty="0"/>
          </a:p>
          <a:p>
            <a:pPr marL="254000" indent="-254000">
              <a:spcAft>
                <a:spcPts val="1400"/>
              </a:spcAft>
              <a:buSzPct val="100000"/>
              <a:buChar char="&gt;"/>
            </a:pPr>
            <a:r>
              <a:rPr lang="en-US" b="1" dirty="0">
                <a:solidFill>
                  <a:srgbClr val="000000"/>
                </a:solidFill>
              </a:rPr>
              <a:t>1,000+ levels:</a:t>
            </a:r>
            <a:pPr indent="0" marL="0">
              <a:spcAft>
                <a:spcPts val="1400"/>
              </a:spcAft>
              <a:buNone/>
            </a:pPr>
            <a:r>
              <a:rPr lang="en-US" dirty="0">
                <a:solidFill>
                  <a:srgbClr val="000000"/>
                </a:solidFill>
              </a:rPr>
              <a:t> no gap. It learned the game.</a:t>
            </a:r>
            <a:endParaRPr lang="en-US" dirty="0"/>
          </a:p>
        </p:txBody>
      </p:sp>
      <p:sp>
        <p:nvSpPr>
          <p:cNvPr id="6" name="Text 3"/>
          <p:cNvSpPr txBox="1"/>
          <p:nvPr/>
        </p:nvSpPr>
        <p:spPr>
          <a:xfrm>
            <a:off x="457200" y="5989320"/>
            <a:ext cx="11247120" cy="274320"/>
          </a:xfrm>
          <a:prstGeom prst="rect">
            <a:avLst/>
          </a:prstGeom>
          <a:noFill/>
          <a:ln/>
        </p:spPr>
        <p:txBody>
          <a:bodyPr wrap="square" lIns="0" tIns="0" rIns="0" bIns="0" rtlCol="0" anchor="ctr"/>
          <a:lstStyle/>
          <a:p>
            <a:pPr indent="0" marL="0">
              <a:buNone/>
            </a:pPr>
            <a:r>
              <a:rPr lang="en-US" sz="1100" i="1" dirty="0">
                <a:solidFill>
                  <a:srgbClr val="5A5A5A"/>
                </a:solidFill>
              </a:rPr>
              <a:t>matches the Procgen benchmark finding (Cobbe et al., 2019)</a:t>
            </a:r>
            <a:endParaRPr lang="en-US" sz="1100" dirty="0"/>
          </a:p>
        </p:txBody>
      </p:sp>
      <p:sp>
        <p:nvSpPr>
          <p:cNvPr id="8"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results</a:t>
            </a:r>
            <a:endParaRPr lang="en-US" sz="900" dirty="0"/>
          </a:p>
        </p:txBody>
      </p:sp>
      <p:sp>
        <p:nvSpPr>
          <p:cNvPr id="9"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[ 36/42 ]</a:t>
            </a:r>
            <a:endParaRPr lang="en-US" sz="9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MEMORISING GETS WORSE WITH TIME</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[ 06 ]</a:t>
            </a:r>
            <a:endParaRPr lang="en-US" sz="1400" dirty="0"/>
          </a:p>
        </p:txBody>
      </p:sp>
      <p:pic>
        <p:nvPicPr>
          <p:cNvPr id="4" name="16_generalization_curve.png" descr="C:/Users/dynam/Desktop/rl da3/ProcGen_RL/runs/presentation/16_generalization_curve.png">    </p:cNvPr>
          <p:cNvPicPr>
            <a:picLocks noChangeAspect="1"/>
          </p:cNvPicPr>
          <p:nvPr/>
        </p:nvPicPr>
        <p:blipFill>
          <a:blip r:embed="rId1"/>
          <a:stretch>
            <a:fillRect/>
          </a:stretch>
        </p:blipFill>
        <p:spPr>
          <a:xfrm>
            <a:off x="457200" y="914400"/>
            <a:ext cx="7680960" cy="3195696"/>
          </a:xfrm>
          <a:prstGeom prst="rect">
            <a:avLst/>
          </a:prstGeom>
        </p:spPr>
      </p:pic>
      <p:sp>
        <p:nvSpPr>
          <p:cNvPr id="5" name="Shape 2"/>
          <p:cNvSpPr/>
          <p:nvPr/>
        </p:nvSpPr>
        <p:spPr>
          <a:xfrm>
            <a:off x="457200" y="914400"/>
            <a:ext cx="7680960" cy="3195696"/>
          </a:xfrm>
          <a:prstGeom prst="rect">
            <a:avLst/>
          </a:prstGeom>
          <a:ln w="12700">
            <a:solidFill>
              <a:srgbClr val="000000"/>
            </a:solidFill>
            <a:prstDash val="solid"/>
          </a:ln>
        </p:spPr>
      </p:sp>
      <p:sp>
        <p:nvSpPr>
          <p:cNvPr id="6" name="Text 3"/>
          <p:cNvSpPr txBox="1"/>
          <p:nvPr/>
        </p:nvSpPr>
        <p:spPr>
          <a:xfrm>
            <a:off x="8412480" y="1051560"/>
            <a:ext cx="3383280" cy="4572000"/>
          </a:xfrm>
          <a:prstGeom prst="rect">
            <a:avLst/>
          </a:prstGeom>
          <a:noFill/>
          <a:ln/>
        </p:spPr>
        <p:txBody>
          <a:bodyPr wrap="square" lIns="0" tIns="0" rIns="0" bIns="0" rtlCol="0" anchor="t"/>
          <a:lstStyle/>
          <a:p>
            <a:pPr marL="254000" indent="-254000">
              <a:spcAft>
                <a:spcPts val="1400"/>
              </a:spcAft>
              <a:buSzPct val="100000"/>
              <a:buChar char="&gt;"/>
            </a:pPr>
            <a:r>
              <a:rPr lang="en-US" b="1" dirty="0">
                <a:solidFill>
                  <a:srgbClr val="000000"/>
                </a:solidFill>
              </a:rPr>
              <a:t>10 levels: up, then down.</a:t>
            </a:r>
            <a:pPr indent="0" marL="0">
              <a:spcAft>
                <a:spcPts val="1400"/>
              </a:spcAft>
              <a:buNone/>
            </a:pPr>
            <a:r>
              <a:rPr lang="en-US" dirty="0">
                <a:solidFill>
                  <a:srgbClr val="000000"/>
                </a:solidFill>
              </a:rPr>
              <a:t> 83% on new levels at 5 h, 60% at 100 h.</a:t>
            </a:r>
            <a:endParaRPr lang="en-US" dirty="0"/>
          </a:p>
          <a:p>
            <a:pPr marL="254000" indent="-254000">
              <a:spcAft>
                <a:spcPts val="1400"/>
              </a:spcAft>
              <a:buSzPct val="100000"/>
              <a:buChar char="&gt;"/>
            </a:pPr>
            <a:r>
              <a:rPr lang="en-US" b="1" dirty="0">
                <a:solidFill>
                  <a:srgbClr val="000000"/>
                </a:solidFill>
              </a:rPr>
              <a:t>More training made it worse</a:t>
            </a:r>
            <a:pPr indent="0" marL="0">
              <a:spcAft>
                <a:spcPts val="1400"/>
              </a:spcAft>
              <a:buNone/>
            </a:pPr>
            <a:r>
              <a:rPr lang="en-US" dirty="0">
                <a:solidFill>
                  <a:srgbClr val="000000"/>
                </a:solidFill>
              </a:rPr>
              <a:t> at the real game: overfitting, live.</a:t>
            </a:r>
            <a:endParaRPr lang="en-US" dirty="0"/>
          </a:p>
          <a:p>
            <a:pPr marL="254000" indent="-254000">
              <a:spcAft>
                <a:spcPts val="1400"/>
              </a:spcAft>
              <a:buSzPct val="100000"/>
              <a:buChar char="&gt;"/>
            </a:pPr>
            <a:r>
              <a:rPr lang="en-US" b="1" dirty="0">
                <a:solidFill>
                  <a:srgbClr val="000000"/>
                </a:solidFill>
              </a:rPr>
              <a:t>Variety is not enough:</a:t>
            </a:r>
            <a:pPr indent="0" marL="0">
              <a:spcAft>
                <a:spcPts val="1400"/>
              </a:spcAft>
              <a:buNone/>
            </a:pPr>
            <a:r>
              <a:rPr lang="en-US" dirty="0">
                <a:solidFill>
                  <a:srgbClr val="000000"/>
                </a:solidFill>
              </a:rPr>
              <a:t> at 100 h the curriculum agent finishes 89% of the hardest levels, the one trained only at 0.5 finishes 64%.</a:t>
            </a:r>
            <a:endParaRPr lang="en-US" dirty="0"/>
          </a:p>
        </p:txBody>
      </p:sp>
      <p:sp>
        <p:nvSpPr>
          <p:cNvPr id="8"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results</a:t>
            </a:r>
            <a:endParaRPr lang="en-US" sz="900" dirty="0"/>
          </a:p>
        </p:txBody>
      </p:sp>
      <p:sp>
        <p:nvSpPr>
          <p:cNvPr id="9"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[ 37/42 ]</a:t>
            </a:r>
            <a:endParaRPr lang="en-US" sz="9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EXPERT LEVELS: BEYOND TRAINING</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[ 06 ]</a:t>
            </a:r>
            <a:endParaRPr lang="en-US" sz="1400" dirty="0"/>
          </a:p>
        </p:txBody>
      </p:sp>
      <p:pic>
        <p:nvPicPr>
          <p:cNvPr id="4" name="18_expert_levels.png" descr="C:/Users/dynam/Desktop/rl da3/ProcGen_RL/runs/presentation/18_expert_levels.png">    </p:cNvPr>
          <p:cNvPicPr>
            <a:picLocks noChangeAspect="1"/>
          </p:cNvPicPr>
          <p:nvPr/>
        </p:nvPicPr>
        <p:blipFill>
          <a:blip r:embed="rId1"/>
          <a:stretch>
            <a:fillRect/>
          </a:stretch>
        </p:blipFill>
        <p:spPr>
          <a:xfrm>
            <a:off x="457200" y="914400"/>
            <a:ext cx="7680960" cy="3413760"/>
          </a:xfrm>
          <a:prstGeom prst="rect">
            <a:avLst/>
          </a:prstGeom>
        </p:spPr>
      </p:pic>
      <p:sp>
        <p:nvSpPr>
          <p:cNvPr id="5" name="Shape 2"/>
          <p:cNvSpPr/>
          <p:nvPr/>
        </p:nvSpPr>
        <p:spPr>
          <a:xfrm>
            <a:off x="457200" y="914400"/>
            <a:ext cx="7680960" cy="3413760"/>
          </a:xfrm>
          <a:prstGeom prst="rect">
            <a:avLst/>
          </a:prstGeom>
          <a:ln w="12700">
            <a:solidFill>
              <a:srgbClr val="000000"/>
            </a:solidFill>
            <a:prstDash val="solid"/>
          </a:ln>
        </p:spPr>
      </p:sp>
      <p:sp>
        <p:nvSpPr>
          <p:cNvPr id="6" name="Text 3"/>
          <p:cNvSpPr txBox="1"/>
          <p:nvPr/>
        </p:nvSpPr>
        <p:spPr>
          <a:xfrm>
            <a:off x="8412480" y="1051560"/>
            <a:ext cx="3383280" cy="4572000"/>
          </a:xfrm>
          <a:prstGeom prst="rect">
            <a:avLst/>
          </a:prstGeom>
          <a:noFill/>
          <a:ln/>
        </p:spPr>
        <p:txBody>
          <a:bodyPr wrap="square" lIns="0" tIns="0" rIns="0" bIns="0" rtlCol="0" anchor="t"/>
          <a:lstStyle/>
          <a:p>
            <a:pPr marL="254000" indent="-254000">
              <a:spcAft>
                <a:spcPts val="1400"/>
              </a:spcAft>
              <a:buSzPct val="100000"/>
              <a:buChar char="&gt;"/>
            </a:pPr>
            <a:r>
              <a:rPr lang="en-US" b="1" dirty="0">
                <a:solidFill>
                  <a:srgbClr val="000000"/>
                </a:solidFill>
              </a:rPr>
              <a:t>Difficulty 1 to 2:</a:t>
            </a:r>
            <a:pPr indent="0" marL="0">
              <a:spcAft>
                <a:spcPts val="1400"/>
              </a:spcAft>
              <a:buNone/>
            </a:pPr>
            <a:r>
              <a:rPr lang="en-US" dirty="0">
                <a:solidFill>
                  <a:srgbClr val="000000"/>
                </a:solidFill>
              </a:rPr>
              <a:t> gaps up to 6 tiles, spike runs of 4, one-tile pillars, less rest</a:t>
            </a:r>
            <a:endParaRPr lang="en-US" dirty="0"/>
          </a:p>
          <a:p>
            <a:pPr marL="254000" indent="-254000">
              <a:spcAft>
                <a:spcPts val="1400"/>
              </a:spcAft>
              <a:buSzPct val="100000"/>
              <a:buChar char="&gt;"/>
            </a:pPr>
            <a:r>
              <a:rPr lang="en-US" b="1" dirty="0">
                <a:solidFill>
                  <a:srgbClr val="000000"/>
                </a:solidFill>
              </a:rPr>
              <a:t>Same tiles, same physics,</a:t>
            </a:r>
            <a:pPr indent="0" marL="0">
              <a:spcAft>
                <a:spcPts val="1400"/>
              </a:spcAft>
              <a:buNone/>
            </a:pPr>
            <a:r>
              <a:rPr lang="en-US" dirty="0">
                <a:solidFill>
                  <a:srgbClr val="000000"/>
                </a:solidFill>
              </a:rPr>
              <a:t> no retraining; the solver checks every level</a:t>
            </a:r>
            <a:endParaRPr lang="en-US" dirty="0"/>
          </a:p>
          <a:p>
            <a:pPr marL="254000" indent="-254000">
              <a:spcAft>
                <a:spcPts val="1400"/>
              </a:spcAft>
              <a:buSzPct val="100000"/>
              <a:buChar char="&gt;"/>
            </a:pPr>
            <a:r>
              <a:rPr lang="en-US" b="1" dirty="0">
                <a:solidFill>
                  <a:srgbClr val="000000"/>
                </a:solidFill>
              </a:rPr>
              <a:t>300h ghost:</a:t>
            </a:r>
            <a:pPr indent="0" marL="0">
              <a:spcAft>
                <a:spcPts val="1400"/>
              </a:spcAft>
              <a:buNone/>
            </a:pPr>
            <a:r>
              <a:rPr lang="en-US" dirty="0">
                <a:solidFill>
                  <a:srgbClr val="000000"/>
                </a:solidFill>
              </a:rPr>
              <a:t> 85% at 1.0, 60% at 1.25, 42% at 1.5, 5% at 1.75</a:t>
            </a:r>
            <a:endParaRPr lang="en-US" dirty="0"/>
          </a:p>
        </p:txBody>
      </p:sp>
      <p:sp>
        <p:nvSpPr>
          <p:cNvPr id="8"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results</a:t>
            </a:r>
            <a:endParaRPr lang="en-US" sz="900" dirty="0"/>
          </a:p>
        </p:txBody>
      </p:sp>
      <p:sp>
        <p:nvSpPr>
          <p:cNvPr id="9"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[ 38/42 ]</a:t>
            </a:r>
            <a:endParaRPr lang="en-US" sz="9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txBox="1"/>
          <p:nvPr/>
        </p:nvSpPr>
        <p:spPr>
          <a:xfrm>
            <a:off x="822960" y="2331720"/>
            <a:ext cx="7315200" cy="365760"/>
          </a:xfrm>
          <a:prstGeom prst="rect">
            <a:avLst/>
          </a:prstGeom>
          <a:noFill/>
          <a:ln/>
        </p:spPr>
        <p:txBody>
          <a:bodyPr wrap="square" lIns="0" tIns="0" rIns="0" bIns="0" rtlCol="0" anchor="ctr"/>
          <a:lstStyle/>
          <a:p>
            <a:pPr indent="0" marL="0">
              <a:buNone/>
            </a:pPr>
            <a:r>
              <a:rPr lang="en-US" sz="1600" dirty="0">
                <a:solidFill>
                  <a:srgbClr val="D9D9D9"/>
                </a:solidFill>
              </a:rPr>
              <a:t>&gt; cd section_07</a:t>
            </a:r>
            <a:endParaRPr lang="en-US" sz="1600" dirty="0"/>
          </a:p>
        </p:txBody>
      </p:sp>
      <p:sp>
        <p:nvSpPr>
          <p:cNvPr id="3" name="Text 1"/>
          <p:cNvSpPr txBox="1"/>
          <p:nvPr/>
        </p:nvSpPr>
        <p:spPr>
          <a:xfrm>
            <a:off x="822960" y="2697480"/>
            <a:ext cx="7315200" cy="1143000"/>
          </a:xfrm>
          <a:prstGeom prst="rect">
            <a:avLst/>
          </a:prstGeom>
          <a:noFill/>
          <a:ln/>
        </p:spPr>
        <p:txBody>
          <a:bodyPr wrap="square" lIns="0" tIns="0" rIns="0" bIns="0" rtlCol="0" anchor="ctr"/>
          <a:lstStyle/>
          <a:p>
            <a:pPr indent="0" marL="0">
              <a:buNone/>
            </a:pPr>
            <a:r>
              <a:rPr lang="en-US" sz="8000" b="1" dirty="0">
                <a:solidFill>
                  <a:srgbClr val="FFFFFF"/>
                </a:solidFill>
              </a:rPr>
              <a:t>07</a:t>
            </a:r>
            <a:endParaRPr lang="en-US" sz="8000" dirty="0"/>
          </a:p>
        </p:txBody>
      </p:sp>
      <p:sp>
        <p:nvSpPr>
          <p:cNvPr id="4" name="Text 2"/>
          <p:cNvSpPr txBox="1"/>
          <p:nvPr/>
        </p:nvSpPr>
        <p:spPr>
          <a:xfrm>
            <a:off x="822960" y="3840480"/>
            <a:ext cx="10515600" cy="685800"/>
          </a:xfrm>
          <a:prstGeom prst="rect">
            <a:avLst/>
          </a:prstGeom>
          <a:noFill/>
          <a:ln/>
        </p:spPr>
        <p:txBody>
          <a:bodyPr wrap="square" lIns="0" tIns="0" rIns="0" bIns="0" rtlCol="0" anchor="ctr"/>
          <a:lstStyle/>
          <a:p>
            <a:pPr indent="0" marL="0">
              <a:buNone/>
            </a:pPr>
            <a:r>
              <a:rPr lang="en-US" sz="3400" b="1" dirty="0">
                <a:solidFill>
                  <a:srgbClr val="FFFFFF"/>
                </a:solidFill>
              </a:rPr>
              <a:t>DEMO</a:t>
            </a:r>
            <a:pPr indent="0" marL="0">
              <a:buNone/>
            </a:pPr>
            <a:r>
              <a:rPr lang="en-US" sz="3400" b="1" dirty="0">
                <a:solidFill>
                  <a:srgbClr val="FFFFFF"/>
                </a:solidFill>
              </a:rPr>
              <a:t>█</a:t>
            </a:r>
            <a:endParaRPr lang="en-US" sz="3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RACE THE GHOSTS</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[ 07 ]</a:t>
            </a:r>
            <a:endParaRPr lang="en-US" sz="1400" dirty="0"/>
          </a:p>
        </p:txBody>
      </p:sp>
      <p:pic>
        <p:nvPicPr>
          <p:cNvPr id="4" name="13_demo_race.png" descr="C:/Users/dynam/Desktop/rl da3/ProcGen_RL/runs/presentation/13_demo_race.png">    </p:cNvPr>
          <p:cNvPicPr>
            <a:picLocks noChangeAspect="1"/>
          </p:cNvPicPr>
          <p:nvPr/>
        </p:nvPicPr>
        <p:blipFill>
          <a:blip r:embed="rId1"/>
          <a:stretch>
            <a:fillRect/>
          </a:stretch>
        </p:blipFill>
        <p:spPr>
          <a:xfrm>
            <a:off x="457200" y="914400"/>
            <a:ext cx="7223760" cy="4052078"/>
          </a:xfrm>
          <a:prstGeom prst="rect">
            <a:avLst/>
          </a:prstGeom>
        </p:spPr>
      </p:pic>
      <p:sp>
        <p:nvSpPr>
          <p:cNvPr id="5" name="Shape 2"/>
          <p:cNvSpPr/>
          <p:nvPr/>
        </p:nvSpPr>
        <p:spPr>
          <a:xfrm>
            <a:off x="457200" y="914400"/>
            <a:ext cx="7223760" cy="4052078"/>
          </a:xfrm>
          <a:prstGeom prst="rect">
            <a:avLst/>
          </a:prstGeom>
          <a:ln w="12700">
            <a:solidFill>
              <a:srgbClr val="000000"/>
            </a:solidFill>
            <a:prstDash val="solid"/>
          </a:ln>
        </p:spPr>
      </p:sp>
      <p:sp>
        <p:nvSpPr>
          <p:cNvPr id="6" name="Shape 3"/>
          <p:cNvSpPr/>
          <p:nvPr/>
        </p:nvSpPr>
        <p:spPr>
          <a:xfrm>
            <a:off x="8074152" y="987552"/>
            <a:ext cx="3749040" cy="2514600"/>
          </a:xfrm>
          <a:prstGeom prst="rect">
            <a:avLst/>
          </a:prstGeom>
          <a:solidFill>
            <a:srgbClr val="000000"/>
          </a:solidFill>
          <a:ln w="9525">
            <a:solidFill>
              <a:srgbClr val="000000"/>
            </a:solidFill>
            <a:prstDash val="solid"/>
          </a:ln>
        </p:spPr>
      </p:sp>
      <p:sp>
        <p:nvSpPr>
          <p:cNvPr id="7" name="Shape 4"/>
          <p:cNvSpPr/>
          <p:nvPr/>
        </p:nvSpPr>
        <p:spPr>
          <a:xfrm>
            <a:off x="8001000" y="914400"/>
            <a:ext cx="3749040" cy="2514600"/>
          </a:xfrm>
          <a:prstGeom prst="rect">
            <a:avLst/>
          </a:prstGeom>
          <a:solidFill>
            <a:srgbClr val="FFFFFF"/>
          </a:solidFill>
          <a:ln w="19050">
            <a:solidFill>
              <a:srgbClr val="000000"/>
            </a:solidFill>
            <a:prstDash val="solid"/>
          </a:ln>
        </p:spPr>
      </p:sp>
      <p:sp>
        <p:nvSpPr>
          <p:cNvPr id="8" name="Shape 5"/>
          <p:cNvSpPr/>
          <p:nvPr/>
        </p:nvSpPr>
        <p:spPr>
          <a:xfrm>
            <a:off x="8001000" y="914400"/>
            <a:ext cx="3749040" cy="347472"/>
          </a:xfrm>
          <a:prstGeom prst="rect">
            <a:avLst/>
          </a:prstGeom>
          <a:solidFill>
            <a:srgbClr val="000000"/>
          </a:solidFill>
          <a:ln w="19050">
            <a:solidFill>
              <a:srgbClr val="000000"/>
            </a:solidFill>
            <a:prstDash val="solid"/>
          </a:ln>
        </p:spPr>
      </p:sp>
      <p:sp>
        <p:nvSpPr>
          <p:cNvPr id="9" name="Text 6"/>
          <p:cNvSpPr txBox="1"/>
          <p:nvPr/>
        </p:nvSpPr>
        <p:spPr>
          <a:xfrm>
            <a:off x="8129016" y="914400"/>
            <a:ext cx="3493008" cy="347472"/>
          </a:xfrm>
          <a:prstGeom prst="rect">
            <a:avLst/>
          </a:prstGeom>
          <a:noFill/>
          <a:ln/>
        </p:spPr>
        <p:txBody>
          <a:bodyPr wrap="square" lIns="0" tIns="0" rIns="0" bIns="0" rtlCol="0" anchor="ctr"/>
          <a:lstStyle/>
          <a:p>
            <a:pPr algn="l" indent="0" marL="0">
              <a:buNone/>
            </a:pPr>
            <a:r>
              <a:rPr lang="en-US" sz="1300" b="1" dirty="0">
                <a:solidFill>
                  <a:srgbClr val="FFFFFF"/>
                </a:solidFill>
              </a:rPr>
              <a:t>&gt; controls</a:t>
            </a:r>
            <a:endParaRPr lang="en-US" sz="1300" dirty="0"/>
          </a:p>
        </p:txBody>
      </p:sp>
      <p:sp>
        <p:nvSpPr>
          <p:cNvPr id="10" name="Text 7"/>
          <p:cNvSpPr txBox="1"/>
          <p:nvPr/>
        </p:nvSpPr>
        <p:spPr>
          <a:xfrm>
            <a:off x="8165592" y="1371600"/>
            <a:ext cx="3419856" cy="1947672"/>
          </a:xfrm>
          <a:prstGeom prst="rect">
            <a:avLst/>
          </a:prstGeom>
          <a:noFill/>
          <a:ln/>
        </p:spPr>
        <p:txBody>
          <a:bodyPr wrap="square" lIns="0" tIns="0" rIns="0" bIns="0" rtlCol="0" anchor="t"/>
          <a:lstStyle/>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arrows / A D   run</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Space          jump</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N              new level</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 ]            difficulty</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I              debug mode</a:t>
            </a:r>
            <a:endParaRPr lang="en-US" sz="1300" dirty="0"/>
          </a:p>
          <a:p>
            <a:pPr indent="0" marL="0">
              <a:spcAft>
                <a:spcPts val="300"/>
              </a:spcAft>
              <a:buNone/>
            </a:pPr>
            <a:r>
              <a:rPr lang="en-US" sz="1300" dirty="0">
                <a:solidFill>
                  <a:srgbClr val="000000"/>
                </a:solidFill>
                <a:latin typeface="Consolas" pitchFamily="34" charset="0"/>
                <a:ea typeface="Consolas" pitchFamily="34" charset="-122"/>
                <a:cs typeface="Consolas" pitchFamily="34" charset="-120"/>
              </a:rPr>
              <a:t>H              all keys</a:t>
            </a:r>
            <a:endParaRPr lang="en-US" sz="1300" dirty="0"/>
          </a:p>
        </p:txBody>
      </p:sp>
      <p:sp>
        <p:nvSpPr>
          <p:cNvPr id="11" name="Shape 8"/>
          <p:cNvSpPr/>
          <p:nvPr/>
        </p:nvSpPr>
        <p:spPr>
          <a:xfrm>
            <a:off x="8001000" y="3749040"/>
            <a:ext cx="3822192" cy="502920"/>
          </a:xfrm>
          <a:prstGeom prst="rect">
            <a:avLst/>
          </a:prstGeom>
          <a:solidFill>
            <a:srgbClr val="000000"/>
          </a:solidFill>
          <a:ln w="12700">
            <a:solidFill>
              <a:srgbClr val="000000"/>
            </a:solidFill>
            <a:prstDash val="solid"/>
          </a:ln>
        </p:spPr>
      </p:sp>
      <p:sp>
        <p:nvSpPr>
          <p:cNvPr id="12" name="Text 9"/>
          <p:cNvSpPr txBox="1"/>
          <p:nvPr/>
        </p:nvSpPr>
        <p:spPr>
          <a:xfrm>
            <a:off x="8138160" y="3749040"/>
            <a:ext cx="3547872" cy="502920"/>
          </a:xfrm>
          <a:prstGeom prst="rect">
            <a:avLst/>
          </a:prstGeom>
          <a:noFill/>
          <a:ln/>
        </p:spPr>
        <p:txBody>
          <a:bodyPr wrap="square" lIns="0" tIns="0" rIns="0" bIns="0" rtlCol="0" anchor="ctr"/>
          <a:lstStyle/>
          <a:p>
            <a:pPr algn="l" indent="0" marL="0">
              <a:buNone/>
            </a:pPr>
            <a:r>
              <a:rPr lang="en-US" sz="1400" b="1" dirty="0">
                <a:solidFill>
                  <a:srgbClr val="FFFFFF"/>
                </a:solidFill>
              </a:rPr>
              <a:t>$ python demo.py</a:t>
            </a:r>
            <a:endParaRPr lang="en-US" sz="1400" dirty="0"/>
          </a:p>
        </p:txBody>
      </p:sp>
      <p:sp>
        <p:nvSpPr>
          <p:cNvPr id="13" name="Shape 10"/>
          <p:cNvSpPr/>
          <p:nvPr/>
        </p:nvSpPr>
        <p:spPr>
          <a:xfrm>
            <a:off x="8001000" y="4434840"/>
            <a:ext cx="3822192" cy="502920"/>
          </a:xfrm>
          <a:prstGeom prst="rect">
            <a:avLst/>
          </a:prstGeom>
          <a:solidFill>
            <a:srgbClr val="000000"/>
          </a:solidFill>
          <a:ln w="12700">
            <a:solidFill>
              <a:srgbClr val="000000"/>
            </a:solidFill>
            <a:prstDash val="solid"/>
          </a:ln>
        </p:spPr>
      </p:sp>
      <p:sp>
        <p:nvSpPr>
          <p:cNvPr id="14" name="Text 11"/>
          <p:cNvSpPr txBox="1"/>
          <p:nvPr/>
        </p:nvSpPr>
        <p:spPr>
          <a:xfrm>
            <a:off x="8138160" y="4434840"/>
            <a:ext cx="3547872" cy="502920"/>
          </a:xfrm>
          <a:prstGeom prst="rect">
            <a:avLst/>
          </a:prstGeom>
          <a:noFill/>
          <a:ln/>
        </p:spPr>
        <p:txBody>
          <a:bodyPr wrap="square" lIns="0" tIns="0" rIns="0" bIns="0" rtlCol="0" anchor="ctr"/>
          <a:lstStyle/>
          <a:p>
            <a:pPr algn="l" indent="0" marL="0">
              <a:buNone/>
            </a:pPr>
            <a:r>
              <a:rPr lang="en-US" sz="1400" b="1" dirty="0">
                <a:solidFill>
                  <a:srgbClr val="FFFFFF"/>
                </a:solidFill>
              </a:rPr>
              <a:t>$ python demo.py --debug</a:t>
            </a:r>
            <a:endParaRPr lang="en-US" sz="1400" dirty="0"/>
          </a:p>
        </p:txBody>
      </p:sp>
      <p:sp>
        <p:nvSpPr>
          <p:cNvPr id="15" name="Text 12"/>
          <p:cNvSpPr txBox="1"/>
          <p:nvPr/>
        </p:nvSpPr>
        <p:spPr>
          <a:xfrm>
            <a:off x="457200" y="5486400"/>
            <a:ext cx="11247120" cy="274320"/>
          </a:xfrm>
          <a:prstGeom prst="rect">
            <a:avLst/>
          </a:prstGeom>
          <a:noFill/>
          <a:ln/>
        </p:spPr>
        <p:txBody>
          <a:bodyPr wrap="square" lIns="0" tIns="0" rIns="0" bIns="0" rtlCol="0" anchor="ctr"/>
          <a:lstStyle/>
          <a:p>
            <a:pPr indent="0" marL="0">
              <a:buNone/>
            </a:pPr>
            <a:r>
              <a:rPr lang="en-US" sz="1100" i="1" dirty="0">
                <a:solidFill>
                  <a:srgbClr val="5A5A5A"/>
                </a:solidFill>
              </a:rPr>
              <a:t>14 see-through ghosts from 0 min to 300 h; you are the solid red one; every round is a fresh level</a:t>
            </a:r>
            <a:endParaRPr lang="en-US" sz="1100" dirty="0"/>
          </a:p>
        </p:txBody>
      </p:sp>
      <p:sp>
        <p:nvSpPr>
          <p:cNvPr id="17"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demo</a:t>
            </a:r>
            <a:endParaRPr lang="en-US" sz="900" dirty="0"/>
          </a:p>
        </p:txBody>
      </p:sp>
      <p:sp>
        <p:nvSpPr>
          <p:cNvPr id="18"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[ 40/42 ]</a:t>
            </a:r>
            <a:endParaRPr lang="en-US" sz="9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WRAP-UP</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[ 07 ]</a:t>
            </a:r>
            <a:endParaRPr lang="en-US" sz="1400" dirty="0"/>
          </a:p>
        </p:txBody>
      </p:sp>
      <p:sp>
        <p:nvSpPr>
          <p:cNvPr id="4" name="Shape 2"/>
          <p:cNvSpPr/>
          <p:nvPr/>
        </p:nvSpPr>
        <p:spPr>
          <a:xfrm>
            <a:off x="530352" y="1170432"/>
            <a:ext cx="3611880" cy="3566160"/>
          </a:xfrm>
          <a:prstGeom prst="rect">
            <a:avLst/>
          </a:prstGeom>
          <a:solidFill>
            <a:srgbClr val="000000"/>
          </a:solidFill>
          <a:ln w="9525">
            <a:solidFill>
              <a:srgbClr val="000000"/>
            </a:solidFill>
            <a:prstDash val="solid"/>
          </a:ln>
        </p:spPr>
      </p:sp>
      <p:sp>
        <p:nvSpPr>
          <p:cNvPr id="5" name="Shape 3"/>
          <p:cNvSpPr/>
          <p:nvPr/>
        </p:nvSpPr>
        <p:spPr>
          <a:xfrm>
            <a:off x="457200" y="1097280"/>
            <a:ext cx="3611880" cy="3566160"/>
          </a:xfrm>
          <a:prstGeom prst="rect">
            <a:avLst/>
          </a:prstGeom>
          <a:solidFill>
            <a:srgbClr val="FFFFFF"/>
          </a:solidFill>
          <a:ln w="19050">
            <a:solidFill>
              <a:srgbClr val="000000"/>
            </a:solidFill>
            <a:prstDash val="solid"/>
          </a:ln>
        </p:spPr>
      </p:sp>
      <p:sp>
        <p:nvSpPr>
          <p:cNvPr id="6" name="Shape 4"/>
          <p:cNvSpPr/>
          <p:nvPr/>
        </p:nvSpPr>
        <p:spPr>
          <a:xfrm>
            <a:off x="457200" y="1097280"/>
            <a:ext cx="3611880" cy="347472"/>
          </a:xfrm>
          <a:prstGeom prst="rect">
            <a:avLst/>
          </a:prstGeom>
          <a:solidFill>
            <a:srgbClr val="000000"/>
          </a:solidFill>
          <a:ln w="19050">
            <a:solidFill>
              <a:srgbClr val="000000"/>
            </a:solidFill>
            <a:prstDash val="solid"/>
          </a:ln>
        </p:spPr>
      </p:sp>
      <p:sp>
        <p:nvSpPr>
          <p:cNvPr id="7" name="Text 5"/>
          <p:cNvSpPr txBox="1"/>
          <p:nvPr/>
        </p:nvSpPr>
        <p:spPr>
          <a:xfrm>
            <a:off x="585216" y="1097280"/>
            <a:ext cx="3355848" cy="347472"/>
          </a:xfrm>
          <a:prstGeom prst="rect">
            <a:avLst/>
          </a:prstGeom>
          <a:noFill/>
          <a:ln/>
        </p:spPr>
        <p:txBody>
          <a:bodyPr wrap="square" lIns="0" tIns="0" rIns="0" bIns="0" rtlCol="0" anchor="ctr"/>
          <a:lstStyle/>
          <a:p>
            <a:pPr algn="l" indent="0" marL="0">
              <a:buNone/>
            </a:pPr>
            <a:r>
              <a:rPr lang="en-US" sz="1300" b="1" dirty="0">
                <a:solidFill>
                  <a:srgbClr val="FFFFFF"/>
                </a:solidFill>
              </a:rPr>
              <a:t>&gt; what worked</a:t>
            </a:r>
            <a:endParaRPr lang="en-US" sz="1300" dirty="0"/>
          </a:p>
        </p:txBody>
      </p:sp>
      <p:sp>
        <p:nvSpPr>
          <p:cNvPr id="8" name="Text 6"/>
          <p:cNvSpPr txBox="1"/>
          <p:nvPr/>
        </p:nvSpPr>
        <p:spPr>
          <a:xfrm>
            <a:off x="621792" y="1554480"/>
            <a:ext cx="3282696" cy="2999232"/>
          </a:xfrm>
          <a:prstGeom prst="rect">
            <a:avLst/>
          </a:prstGeom>
          <a:noFill/>
          <a:ln/>
        </p:spPr>
        <p:txBody>
          <a:bodyPr wrap="square" lIns="0" tIns="0" rIns="0" bIns="0" rtlCol="0" anchor="t"/>
          <a:lstStyle/>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a tile view relative to the agent</a:t>
            </a:r>
            <a:endParaRPr lang="en-US" sz="1300" dirty="0"/>
          </a:p>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a curriculum from easy to hard</a:t>
            </a:r>
            <a:endParaRPr lang="en-US" sz="1300" dirty="0"/>
          </a:p>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a new level every attempt</a:t>
            </a:r>
            <a:endParaRPr lang="en-US" sz="1300" dirty="0"/>
          </a:p>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one shared game loop: ghosts act exactly as in training</a:t>
            </a:r>
            <a:endParaRPr lang="en-US" sz="1300" dirty="0"/>
          </a:p>
        </p:txBody>
      </p:sp>
      <p:sp>
        <p:nvSpPr>
          <p:cNvPr id="9" name="Shape 7"/>
          <p:cNvSpPr/>
          <p:nvPr/>
        </p:nvSpPr>
        <p:spPr>
          <a:xfrm>
            <a:off x="4370832" y="1170432"/>
            <a:ext cx="3611880" cy="3566160"/>
          </a:xfrm>
          <a:prstGeom prst="rect">
            <a:avLst/>
          </a:prstGeom>
          <a:solidFill>
            <a:srgbClr val="000000"/>
          </a:solidFill>
          <a:ln w="9525">
            <a:solidFill>
              <a:srgbClr val="000000"/>
            </a:solidFill>
            <a:prstDash val="solid"/>
          </a:ln>
        </p:spPr>
      </p:sp>
      <p:sp>
        <p:nvSpPr>
          <p:cNvPr id="10" name="Shape 8"/>
          <p:cNvSpPr/>
          <p:nvPr/>
        </p:nvSpPr>
        <p:spPr>
          <a:xfrm>
            <a:off x="4297680" y="1097280"/>
            <a:ext cx="3611880" cy="3566160"/>
          </a:xfrm>
          <a:prstGeom prst="rect">
            <a:avLst/>
          </a:prstGeom>
          <a:solidFill>
            <a:srgbClr val="FFFFFF"/>
          </a:solidFill>
          <a:ln w="19050">
            <a:solidFill>
              <a:srgbClr val="000000"/>
            </a:solidFill>
            <a:prstDash val="solid"/>
          </a:ln>
        </p:spPr>
      </p:sp>
      <p:sp>
        <p:nvSpPr>
          <p:cNvPr id="11" name="Shape 9"/>
          <p:cNvSpPr/>
          <p:nvPr/>
        </p:nvSpPr>
        <p:spPr>
          <a:xfrm>
            <a:off x="4297680" y="1097280"/>
            <a:ext cx="3611880" cy="347472"/>
          </a:xfrm>
          <a:prstGeom prst="rect">
            <a:avLst/>
          </a:prstGeom>
          <a:solidFill>
            <a:srgbClr val="000000"/>
          </a:solidFill>
          <a:ln w="19050">
            <a:solidFill>
              <a:srgbClr val="000000"/>
            </a:solidFill>
            <a:prstDash val="solid"/>
          </a:ln>
        </p:spPr>
      </p:sp>
      <p:sp>
        <p:nvSpPr>
          <p:cNvPr id="12" name="Text 10"/>
          <p:cNvSpPr txBox="1"/>
          <p:nvPr/>
        </p:nvSpPr>
        <p:spPr>
          <a:xfrm>
            <a:off x="4425696" y="1097280"/>
            <a:ext cx="3355848" cy="347472"/>
          </a:xfrm>
          <a:prstGeom prst="rect">
            <a:avLst/>
          </a:prstGeom>
          <a:noFill/>
          <a:ln/>
        </p:spPr>
        <p:txBody>
          <a:bodyPr wrap="square" lIns="0" tIns="0" rIns="0" bIns="0" rtlCol="0" anchor="ctr"/>
          <a:lstStyle/>
          <a:p>
            <a:pPr algn="l" indent="0" marL="0">
              <a:buNone/>
            </a:pPr>
            <a:r>
              <a:rPr lang="en-US" sz="1300" b="1" dirty="0">
                <a:solidFill>
                  <a:srgbClr val="FFFFFF"/>
                </a:solidFill>
              </a:rPr>
              <a:t>&gt; what was hard</a:t>
            </a:r>
            <a:endParaRPr lang="en-US" sz="1300" dirty="0"/>
          </a:p>
        </p:txBody>
      </p:sp>
      <p:sp>
        <p:nvSpPr>
          <p:cNvPr id="13" name="Text 11"/>
          <p:cNvSpPr txBox="1"/>
          <p:nvPr/>
        </p:nvSpPr>
        <p:spPr>
          <a:xfrm>
            <a:off x="4462272" y="1554480"/>
            <a:ext cx="3282696" cy="2999232"/>
          </a:xfrm>
          <a:prstGeom prst="rect">
            <a:avLst/>
          </a:prstGeom>
          <a:noFill/>
          <a:ln/>
        </p:spPr>
        <p:txBody>
          <a:bodyPr wrap="square" lIns="0" tIns="0" rIns="0" bIns="0" rtlCol="0" anchor="t"/>
          <a:lstStyle/>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guaranteeing every random level is beatable (a solver in the tests)</a:t>
            </a:r>
            <a:endParaRPr lang="en-US" sz="1300" dirty="0"/>
          </a:p>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a reward it can learn from before ever reaching a flag</a:t>
            </a:r>
            <a:endParaRPr lang="en-US" sz="1300" dirty="0"/>
          </a:p>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overnight runs that survive a crash (autosave + resume)</a:t>
            </a:r>
            <a:endParaRPr lang="en-US" sz="1300" dirty="0"/>
          </a:p>
        </p:txBody>
      </p:sp>
      <p:sp>
        <p:nvSpPr>
          <p:cNvPr id="14" name="Shape 12"/>
          <p:cNvSpPr/>
          <p:nvPr/>
        </p:nvSpPr>
        <p:spPr>
          <a:xfrm>
            <a:off x="8211312" y="1170432"/>
            <a:ext cx="3611880" cy="3566160"/>
          </a:xfrm>
          <a:prstGeom prst="rect">
            <a:avLst/>
          </a:prstGeom>
          <a:solidFill>
            <a:srgbClr val="000000"/>
          </a:solidFill>
          <a:ln w="9525">
            <a:solidFill>
              <a:srgbClr val="000000"/>
            </a:solidFill>
            <a:prstDash val="solid"/>
          </a:ln>
        </p:spPr>
      </p:sp>
      <p:sp>
        <p:nvSpPr>
          <p:cNvPr id="15" name="Shape 13"/>
          <p:cNvSpPr/>
          <p:nvPr/>
        </p:nvSpPr>
        <p:spPr>
          <a:xfrm>
            <a:off x="8138160" y="1097280"/>
            <a:ext cx="3611880" cy="3566160"/>
          </a:xfrm>
          <a:prstGeom prst="rect">
            <a:avLst/>
          </a:prstGeom>
          <a:solidFill>
            <a:srgbClr val="FFFFFF"/>
          </a:solidFill>
          <a:ln w="19050">
            <a:solidFill>
              <a:srgbClr val="000000"/>
            </a:solidFill>
            <a:prstDash val="solid"/>
          </a:ln>
        </p:spPr>
      </p:sp>
      <p:sp>
        <p:nvSpPr>
          <p:cNvPr id="16" name="Shape 14"/>
          <p:cNvSpPr/>
          <p:nvPr/>
        </p:nvSpPr>
        <p:spPr>
          <a:xfrm>
            <a:off x="8138160" y="1097280"/>
            <a:ext cx="3611880" cy="347472"/>
          </a:xfrm>
          <a:prstGeom prst="rect">
            <a:avLst/>
          </a:prstGeom>
          <a:solidFill>
            <a:srgbClr val="000000"/>
          </a:solidFill>
          <a:ln w="19050">
            <a:solidFill>
              <a:srgbClr val="000000"/>
            </a:solidFill>
            <a:prstDash val="solid"/>
          </a:ln>
        </p:spPr>
      </p:sp>
      <p:sp>
        <p:nvSpPr>
          <p:cNvPr id="17" name="Text 15"/>
          <p:cNvSpPr txBox="1"/>
          <p:nvPr/>
        </p:nvSpPr>
        <p:spPr>
          <a:xfrm>
            <a:off x="8266176" y="1097280"/>
            <a:ext cx="3355848" cy="347472"/>
          </a:xfrm>
          <a:prstGeom prst="rect">
            <a:avLst/>
          </a:prstGeom>
          <a:noFill/>
          <a:ln/>
        </p:spPr>
        <p:txBody>
          <a:bodyPr wrap="square" lIns="0" tIns="0" rIns="0" bIns="0" rtlCol="0" anchor="ctr"/>
          <a:lstStyle/>
          <a:p>
            <a:pPr algn="l" indent="0" marL="0">
              <a:buNone/>
            </a:pPr>
            <a:r>
              <a:rPr lang="en-US" sz="1300" b="1" dirty="0">
                <a:solidFill>
                  <a:srgbClr val="FFFFFF"/>
                </a:solidFill>
              </a:rPr>
              <a:t>&gt; next</a:t>
            </a:r>
            <a:endParaRPr lang="en-US" sz="1300" dirty="0"/>
          </a:p>
        </p:txBody>
      </p:sp>
      <p:sp>
        <p:nvSpPr>
          <p:cNvPr id="18" name="Text 16"/>
          <p:cNvSpPr txBox="1"/>
          <p:nvPr/>
        </p:nvSpPr>
        <p:spPr>
          <a:xfrm>
            <a:off x="8302752" y="1554480"/>
            <a:ext cx="3282696" cy="2999232"/>
          </a:xfrm>
          <a:prstGeom prst="rect">
            <a:avLst/>
          </a:prstGeom>
          <a:noFill/>
          <a:ln/>
        </p:spPr>
        <p:txBody>
          <a:bodyPr wrap="square" lIns="0" tIns="0" rIns="0" bIns="0" rtlCol="0" anchor="t"/>
          <a:lstStyle/>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phase 2: enemies</a:t>
            </a:r>
            <a:endParaRPr lang="en-US" sz="1300" dirty="0"/>
          </a:p>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pixel input with a convolutional network</a:t>
            </a:r>
            <a:endParaRPr lang="en-US" sz="1300" dirty="0"/>
          </a:p>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a stronger critic (it is the weakest part)</a:t>
            </a:r>
            <a:endParaRPr lang="en-US" sz="1300" dirty="0"/>
          </a:p>
          <a:p>
            <a:pPr indent="0" marL="0">
              <a:spcAft>
                <a:spcPts val="1000"/>
              </a:spcAft>
              <a:buNone/>
            </a:pPr>
            <a:r>
              <a:rPr lang="en-US" sz="1300" dirty="0">
                <a:solidFill>
                  <a:srgbClr val="000000"/>
                </a:solidFill>
                <a:latin typeface="Consolas" pitchFamily="34" charset="0"/>
                <a:ea typeface="Consolas" pitchFamily="34" charset="-122"/>
                <a:cs typeface="Consolas" pitchFamily="34" charset="-120"/>
              </a:rPr>
              <a:t>compare human runs with the ghosts</a:t>
            </a:r>
            <a:endParaRPr lang="en-US" sz="1300" dirty="0"/>
          </a:p>
        </p:txBody>
      </p:sp>
      <p:sp>
        <p:nvSpPr>
          <p:cNvPr id="19" name="Shape 17"/>
          <p:cNvSpPr/>
          <p:nvPr/>
        </p:nvSpPr>
        <p:spPr>
          <a:xfrm>
            <a:off x="457200" y="5029200"/>
            <a:ext cx="11292840" cy="594360"/>
          </a:xfrm>
          <a:prstGeom prst="rect">
            <a:avLst/>
          </a:prstGeom>
          <a:solidFill>
            <a:srgbClr val="000000"/>
          </a:solidFill>
          <a:ln w="12700">
            <a:solidFill>
              <a:srgbClr val="000000"/>
            </a:solidFill>
            <a:prstDash val="solid"/>
          </a:ln>
        </p:spPr>
      </p:sp>
      <p:sp>
        <p:nvSpPr>
          <p:cNvPr id="20" name="Text 18"/>
          <p:cNvSpPr txBox="1"/>
          <p:nvPr/>
        </p:nvSpPr>
        <p:spPr>
          <a:xfrm>
            <a:off x="594360" y="5029200"/>
            <a:ext cx="11018520" cy="594360"/>
          </a:xfrm>
          <a:prstGeom prst="rect">
            <a:avLst/>
          </a:prstGeom>
          <a:noFill/>
          <a:ln/>
        </p:spPr>
        <p:txBody>
          <a:bodyPr wrap="square" lIns="0" tIns="0" rIns="0" bIns="0" rtlCol="0" anchor="ctr"/>
          <a:lstStyle/>
          <a:p>
            <a:pPr algn="ctr" indent="0" marL="0">
              <a:buNone/>
            </a:pPr>
            <a:r>
              <a:rPr lang="en-US" sz="1400" b="1" dirty="0">
                <a:solidFill>
                  <a:srgbClr val="FFFFFF"/>
                </a:solidFill>
              </a:rPr>
              <a:t>not a black box: it watches 2-6 tiles ahead, relies on spikes and ground, and built its own detectors</a:t>
            </a:r>
            <a:endParaRPr lang="en-US" sz="1400" dirty="0"/>
          </a:p>
        </p:txBody>
      </p:sp>
      <p:sp>
        <p:nvSpPr>
          <p:cNvPr id="22"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demo</a:t>
            </a:r>
            <a:endParaRPr lang="en-US" sz="900" dirty="0"/>
          </a:p>
        </p:txBody>
      </p:sp>
      <p:sp>
        <p:nvSpPr>
          <p:cNvPr id="23"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[ 41/42 ]</a:t>
            </a:r>
            <a:endParaRPr lang="en-US" sz="9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txBox="1"/>
          <p:nvPr/>
        </p:nvSpPr>
        <p:spPr>
          <a:xfrm>
            <a:off x="822960" y="2377440"/>
            <a:ext cx="7315200" cy="365760"/>
          </a:xfrm>
          <a:prstGeom prst="rect">
            <a:avLst/>
          </a:prstGeom>
          <a:noFill/>
          <a:ln/>
        </p:spPr>
        <p:txBody>
          <a:bodyPr wrap="square" lIns="0" tIns="0" rIns="0" bIns="0" rtlCol="0" anchor="ctr"/>
          <a:lstStyle/>
          <a:p>
            <a:pPr indent="0" marL="0">
              <a:buNone/>
            </a:pPr>
            <a:r>
              <a:rPr lang="en-US" sz="1600" dirty="0">
                <a:solidFill>
                  <a:srgbClr val="D9D9D9"/>
                </a:solidFill>
              </a:rPr>
              <a:t>$ talk --questions</a:t>
            </a:r>
            <a:endParaRPr lang="en-US" sz="1600" dirty="0"/>
          </a:p>
        </p:txBody>
      </p:sp>
      <p:sp>
        <p:nvSpPr>
          <p:cNvPr id="3" name="Text 1"/>
          <p:cNvSpPr txBox="1"/>
          <p:nvPr/>
        </p:nvSpPr>
        <p:spPr>
          <a:xfrm>
            <a:off x="822960" y="2743200"/>
            <a:ext cx="10058400" cy="1188720"/>
          </a:xfrm>
          <a:prstGeom prst="rect">
            <a:avLst/>
          </a:prstGeom>
          <a:noFill/>
          <a:ln/>
        </p:spPr>
        <p:txBody>
          <a:bodyPr wrap="square" lIns="0" tIns="0" rIns="0" bIns="0" rtlCol="0" anchor="ctr"/>
          <a:lstStyle/>
          <a:p>
            <a:pPr indent="0" marL="0">
              <a:buNone/>
            </a:pPr>
            <a:r>
              <a:rPr lang="en-US" sz="6600" b="1" dirty="0">
                <a:solidFill>
                  <a:srgbClr val="FFFFFF"/>
                </a:solidFill>
              </a:rPr>
              <a:t>QUESTIONS?</a:t>
            </a:r>
            <a:pPr indent="0" marL="0">
              <a:buNone/>
            </a:pPr>
            <a:r>
              <a:rPr lang="en-US" sz="6600" b="1" dirty="0">
                <a:solidFill>
                  <a:srgbClr val="FFFFFF"/>
                </a:solidFill>
              </a:rPr>
              <a:t>█</a:t>
            </a:r>
            <a:endParaRPr lang="en-US" sz="6600" dirty="0"/>
          </a:p>
        </p:txBody>
      </p:sp>
      <p:sp>
        <p:nvSpPr>
          <p:cNvPr id="4" name="Text 2"/>
          <p:cNvSpPr txBox="1"/>
          <p:nvPr/>
        </p:nvSpPr>
        <p:spPr>
          <a:xfrm>
            <a:off x="822960" y="4069080"/>
            <a:ext cx="10058400" cy="365760"/>
          </a:xfrm>
          <a:prstGeom prst="rect">
            <a:avLst/>
          </a:prstGeom>
          <a:noFill/>
          <a:ln/>
        </p:spPr>
        <p:txBody>
          <a:bodyPr wrap="square" lIns="0" tIns="0" rIns="0" bIns="0" rtlCol="0" anchor="ctr"/>
          <a:lstStyle/>
          <a:p>
            <a:pPr indent="0" marL="0">
              <a:buNone/>
            </a:pPr>
            <a:r>
              <a:rPr lang="en-US" sz="1500" dirty="0">
                <a:solidFill>
                  <a:srgbClr val="D9D9D9"/>
                </a:solidFill>
              </a:rPr>
              <a:t>[Your Name]  //  github.com/DYNAMAXD/ProcGen_RL</a:t>
            </a:r>
            <a:endParaRPr lang="en-US" sz="15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BACKUP: PPO HEALTH CHECKS</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A1 ]</a:t>
            </a:r>
            <a:endParaRPr lang="en-US" sz="1400" dirty="0"/>
          </a:p>
        </p:txBody>
      </p:sp>
      <p:pic>
        <p:nvPicPr>
          <p:cNvPr id="4" name="12_ppo_diagnostics.png" descr="C:/Users/dynam/Desktop/rl da3/ProcGen_RL/runs/presentation/12_ppo_diagnostics.png">    </p:cNvPr>
          <p:cNvPicPr>
            <a:picLocks noChangeAspect="1"/>
          </p:cNvPicPr>
          <p:nvPr/>
        </p:nvPicPr>
        <p:blipFill>
          <a:blip r:embed="rId1"/>
          <a:stretch>
            <a:fillRect/>
          </a:stretch>
        </p:blipFill>
        <p:spPr>
          <a:xfrm>
            <a:off x="457200" y="868680"/>
            <a:ext cx="7680960" cy="3790334"/>
          </a:xfrm>
          <a:prstGeom prst="rect">
            <a:avLst/>
          </a:prstGeom>
        </p:spPr>
      </p:pic>
      <p:sp>
        <p:nvSpPr>
          <p:cNvPr id="5" name="Shape 2"/>
          <p:cNvSpPr/>
          <p:nvPr/>
        </p:nvSpPr>
        <p:spPr>
          <a:xfrm>
            <a:off x="457200" y="868680"/>
            <a:ext cx="7680960" cy="3790334"/>
          </a:xfrm>
          <a:prstGeom prst="rect">
            <a:avLst/>
          </a:prstGeom>
          <a:ln w="12700">
            <a:solidFill>
              <a:srgbClr val="000000"/>
            </a:solidFill>
            <a:prstDash val="solid"/>
          </a:ln>
        </p:spPr>
      </p:sp>
      <p:sp>
        <p:nvSpPr>
          <p:cNvPr id="6" name="Text 3"/>
          <p:cNvSpPr txBox="1"/>
          <p:nvPr/>
        </p:nvSpPr>
        <p:spPr>
          <a:xfrm>
            <a:off x="8412480" y="1051560"/>
            <a:ext cx="3383280" cy="4572000"/>
          </a:xfrm>
          <a:prstGeom prst="rect">
            <a:avLst/>
          </a:prstGeom>
          <a:noFill/>
          <a:ln/>
        </p:spPr>
        <p:txBody>
          <a:bodyPr wrap="square" lIns="0" tIns="0" rIns="0" bIns="0" rtlCol="0" anchor="t"/>
          <a:lstStyle/>
          <a:p>
            <a:pPr marL="254000" indent="-254000">
              <a:spcAft>
                <a:spcPts val="1200"/>
              </a:spcAft>
              <a:buSzPct val="100000"/>
              <a:buChar char="&gt;"/>
            </a:pPr>
            <a:r>
              <a:rPr lang="en-US" b="1" dirty="0">
                <a:solidFill>
                  <a:srgbClr val="000000"/>
                </a:solidFill>
              </a:rPr>
              <a:t>reward</a:t>
            </a:r>
            <a:pPr indent="0" marL="0">
              <a:spcAft>
                <a:spcPts val="1200"/>
              </a:spcAft>
              <a:buNone/>
            </a:pPr>
            <a:r>
              <a:rPr lang="en-US" dirty="0">
                <a:solidFill>
                  <a:srgbClr val="000000"/>
                </a:solidFill>
              </a:rPr>
              <a:t> rises from about 7 to 18 per attempt</a:t>
            </a:r>
            <a:endParaRPr lang="en-US" dirty="0"/>
          </a:p>
          <a:p>
            <a:pPr marL="254000" indent="-254000">
              <a:spcAft>
                <a:spcPts val="1200"/>
              </a:spcAft>
              <a:buSzPct val="100000"/>
              <a:buChar char="&gt;"/>
            </a:pPr>
            <a:r>
              <a:rPr lang="en-US" b="1" dirty="0">
                <a:solidFill>
                  <a:srgbClr val="000000"/>
                </a:solidFill>
              </a:rPr>
              <a:t>entropy</a:t>
            </a:r>
            <a:pPr indent="0" marL="0">
              <a:spcAft>
                <a:spcPts val="1200"/>
              </a:spcAft>
              <a:buNone/>
            </a:pPr>
            <a:r>
              <a:rPr lang="en-US" dirty="0">
                <a:solidFill>
                  <a:srgbClr val="000000"/>
                </a:solidFill>
              </a:rPr>
              <a:t> falls slowly: fewer random actions</a:t>
            </a:r>
            <a:endParaRPr lang="en-US" dirty="0"/>
          </a:p>
          <a:p>
            <a:pPr marL="254000" indent="-254000">
              <a:spcAft>
                <a:spcPts val="1200"/>
              </a:spcAft>
              <a:buSzPct val="100000"/>
              <a:buChar char="&gt;"/>
            </a:pPr>
            <a:r>
              <a:rPr lang="en-US" b="1" dirty="0">
                <a:solidFill>
                  <a:srgbClr val="000000"/>
                </a:solidFill>
              </a:rPr>
              <a:t>KL</a:t>
            </a:r>
            <a:pPr indent="0" marL="0">
              <a:spcAft>
                <a:spcPts val="1200"/>
              </a:spcAft>
              <a:buNone/>
            </a:pPr>
            <a:r>
              <a:rPr lang="en-US" dirty="0">
                <a:solidFill>
                  <a:srgbClr val="000000"/>
                </a:solidFill>
              </a:rPr>
              <a:t> stays near 0.01: stable updates</a:t>
            </a:r>
            <a:endParaRPr lang="en-US" dirty="0"/>
          </a:p>
          <a:p>
            <a:pPr marL="254000" indent="-254000">
              <a:spcAft>
                <a:spcPts val="1200"/>
              </a:spcAft>
              <a:buSzPct val="100000"/>
              <a:buChar char="&gt;"/>
            </a:pPr>
            <a:r>
              <a:rPr lang="en-US" b="1" dirty="0">
                <a:solidFill>
                  <a:srgbClr val="000000"/>
                </a:solidFill>
              </a:rPr>
              <a:t>explained variance</a:t>
            </a:r>
            <a:pPr indent="0" marL="0">
              <a:spcAft>
                <a:spcPts val="1200"/>
              </a:spcAft>
              <a:buNone/>
            </a:pPr>
            <a:r>
              <a:rPr lang="en-US" dirty="0">
                <a:solidFill>
                  <a:srgbClr val="000000"/>
                </a:solidFill>
              </a:rPr>
              <a:t> below 0.4: the critic is the weak part</a:t>
            </a:r>
            <a:endParaRPr lang="en-US" dirty="0"/>
          </a:p>
        </p:txBody>
      </p:sp>
      <p:sp>
        <p:nvSpPr>
          <p:cNvPr id="8"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appendix</a:t>
            </a:r>
            <a:endParaRPr lang="en-US" sz="900" dirty="0"/>
          </a:p>
        </p:txBody>
      </p:sp>
      <p:sp>
        <p:nvSpPr>
          <p:cNvPr id="9"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[ 01/02 ]</a:t>
            </a:r>
            <a:endParaRPr lang="en-US" sz="9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1"/>
          <p:cNvSpPr/>
          <p:nvPr>
            <p:ph idx="101" type="title" hasCustomPrompt="1"/>
          </p:nvPr>
        </p:nvSpPr>
        <p:spPr>
          <a:xfrm>
            <a:off x="320040" y="73152"/>
            <a:ext cx="9966960" cy="512064"/>
          </a:xfrm>
          <a:prstGeom prst="rect">
            <a:avLst/>
          </a:prstGeom>
          <a:noFill/>
          <a:ln/>
        </p:spPr>
        <p:txBody>
          <a:bodyPr wrap="square" lIns="0" tIns="0" rIns="0" bIns="0" rtlCol="0" anchor="ctr"/>
          <a:lstStyle/>
          <a:p>
            <a:pPr algn="l" indent="0" marL="0">
              <a:buNone/>
            </a:pPr>
            <a:r>
              <a:rPr lang="en-US" sz="2400" b="1" dirty="0">
                <a:solidFill>
                  <a:srgbClr val="FFFFFF"/>
                </a:solidFill>
                <a:latin typeface="Consolas" pitchFamily="34" charset="0"/>
                <a:ea typeface="Consolas" pitchFamily="34" charset="-122"/>
                <a:cs typeface="Consolas" pitchFamily="34" charset="-120"/>
              </a:rPr>
              <a:t>BACKUP: GLOSSARY</a:t>
            </a:r>
            <a:pPr algn="l" indent="0" marL="0">
              <a:buNone/>
            </a:pPr>
            <a:r>
              <a:rPr lang="en-US" sz="2400" b="1" dirty="0">
                <a:solidFill>
                  <a:srgbClr val="FFFFFF"/>
                </a:solidFill>
                <a:latin typeface="Consolas" pitchFamily="34" charset="0"/>
                <a:ea typeface="Consolas" pitchFamily="34" charset="-122"/>
                <a:cs typeface="Consolas" pitchFamily="34" charset="-120"/>
              </a:rPr>
              <a:t>█</a:t>
            </a:r>
            <a:endParaRPr lang="en-US" sz="2400" dirty="0"/>
          </a:p>
        </p:txBody>
      </p:sp>
      <p:sp>
        <p:nvSpPr>
          <p:cNvPr id="3" name="section-tag"/>
          <p:cNvSpPr txBox="1"/>
          <p:nvPr/>
        </p:nvSpPr>
        <p:spPr>
          <a:xfrm>
            <a:off x="10424160" y="73152"/>
            <a:ext cx="1444752" cy="512064"/>
          </a:xfrm>
          <a:prstGeom prst="rect">
            <a:avLst/>
          </a:prstGeom>
          <a:noFill/>
          <a:ln/>
        </p:spPr>
        <p:txBody>
          <a:bodyPr wrap="square" lIns="0" tIns="0" rIns="0" bIns="0" rtlCol="0" anchor="ctr"/>
          <a:lstStyle/>
          <a:p>
            <a:pPr algn="r" indent="0" marL="0">
              <a:buNone/>
            </a:pPr>
            <a:r>
              <a:rPr lang="en-US" sz="1400" dirty="0">
                <a:solidFill>
                  <a:srgbClr val="FFFFFF"/>
                </a:solidFill>
              </a:rPr>
              <a:t>[ A2 ]</a:t>
            </a:r>
            <a:endParaRPr lang="en-US" sz="1400" dirty="0"/>
          </a:p>
        </p:txBody>
      </p:sp>
      <p:graphicFrame>
        <p:nvGraphicFramePr>
          <p:cNvPr id="46"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11247120" cy="914400"/>
        </p:xfrm>
        <a:graphic>
          <a:graphicData uri="http://schemas.openxmlformats.org/drawingml/2006/table">
            <a:tbl>
              <a:tblPr/>
              <a:tblGrid>
                <a:gridCol w="3108960"/>
                <a:gridCol w="8138160"/>
              </a:tblGrid>
              <a:tr h="411480">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term</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c>
                  <a:txBody>
                    <a:bodyPr/>
                    <a:lstStyle/>
                    <a:p>
                      <a:pPr indent="0" marL="0">
                        <a:buNone/>
                      </a:pPr>
                      <a:r>
                        <a:rPr lang="en-US" sz="1300" b="1" dirty="0">
                          <a:solidFill>
                            <a:srgbClr val="FFFFFF"/>
                          </a:solidFill>
                          <a:latin typeface="Consolas" pitchFamily="34" charset="0"/>
                          <a:ea typeface="Consolas" pitchFamily="34" charset="-122"/>
                          <a:cs typeface="Consolas" pitchFamily="34" charset="-120"/>
                        </a:rPr>
                        <a:t>meaning here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000000"/>
                    </a:solidFill>
                  </a:tcPr>
                </a:tc>
              </a:tr>
              <a:tr h="41148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reinforcement learning</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learning from rewards by trial and error, without examples of correct play</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policy / actor</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the network that maps the 847 inputs to 6 action probabilities</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1148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critic / value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the network that predicts how much reward is still to come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advantage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how much better an action turned out than the critic expected</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1148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PPO</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the training algorithm: small, clipped updates of the policy</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episode</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one attempt at one level, until death, the flag or a time-out</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1148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ghost</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a saved copy of the policy after some amount of training</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sim hours</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hours of gameplay practised (decisions / 15 per second)</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r h="41148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generalisation</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doing well on levels never seen during training</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FFFFF"/>
                    </a:solidFill>
                  </a:tcPr>
                </a:tc>
              </a:tr>
              <a:tr h="411480">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overfitting</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c>
                  <a:txBody>
                    <a:bodyPr/>
                    <a:lstStyle/>
                    <a:p>
                      <a:pPr indent="0" marL="0">
                        <a:buNone/>
                      </a:pPr>
                      <a:r>
                        <a:rPr lang="en-US" sz="1300" dirty="0">
                          <a:solidFill>
                            <a:srgbClr val="000000"/>
                          </a:solidFill>
                          <a:latin typeface="Consolas" pitchFamily="34" charset="0"/>
                          <a:ea typeface="Consolas" pitchFamily="34" charset="-122"/>
                          <a:cs typeface="Consolas" pitchFamily="34" charset="-120"/>
                        </a:rPr>
                        <a:t>doing well on training levels by memorising them, badly on new ones</a:t>
                      </a:r>
                      <a:endParaRPr lang="en-US" sz="1300" dirty="0">
                        <a:latin typeface="Consolas" charset="0"/>
                        <a:ea typeface="Consolas" charset="0"/>
                        <a:cs typeface="Consolas" charset="0"/>
                      </a:endParaRPr>
                    </a:p>
                  </a:txBody>
                  <a:tcPr marL="76200" marR="76200" marT="38100" marB="38100" anchor="ctr">
                    <a:lnL w="9525" cap="flat" cmpd="sng" algn="ctr">
                      <a:solidFill>
                        <a:srgbClr val="000000"/>
                      </a:solidFill>
                      <a:prstDash val="solid"/>
                      <a:round/>
                      <a:headEnd type="none" w="med" len="med"/>
                      <a:tailEnd type="none" w="med" len="med"/>
                    </a:lnL>
                    <a:lnR w="9525" cap="flat" cmpd="sng" algn="ctr">
                      <a:solidFill>
                        <a:srgbClr val="000000"/>
                      </a:solidFill>
                      <a:prstDash val="solid"/>
                      <a:round/>
                      <a:headEnd type="none" w="med" len="med"/>
                      <a:tailEnd type="none" w="med" len="med"/>
                    </a:lnR>
                    <a:lnT w="9525" cap="flat" cmpd="sng" algn="ctr">
                      <a:solidFill>
                        <a:srgbClr val="000000"/>
                      </a:solidFill>
                      <a:prstDash val="solid"/>
                      <a:round/>
                      <a:headEnd type="none" w="med" len="med"/>
                      <a:tailEnd type="none" w="med" len="med"/>
                    </a:lnT>
                    <a:lnB w="9525" cap="flat" cmpd="sng" algn="ctr">
                      <a:solidFill>
                        <a:srgbClr val="000000"/>
                      </a:solidFill>
                      <a:prstDash val="solid"/>
                      <a:round/>
                      <a:headEnd type="none" w="med" len="med"/>
                      <a:tailEnd type="none" w="med" len="med"/>
                    </a:lnB>
                    <a:solidFill>
                      <a:srgbClr val="F2F2F2"/>
                    </a:solidFill>
                  </a:tcPr>
                </a:tc>
              </a:tr>
            </a:tbl>
          </a:graphicData>
        </a:graphic>
      </p:graphicFrame>
      <p:sp>
        <p:nvSpPr>
          <p:cNvPr id="6" name="footer-left"/>
          <p:cNvSpPr txBox="1"/>
          <p:nvPr/>
        </p:nvSpPr>
        <p:spPr>
          <a:xfrm>
            <a:off x="320040" y="6473952"/>
            <a:ext cx="5486400" cy="274320"/>
          </a:xfrm>
          <a:prstGeom prst="rect">
            <a:avLst/>
          </a:prstGeom>
          <a:noFill/>
          <a:ln/>
        </p:spPr>
        <p:txBody>
          <a:bodyPr wrap="square" lIns="0" tIns="0" rIns="0" bIns="0" rtlCol="0" anchor="ctr"/>
          <a:lstStyle/>
          <a:p>
            <a:pPr indent="0" marL="0">
              <a:buNone/>
            </a:pPr>
            <a:r>
              <a:rPr lang="en-US" sz="900" dirty="0">
                <a:solidFill>
                  <a:srgbClr val="000000"/>
                </a:solidFill>
              </a:rPr>
              <a:t>procgen_rl :: appendix</a:t>
            </a:r>
            <a:endParaRPr lang="en-US" sz="900" dirty="0"/>
          </a:p>
        </p:txBody>
      </p:sp>
      <p:sp>
        <p:nvSpPr>
          <p:cNvPr id="7" name="footer-progress"/>
          <p:cNvSpPr txBox="1"/>
          <p:nvPr/>
        </p:nvSpPr>
        <p:spPr>
          <a:xfrm>
            <a:off x="6400800" y="6473952"/>
            <a:ext cx="5468112" cy="274320"/>
          </a:xfrm>
          <a:prstGeom prst="rect">
            <a:avLst/>
          </a:prstGeom>
          <a:noFill/>
          <a:ln/>
        </p:spPr>
        <p:txBody>
          <a:bodyPr wrap="square" lIns="0" tIns="0" rIns="0" bIns="0" rtlCol="0" anchor="ctr"/>
          <a:lstStyle/>
          <a:p>
            <a:pPr algn="r" indent="0" marL="0">
              <a:buNone/>
            </a:pPr>
            <a:r>
              <a:rPr lang="en-US" sz="900" dirty="0">
                <a:solidFill>
                  <a:srgbClr val="000000"/>
                </a:solidFill>
              </a:rPr>
              <a:t>██████████████████████████████  [ 02/02 ]</a:t>
            </a:r>
            <a:endParaRPr lang="en-US" sz="900" dirty="0"/>
          </a:p>
        </p:txBody>
      </p:sp>
    </p:spTree>
  </p:cSld>
  <p:clrMapOvr>
    <a:masterClrMapping/>
  </p:clrMapOvr>
</p:sld>
</file>

<file path=ppt/theme/theme1.xml><?xml version="1.0" encoding="utf-8"?>
<a:theme xmlns:a="http://schemas.openxmlformats.org/drawingml/2006/main" name="Terminal">
  <a:themeElements>
    <a:clrScheme name="Terminal">
      <a:dk1>
        <a:srgbClr val="000000"/>
      </a:dk1>
      <a:lt1>
        <a:srgbClr val="FFFFFF"/>
      </a:lt1>
      <a:dk2>
        <a:srgbClr val="1A1A1A"/>
      </a:dk2>
      <a:lt2>
        <a:srgbClr val="F2F2F2"/>
      </a:lt2>
      <a:accent1>
        <a:srgbClr val="000000"/>
      </a:accent1>
      <a:accent2>
        <a:srgbClr val="8C8C8C"/>
      </a:accent2>
      <a:accent3>
        <a:srgbClr val="4D4D4D"/>
      </a:accent3>
      <a:accent4>
        <a:srgbClr val="BFBFBF"/>
      </a:accent4>
      <a:accent5>
        <a:srgbClr val="262626"/>
      </a:accent5>
      <a:accent6>
        <a:srgbClr val="6B6B6B"/>
      </a:accent6>
      <a:hlink>
        <a:srgbClr val="000000"/>
      </a:hlink>
      <a:folHlink>
        <a:srgbClr val="4D4D4D"/>
      </a:folHlink>
    </a:clrScheme>
    <a:fontScheme name="Terminal">
      <a:majorFont>
        <a:latin typeface="Consola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onsola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ProcGen RL</dc:title>
  <dc:subject>PptxGenJS Presentation</dc:subject>
  <dc:creator>[Your Name]</dc:creator>
  <cp:lastModifiedBy>[Your Name]</cp:lastModifiedBy>
  <cp:revision>1</cp:revision>
  <dcterms:created xsi:type="dcterms:W3CDTF">2026-10-22T05:55:08Z</dcterms:created>
  <dcterms:modified xsi:type="dcterms:W3CDTF">2026-10-22T05:55:08Z</dcterms:modified>
</cp:coreProperties>
</file>