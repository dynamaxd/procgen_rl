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idea" id="{758B2D27-54A6-971C-D708-3CD94B80D734}">
          <p14:sldIdLst>
            <p14:sldId id="256"/>
            <p14:sldId id="257"/>
          </p14:sldIdLst>
        </p14:section>
        <p14:section name="The game" id="{BD349DA3-1E72-F7DA-5DFF-761D40070DDE}">
          <p14:sldIdLst>
            <p14:sldId id="258"/>
            <p14:sldId id="259"/>
          </p14:sldIdLst>
        </p14:section>
        <p14:section name="The agent" id="{E7C18D4C-C77A-7042-9355-29E09BC292C1}">
          <p14:sldIdLst>
            <p14:sldId id="260"/>
            <p14:sldId id="261"/>
            <p14:sldId id="262"/>
            <p14:sldId id="263"/>
          </p14:sldIdLst>
        </p14:section>
        <p14:section name="Results" id="{20486FAF-A15F-C23D-2B67-1D37CA5CAC1C}">
          <p14:sldIdLst>
            <p14:sldId id="264"/>
            <p14:sldId id="265"/>
            <p14:sldId id="266"/>
            <p14:sldId id="267"/>
            <p14:sldId id="268"/>
            <p14:sldId id="269"/>
          </p14:sldIdLst>
        </p14:section>
        <p14:section name="Generalisation" id="{1532639A-CF1F-57B1-269B-1E4E3E5A1E2A}">
          <p14:sldIdLst>
            <p14:sldId id="270"/>
            <p14:sldId id="271"/>
            <p14:sldId id="272"/>
          </p14:sldIdLst>
        </p14:section>
        <p14:section name="Demo and expert levels" id="{9002CB56-7B6C-89FF-4BAB-FC653C931008}">
          <p14:sldIdLst>
            <p14:sldId id="273"/>
            <p14:sldId id="274"/>
            <p14:sldId id="275"/>
          </p14:sldIdLst>
        </p14:section>
        <p14:section name="Wrap-up" id="{389F67D3-9297-C67C-6B48-069D641D2E3E}">
          <p14:sldIdLst>
            <p14:sldId id="276"/>
            <p14:sldId id="277"/>
          </p14:sldIdLst>
        </p14:section>
        <p14:section name="Appendix" id="{84823CA8-ED7E-8BC6-3F6C-12BE0B912EC7}">
          <p14:sldIdLst>
            <p14:sldId id="27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8" d="100"/>
          <a:sy n="88" d="100"/>
        </p:scale>
        <p:origin x="394"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088036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[name]. This project asks a simple question: can an agent learn to play a platformer in general, rather than memorising particular levels? Every level here is generated on the fly, so the agent never sees the same one twice. To make the learning visible, the final demo lets you race against snapshots of the agent from different points in its training, like the ghost cars in a racing game.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parts. First, a level generator, so the agent cannot simply memorise a button sequence. Second, a standard RL algorithm, PPO, which only ever sees a reward signal. Third, the demo: snapshots of the agent saved during training become ghosts you race against, so you can watch it go from useless to better than you. The key question for the whole talk is the difference between learning to play and learning particular levels.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Mario-style side-scroller kept deliberately simple. The picture is the same seed at five difficulty settings. Difficulty is one number from 0 to 1 that widens gaps, increases height changes and unlocks the stage 2 hazards. The physics are deterministic, so a ghost replays identically in the demo and in evaluation. Jump height and gap limits come from the physics, which is how the generator guarantees a level can be beaten.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seeds, same difficulty, four different levels. Levels are stitched together from chunks such as gaps, stairs, spikes and platforms, using Python’s seeded random generator so the same seed gives the same level on any machine. Random levels are only useful if they are fair, so the test suite runs a search-based solver over 200 levels and requires it to finish every one. Training, evaluation and demo seeds come from separate ranges, which keeps the evaluation honest.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pixels the agent gets a small grid of tiles centred on itself, looking mostly ahead because that is where the danger is. The grid is split into three yes/no layers: is this tile solid, is it a spike, is it the goal. On top of that come seven numbers about its own motion. 847 numbers in total. Because the view moves with the agent, a gap looks the same wherever it appears in a level, which is exactly what helps it generalise. It also means a small network on a CPU is enough.</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algorithm is Proximal Policy Optimisation from Stable-Baselines3, the standard choice for this kind of problem. There are two networks with the same shape: the actor decides what to do, and the critic predicts future reward, which PPO uses to judge whether an action turned out better or worse than expected. Each has two hidden layers of 256 units. At each milestone the actor’s weights are exported to a small file, a ghost, and the demo runs it with plain NumPy, so it needs no PyTorch at all.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is deliberately simple. The agent earns a little for every new tile of ground it reaches, so it gets feedback long before it ever sees the flag. A tiny time penalty discourages dawdling, dying costs one point, and the flag is worth five. If it makes no progress for 90 decisions the episode is cut short, so it does not waste time stuck against a wall. Time is reported in simulated hours: one hour of gameplay at 15 decisions per second is 54,000 decisions, so we can say “this ghost has 10 hours of practice”.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system end to end. A seed goes into the generator, the level goes into a Gymnasium environment, and PPO trains on eight of them in parallel. At fixed amounts of simulated time, 30 minutes, 1 hour, 10 hours and so on, the actor is saved as a ghost. Each ghost is then tested on 100 never-seen levels at each of four difficulties, and the same files drive the demo. Everything ran overnight from a small local web dashboard that queues runs, autosaves and resumes. That paid off: at around 3 a.m. the disk filled up, two runs crashed, and both resumed from their saves.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for the main run. 300 hours of simulated gameplay took under five hours of real time on a laptop CPU, no GPU needed. The final ghost was tested on 100 levels it had never seen at each difficulty. It finishes 96% of them at difficulty 0.75 and 85% at the hardest setting. The next few slides show how it got there.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 of training levels completed, averaged over the last 200 episodes. Note the time axis is logarithmic. The curve is not smooth because the levels keep getting harder: every time the agent gets good at one difficulty, the curriculum raises it, and performance drops for a while. The big dip around 15 hours is the jump to the hardest settings. By the end it completes almost 9 out of 10 training levels at full difficulty.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Throwing a random agent at the hardest levels wastes time, because it almost never gets any reward. So training starts at difficulty 0.1 and moves up by 0.1 every time the agent completes 70% of its recent levels at the current ceiling. 70% of the time it plays at the ceiling, and the rest of the time it plays easier levels so it doesn’t forget them. It reached 0.9 in 14 simulated hours, but the final step to 1.0 took until hour 33.</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honest measurement. Every ghost was played deterministically on 100 levels from a seed range never used in training, at four difficulties. Left is the share completed; right is how far through the level it got on average. The big jump is between 2 and 10 hours, when it learns to clear gaps reliably. After that the easier difficulties saturate and the gains are at the hardest setting.</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data as a grid: one row per ghost, one column per difficulty. Reading across a row, harder levels always need more training. Reading down a column, the improvement is quick and then levels off: going from 30 to 300 hours is ten times the training for five more points at the hardest setting. That spread is exactly what the demo needs. The early ghosts are easy to beat, the middle ones are a fair race, and the late ones are very hard to beat.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static version of the demo. Five ghosts play the same level, seed 1,000,500 at difficulty 0.6, which none of them trained on. The untrained ghost barely moves. The 30-minute ghost has learned to run and jump but falls into the first pit. The 5-hour ghost gets more than half way. The 50- and 300-hour ghosts both finish, in almost the same time, because once an agent can finish it is already running flat out. Further training buys reliability on hard levels, not speed.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that procedural generation matters, I trained four more agents identically except for the number of distinct levels in their training set. The agent that only ever saw ten levels finishes every one of them, but only 60% of new levels at the same difficulty. It memorised the levels instead of learning the game. This matches the finding of the Procgen benchmark paper by Cobbe et al., 2019.</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Blue is performance on the agent’s own training levels; orange is 100 levels it has never seen. With 10 levels the gap is 40 points. With 100 levels it is down to 4. With 1,000 levels or more there is no gap at all, so the agent has learned the game rather than the levels. For the unlimited run every training level is new, so its two numbers are the same measurement.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experiment over time, measured on new levels. Every run improves early on. But the ten-level agent peaks at 83% after 5 hours and then falls to 60% by 100 hours: extra training makes it fit its ten levels better and the game worse. That is overfitting, happening live. The other runs keep improving. One more comparison: variety alone isn’t enough. The unlimited agent trained only at difficulty 0.5 finishes 64% of the hardest levels, while the main curriculum agent at the same 100 hours finishes 89%. You need varied levels and the right difficulty.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the live demo. You play the red character; every other character is the same agent at a different point in training, labelled with how much practice it had. The level is new every round and comes from a seed range never used in training, so nobody has seen it before, including the ghosts. You can usually beat everything up to about 2 hours. From 30 hours on, the ghosts are hard to beat. [Switch to the demo window now.]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1.0 was the top of the training range, and the best ghosts finish almost 90% of those levels, so for a human the top setting felt too easy. So the demo now goes up to difficulty 2.0. Nothing new was added to the game: same tiles, same physics, so the ghosts can play these levels without retraining. The generator pushes the existing pieces harder. I measured with the solver what the jump can actually clear: gaps of 7 tiles and spike runs of 4. Expert levels go up to one tile below that limit, with more hazards and less rest in between. Every expert level is still checked by the solver before it is played, and the levels from training are byte-for-byte unchanged.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to the ghosts on the expert levels, 100 never-seen levels per setting. The shaded area is difficulty the agent never trained on. Its skills partly carry over: at 1.25 the 300-hour ghost still finishes 60%, and 42% at 1.5. At 1.75 and above it collapses to around 5%, because gaps and spike runs are longer than anything it practised. This is the other side of generalisation: an agent generalises well inside the range it trained on, and less and less beyond it. For the demo it is exactly what we want, because now a skilled human can beat the best ghost.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First, the design choices that mattered most were the observation, the curriculum and the endless supply of new levels; the generalisation experiment shows that last one directly. Second, a lot of the work was engineering: making random levels fair, shaping the reward, and making overnight training survive a crash. Third, the obvious next step is enemies, which were deliberately left for phase 2, and then learning from raw pixels.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listening. Happy to take questions, and anyone who wants to try beating the 300-hour ghost can have a go on the demo afterwards.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slide for questions about training stability. These are the standard checks for PPO. Reward goes up. Entropy, the randomness of the policy, decreases gradually rather than collapsing. The KL divergence between successive policies stays around 0.01, so no single update changed the policy too much. The weak spot is the critic: explained variance never gets above about 0.4 and is noisy late in training, so its predictions of future reward are rough. That is plausible here, because whether the agent dies or reaches the flag on a level it has never seen is hard to predict. The policy still learned well, but a better critic, for example a larger value network or tuned discounting, is an obvious next experiment.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
        <p:nvSpPr>
          <p:cNvPr id="4" name="Text 0"/>
          <p:cNvSpPr/>
          <p:nvPr/>
        </p:nvSpPr>
        <p:spPr>
          <a:xfrm>
            <a:off x="813816" y="6355080"/>
            <a:ext cx="3657600" cy="274320"/>
          </a:xfrm>
          <a:prstGeom prst="rect">
            <a:avLst/>
          </a:prstGeom>
          <a:noFill/>
          <a:ln/>
        </p:spPr>
        <p:txBody>
          <a:bodyPr wrap="square" lIns="0" tIns="0" rIns="0" bIns="0" rtlCol="0" anchor="ctr"/>
          <a:lstStyle/>
          <a:p>
            <a:pPr marL="0" indent="0">
              <a:buNone/>
            </a:pPr>
            <a:r>
              <a:rPr lang="en-US" sz="1100" dirty="0">
                <a:solidFill>
                  <a:srgbClr val="5F636B"/>
                </a:solidFill>
              </a:rPr>
              <a:t>ProcGen RL</a:t>
            </a:r>
            <a:endParaRPr lang="en-US" sz="11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TIN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rtlCol="0"/>
          <a:lstStyle>
            <a:lvl1pPr marL="0" indent="0">
              <a:buNone/>
              <a:defRPr lang="en-US" sz="1200" b="1" kern="0" spc="200" dirty="0">
                <a:solidFill>
                  <a:schemeClr val="accent1"/>
                </a:solidFill>
              </a:defRPr>
            </a:lvl1pPr>
          </a:lstStyle>
          <a:p>
            <a:pPr marL="0" indent="0">
              <a:buNone/>
            </a:pP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rtlCol="0"/>
          <a:lstStyle>
            <a:lvl1pPr marL="0" indent="0" algn="l">
              <a:buNone/>
              <a:defRPr lang="en-US" sz="3400" dirty="0">
                <a:solidFill>
                  <a:schemeClr val="tx1"/>
                </a:solidFill>
              </a:defRPr>
            </a:lvl1pPr>
          </a:lstStyle>
          <a:p>
            <a:pPr marL="0" indent="0" algn="l">
              <a:buNone/>
            </a:pPr>
            <a:endParaRPr lang="en-US" sz="3400" dirty="0"/>
          </a:p>
        </p:txBody>
      </p:sp>
      <p:sp>
        <p:nvSpPr>
          <p:cNvPr id="4" name="Text 0"/>
          <p:cNvSpPr/>
          <p:nvPr/>
        </p:nvSpPr>
        <p:spPr>
          <a:xfrm>
            <a:off x="813816" y="6355080"/>
            <a:ext cx="3657600" cy="274320"/>
          </a:xfrm>
          <a:prstGeom prst="rect">
            <a:avLst/>
          </a:prstGeom>
          <a:noFill/>
          <a:ln/>
        </p:spPr>
        <p:txBody>
          <a:bodyPr wrap="square" lIns="0" tIns="0" rIns="0" bIns="0" rtlCol="0" anchor="ctr"/>
          <a:lstStyle/>
          <a:p>
            <a:pPr marL="0" indent="0">
              <a:buNone/>
            </a:pPr>
            <a:r>
              <a:rPr lang="en-US" sz="1100" dirty="0">
                <a:solidFill>
                  <a:srgbClr val="5F636B"/>
                </a:solidFill>
              </a:rPr>
              <a:t>ProcGen RL</a:t>
            </a:r>
            <a:endParaRPr lang="en-US" sz="11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rtlCol="0"/>
          <a:lstStyle>
            <a:lvl1pPr marL="0" indent="0">
              <a:buNone/>
              <a:defRPr lang="en-US" sz="1200" b="1" kern="0" spc="200" dirty="0">
                <a:solidFill>
                  <a:schemeClr val="accent4"/>
                </a:solidFill>
              </a:defRPr>
            </a:lvl1pPr>
          </a:lstStyle>
          <a:p>
            <a:pPr marL="0" indent="0">
              <a:buNone/>
            </a:pP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rtlCol="0"/>
          <a:lstStyle>
            <a:lvl1pPr marL="0" indent="0" algn="l">
              <a:buNone/>
              <a:defRPr lang="en-US" sz="3400" dirty="0">
                <a:solidFill>
                  <a:schemeClr val="bg1"/>
                </a:solidFill>
              </a:defRPr>
            </a:lvl1pPr>
          </a:lstStyle>
          <a:p>
            <a:pPr marL="0" indent="0" algn="l">
              <a:buNone/>
            </a:pPr>
            <a:endParaRPr lang="en-US" sz="3400" dirty="0"/>
          </a:p>
        </p:txBody>
      </p:sp>
      <p:sp>
        <p:nvSpPr>
          <p:cNvPr id="4" name="Text 0"/>
          <p:cNvSpPr/>
          <p:nvPr/>
        </p:nvSpPr>
        <p:spPr>
          <a:xfrm>
            <a:off x="813816" y="6355080"/>
            <a:ext cx="3657600" cy="274320"/>
          </a:xfrm>
          <a:prstGeom prst="rect">
            <a:avLst/>
          </a:prstGeom>
          <a:noFill/>
          <a:ln/>
        </p:spPr>
        <p:txBody>
          <a:bodyPr wrap="square" lIns="0" tIns="0" rIns="0" bIns="0" rtlCol="0" anchor="ctr"/>
          <a:lstStyle/>
          <a:p>
            <a:pPr marL="0" indent="0">
              <a:buNone/>
            </a:pPr>
            <a:r>
              <a:rPr lang="en-US" sz="1100" dirty="0">
                <a:solidFill>
                  <a:srgbClr val="8D9BB0"/>
                </a:solidFill>
              </a:rPr>
              <a:t>ProcGen RL</a:t>
            </a:r>
            <a:endParaRPr lang="en-US" sz="11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D9BB0"/>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TATEMENT">
    <p:bg>
      <p:bgPr>
        <a:solidFill>
          <a:schemeClr val="accent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1737360"/>
            <a:ext cx="10564063" cy="320040"/>
          </a:xfrm>
          <a:prstGeom prst="rect">
            <a:avLst/>
          </a:prstGeom>
          <a:noFill/>
          <a:ln/>
        </p:spPr>
        <p:txBody>
          <a:bodyPr wrap="square" rtlCol="0"/>
          <a:lstStyle>
            <a:lvl1pPr marL="0" indent="0">
              <a:buNone/>
              <a:defRPr lang="en-US" sz="1200" b="1" kern="0" spc="200" dirty="0">
                <a:solidFill>
                  <a:schemeClr val="tx2"/>
                </a:solidFill>
              </a:defRPr>
            </a:lvl1pPr>
          </a:lstStyle>
          <a:p>
            <a:pPr marL="0" indent="0">
              <a:buNone/>
            </a:pPr>
            <a:endParaRPr lang="en-US" sz="1200" dirty="0"/>
          </a:p>
        </p:txBody>
      </p:sp>
      <p:sp>
        <p:nvSpPr>
          <p:cNvPr id="3" name="Text 0"/>
          <p:cNvSpPr>
            <a:spLocks noGrp="1"/>
          </p:cNvSpPr>
          <p:nvPr>
            <p:ph type="title" idx="101" hasCustomPrompt="1"/>
          </p:nvPr>
        </p:nvSpPr>
        <p:spPr>
          <a:xfrm>
            <a:off x="813816" y="2148840"/>
            <a:ext cx="10058400" cy="2011680"/>
          </a:xfrm>
          <a:prstGeom prst="rect">
            <a:avLst/>
          </a:prstGeom>
          <a:noFill/>
          <a:ln/>
        </p:spPr>
        <p:txBody>
          <a:bodyPr wrap="square" rtlCol="0"/>
          <a:lstStyle>
            <a:lvl1pPr marL="0" indent="0" algn="l">
              <a:buNone/>
              <a:defRPr lang="en-US" sz="4400" dirty="0">
                <a:solidFill>
                  <a:schemeClr val="tx2"/>
                </a:solidFill>
              </a:defRPr>
            </a:lvl1pPr>
          </a:lstStyle>
          <a:p>
            <a:pPr marL="0" indent="0" algn="l">
              <a:buNone/>
            </a:pPr>
            <a:endParaRPr lang="en-US" sz="4400" dirty="0"/>
          </a:p>
        </p:txBody>
      </p:sp>
      <p:sp>
        <p:nvSpPr>
          <p:cNvPr id="4" name="Text 0"/>
          <p:cNvSpPr/>
          <p:nvPr/>
        </p:nvSpPr>
        <p:spPr>
          <a:xfrm>
            <a:off x="813816" y="6355080"/>
            <a:ext cx="3657600" cy="274320"/>
          </a:xfrm>
          <a:prstGeom prst="rect">
            <a:avLst/>
          </a:prstGeom>
          <a:noFill/>
          <a:ln/>
        </p:spPr>
        <p:txBody>
          <a:bodyPr wrap="square" lIns="0" tIns="0" rIns="0" bIns="0" rtlCol="0" anchor="ctr"/>
          <a:lstStyle/>
          <a:p>
            <a:pPr marL="0" indent="0">
              <a:buNone/>
            </a:pPr>
            <a:r>
              <a:rPr lang="en-US" sz="1100" dirty="0">
                <a:solidFill>
                  <a:srgbClr val="0F1A2B"/>
                </a:solidFill>
              </a:rPr>
              <a:t>ProcGen RL</a:t>
            </a:r>
            <a:endParaRPr lang="en-US" sz="11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0F1A2B"/>
                </a:solidFill>
              </a:defRPr>
            </a:lvl1pPr>
          </a:lstStyle>
          <a:p>
            <a:pPr algn="r"/>
            <a:fld id="{F7021451-1387-4CA6-816F-3879F97B5CBC}" type="slidenum">
              <a:rPr lang="en-US" b="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VER">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1600200"/>
            <a:ext cx="5120640" cy="320040"/>
          </a:xfrm>
          <a:prstGeom prst="rect">
            <a:avLst/>
          </a:prstGeom>
          <a:noFill/>
          <a:ln/>
        </p:spPr>
        <p:txBody>
          <a:bodyPr wrap="square" rtlCol="0"/>
          <a:lstStyle>
            <a:lvl1pPr marL="0" indent="0">
              <a:buNone/>
              <a:defRPr lang="en-US" sz="1200" b="1" kern="0" spc="200" dirty="0">
                <a:solidFill>
                  <a:schemeClr val="accent4"/>
                </a:solidFill>
              </a:defRPr>
            </a:lvl1pPr>
          </a:lstStyle>
          <a:p>
            <a:pPr marL="0" indent="0">
              <a:buNone/>
            </a:pPr>
            <a:endParaRPr lang="en-US" sz="1200" dirty="0"/>
          </a:p>
        </p:txBody>
      </p:sp>
      <p:sp>
        <p:nvSpPr>
          <p:cNvPr id="3" name="Text 0"/>
          <p:cNvSpPr>
            <a:spLocks noGrp="1"/>
          </p:cNvSpPr>
          <p:nvPr>
            <p:ph type="title" idx="101" hasCustomPrompt="1"/>
          </p:nvPr>
        </p:nvSpPr>
        <p:spPr>
          <a:xfrm>
            <a:off x="813816" y="2011680"/>
            <a:ext cx="5120640" cy="2286000"/>
          </a:xfrm>
          <a:prstGeom prst="rect">
            <a:avLst/>
          </a:prstGeom>
          <a:noFill/>
          <a:ln/>
        </p:spPr>
        <p:txBody>
          <a:bodyPr wrap="square" rtlCol="0"/>
          <a:lstStyle>
            <a:lvl1pPr marL="0" indent="0" algn="l">
              <a:buNone/>
              <a:defRPr lang="en-US" sz="4200" dirty="0">
                <a:solidFill>
                  <a:schemeClr val="bg1"/>
                </a:solidFill>
              </a:defRPr>
            </a:lvl1pPr>
          </a:lstStyle>
          <a:p>
            <a:pPr marL="0" indent="0" algn="l">
              <a:buNone/>
            </a:pPr>
            <a:endParaRPr lang="en-US" sz="4200" dirty="0"/>
          </a:p>
        </p:txBody>
      </p:sp>
      <p:sp>
        <p:nvSpPr>
          <p:cNvPr id="4" name="Text 0"/>
          <p:cNvSpPr>
            <a:spLocks noGrp="1"/>
          </p:cNvSpPr>
          <p:nvPr>
            <p:ph type="body" idx="102" hasCustomPrompt="1"/>
          </p:nvPr>
        </p:nvSpPr>
        <p:spPr>
          <a:xfrm>
            <a:off x="813816" y="4434840"/>
            <a:ext cx="4937760" cy="822960"/>
          </a:xfrm>
          <a:prstGeom prst="rect">
            <a:avLst/>
          </a:prstGeom>
          <a:noFill/>
          <a:ln/>
        </p:spPr>
        <p:txBody>
          <a:bodyPr wrap="square" rtlCol="0"/>
          <a:lstStyle>
            <a:lvl1pPr marL="0" indent="0">
              <a:buNone/>
              <a:defRPr lang="en-US" sz="1500" dirty="0">
                <a:solidFill>
                  <a:schemeClr val="accent6"/>
                </a:solidFill>
              </a:defRPr>
            </a:lvl1pPr>
          </a:lstStyle>
          <a:p>
            <a:pPr marL="0" indent="0">
              <a:buNone/>
            </a:pPr>
            <a:endParaRPr lang="en-US" sz="1500" dirty="0"/>
          </a:p>
        </p:txBody>
      </p:sp>
      <p:sp>
        <p:nvSpPr>
          <p:cNvPr id="5" name="Text 0"/>
          <p:cNvSpPr>
            <a:spLocks noGrp="1"/>
          </p:cNvSpPr>
          <p:nvPr>
            <p:ph type="body" idx="103" hasCustomPrompt="1"/>
          </p:nvPr>
        </p:nvSpPr>
        <p:spPr>
          <a:xfrm>
            <a:off x="813816" y="6263640"/>
            <a:ext cx="7315200" cy="320040"/>
          </a:xfrm>
          <a:prstGeom prst="rect">
            <a:avLst/>
          </a:prstGeom>
          <a:noFill/>
          <a:ln/>
        </p:spPr>
        <p:txBody>
          <a:bodyPr wrap="square" rtlCol="0"/>
          <a:lstStyle>
            <a:lvl1pPr marL="0" indent="0">
              <a:buNone/>
              <a:defRPr lang="en-US" sz="1200" dirty="0">
                <a:solidFill>
                  <a:schemeClr val="accent6"/>
                </a:solidFill>
              </a:defRPr>
            </a:lvl1pPr>
          </a:lstStyle>
          <a:p>
            <a:pPr marL="0" indent="0">
              <a:buNone/>
            </a:pPr>
            <a:endParaRPr lang="en-US" sz="12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hyperlink" Target="https://github.com/DYNAMAXD/ProcGen_RL"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813816" y="1600200"/>
            <a:ext cx="5120640" cy="320040"/>
          </a:xfrm>
          <a:prstGeom prst="rect">
            <a:avLst/>
          </a:prstGeom>
          <a:noFill/>
          <a:ln/>
        </p:spPr>
        <p:txBody>
          <a:bodyPr wrap="square" lIns="0" tIns="0" rIns="0" bIns="0" rtlCol="0"/>
          <a:lstStyle/>
          <a:p>
            <a:pPr marL="0" indent="0">
              <a:buNone/>
            </a:pPr>
            <a:r>
              <a:rPr lang="en-US" sz="1200" b="1" kern="0" spc="200" dirty="0">
                <a:solidFill>
                  <a:schemeClr val="accent4"/>
                </a:solidFill>
              </a:rPr>
              <a:t>PROCGEN RL</a:t>
            </a:r>
            <a:endParaRPr lang="en-US" sz="1200" dirty="0"/>
          </a:p>
        </p:txBody>
      </p:sp>
      <p:sp>
        <p:nvSpPr>
          <p:cNvPr id="4" name="Text 0"/>
          <p:cNvSpPr>
            <a:spLocks noGrp="1"/>
          </p:cNvSpPr>
          <p:nvPr>
            <p:ph type="title" idx="101" hasCustomPrompt="1"/>
          </p:nvPr>
        </p:nvSpPr>
        <p:spPr>
          <a:xfrm>
            <a:off x="813816" y="2011680"/>
            <a:ext cx="5120640" cy="2286000"/>
          </a:xfrm>
          <a:prstGeom prst="rect">
            <a:avLst/>
          </a:prstGeom>
          <a:noFill/>
          <a:ln/>
        </p:spPr>
        <p:txBody>
          <a:bodyPr wrap="square" lIns="0" tIns="0" rIns="0" bIns="0" rtlCol="0" anchor="t"/>
          <a:lstStyle/>
          <a:p>
            <a:pPr marL="0" indent="0" algn="l">
              <a:buNone/>
            </a:pPr>
            <a:r>
              <a:rPr lang="en-US" sz="4200" dirty="0">
                <a:solidFill>
                  <a:schemeClr val="bg1"/>
                </a:solidFill>
              </a:rPr>
              <a:t>Teaching an agent to play levels it has never seen</a:t>
            </a:r>
            <a:endParaRPr lang="en-US" sz="4200" dirty="0"/>
          </a:p>
        </p:txBody>
      </p:sp>
      <p:sp>
        <p:nvSpPr>
          <p:cNvPr id="5" name="Text 0"/>
          <p:cNvSpPr>
            <a:spLocks noGrp="1"/>
          </p:cNvSpPr>
          <p:nvPr>
            <p:ph type="body" idx="102" hasCustomPrompt="1"/>
          </p:nvPr>
        </p:nvSpPr>
        <p:spPr>
          <a:xfrm>
            <a:off x="813816" y="4434840"/>
            <a:ext cx="4937760" cy="822960"/>
          </a:xfrm>
          <a:prstGeom prst="rect">
            <a:avLst/>
          </a:prstGeom>
          <a:noFill/>
          <a:ln/>
        </p:spPr>
        <p:txBody>
          <a:bodyPr wrap="square" lIns="0" tIns="0" rIns="0" bIns="0" rtlCol="0" anchor="t"/>
          <a:lstStyle/>
          <a:p>
            <a:pPr marL="0" indent="0">
              <a:buNone/>
            </a:pPr>
            <a:r>
              <a:rPr lang="en-US" sz="1500" dirty="0">
                <a:solidFill>
                  <a:schemeClr val="accent6"/>
                </a:solidFill>
              </a:rPr>
              <a:t>Reinforcement learning on a procedurally generated platformer, raced against its own past selves</a:t>
            </a:r>
            <a:endParaRPr lang="en-US" sz="1500" dirty="0"/>
          </a:p>
        </p:txBody>
      </p:sp>
      <p:sp>
        <p:nvSpPr>
          <p:cNvPr id="6" name="Text 0"/>
          <p:cNvSpPr>
            <a:spLocks noGrp="1"/>
          </p:cNvSpPr>
          <p:nvPr>
            <p:ph type="body" idx="103" hasCustomPrompt="1"/>
          </p:nvPr>
        </p:nvSpPr>
        <p:spPr>
          <a:xfrm>
            <a:off x="813816" y="6263640"/>
            <a:ext cx="7315200" cy="320040"/>
          </a:xfrm>
          <a:prstGeom prst="rect">
            <a:avLst/>
          </a:prstGeom>
          <a:noFill/>
          <a:ln/>
        </p:spPr>
        <p:txBody>
          <a:bodyPr wrap="square" lIns="0" tIns="0" rIns="0" bIns="0" rtlCol="0"/>
          <a:lstStyle/>
          <a:p>
            <a:pPr marL="0" indent="0">
              <a:buNone/>
            </a:pPr>
            <a:r>
              <a:rPr lang="en-US" sz="1200" dirty="0">
                <a:solidFill>
                  <a:schemeClr val="accent6"/>
                </a:solidFill>
              </a:rPr>
              <a:t>[Your name] · [Course, date]</a:t>
            </a:r>
            <a:endParaRPr lang="en-US" sz="1200" dirty="0"/>
          </a:p>
        </p:txBody>
      </p:sp>
      <p:pic>
        <p:nvPicPr>
          <p:cNvPr id="7" name="Image 0" descr="The demo: see-through ghosts from different training stages racing on a fresh level"/>
          <p:cNvPicPr>
            <a:picLocks noChangeAspect="1"/>
          </p:cNvPicPr>
          <p:nvPr/>
        </p:nvPicPr>
        <p:blipFill>
          <a:blip r:embed="rId3"/>
          <a:stretch>
            <a:fillRect/>
          </a:stretch>
        </p:blipFill>
        <p:spPr>
          <a:xfrm>
            <a:off x="6263640" y="1992821"/>
            <a:ext cx="5120640" cy="287235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THE IDEA</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A platformer the agent can’t memorise</a:t>
            </a:r>
            <a:endParaRPr lang="en-US" sz="3400" dirty="0"/>
          </a:p>
        </p:txBody>
      </p:sp>
      <p:sp>
        <p:nvSpPr>
          <p:cNvPr id="5" name="Shape 2"/>
          <p:cNvSpPr/>
          <p:nvPr/>
        </p:nvSpPr>
        <p:spPr>
          <a:xfrm>
            <a:off x="813816" y="1828800"/>
            <a:ext cx="3338474" cy="2514600"/>
          </a:xfrm>
          <a:prstGeom prst="roundRect">
            <a:avLst>
              <a:gd name="adj" fmla="val 4364"/>
            </a:avLst>
          </a:prstGeom>
          <a:solidFill>
            <a:schemeClr val="bg1"/>
          </a:solidFill>
          <a:ln/>
        </p:spPr>
      </p:sp>
      <p:sp>
        <p:nvSpPr>
          <p:cNvPr id="6" name="Text 3"/>
          <p:cNvSpPr txBox="1"/>
          <p:nvPr/>
        </p:nvSpPr>
        <p:spPr>
          <a:xfrm>
            <a:off x="1133856" y="2103120"/>
            <a:ext cx="2698394" cy="274320"/>
          </a:xfrm>
          <a:prstGeom prst="rect">
            <a:avLst/>
          </a:prstGeom>
          <a:noFill/>
          <a:ln/>
        </p:spPr>
        <p:txBody>
          <a:bodyPr wrap="square" lIns="0" tIns="0" rIns="0" bIns="0" rtlCol="0" anchor="t"/>
          <a:lstStyle/>
          <a:p>
            <a:pPr marL="0" indent="0">
              <a:buNone/>
            </a:pPr>
            <a:r>
              <a:rPr lang="en-US" sz="1200" b="1" dirty="0">
                <a:solidFill>
                  <a:schemeClr val="accent1"/>
                </a:solidFill>
              </a:rPr>
              <a:t>01</a:t>
            </a:r>
            <a:endParaRPr lang="en-US" sz="1200" dirty="0"/>
          </a:p>
        </p:txBody>
      </p:sp>
      <p:sp>
        <p:nvSpPr>
          <p:cNvPr id="7" name="Text 4"/>
          <p:cNvSpPr txBox="1"/>
          <p:nvPr/>
        </p:nvSpPr>
        <p:spPr>
          <a:xfrm>
            <a:off x="1133856" y="2441448"/>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Procedural levels</a:t>
            </a:r>
            <a:endParaRPr lang="en-US" sz="2000" dirty="0"/>
          </a:p>
        </p:txBody>
      </p:sp>
      <p:sp>
        <p:nvSpPr>
          <p:cNvPr id="8" name="Text 5"/>
          <p:cNvSpPr txBox="1"/>
          <p:nvPr/>
        </p:nvSpPr>
        <p:spPr>
          <a:xfrm>
            <a:off x="1133856" y="2971800"/>
            <a:ext cx="2698394" cy="1188720"/>
          </a:xfrm>
          <a:prstGeom prst="rect">
            <a:avLst/>
          </a:prstGeom>
          <a:noFill/>
          <a:ln/>
        </p:spPr>
        <p:txBody>
          <a:bodyPr wrap="square" lIns="0" tIns="0" rIns="0" bIns="0" rtlCol="0" anchor="t"/>
          <a:lstStyle/>
          <a:p>
            <a:pPr marL="0" indent="0">
              <a:buNone/>
            </a:pPr>
            <a:r>
              <a:rPr lang="en-US" sz="1400" dirty="0">
                <a:solidFill>
                  <a:schemeClr val="accent5"/>
                </a:solidFill>
              </a:rPr>
              <a:t>A new level every episode, built from a seed: gaps, stairs, spikes and floating platforms.</a:t>
            </a:r>
            <a:endParaRPr lang="en-US" sz="1400" dirty="0"/>
          </a:p>
        </p:txBody>
      </p:sp>
      <p:sp>
        <p:nvSpPr>
          <p:cNvPr id="9" name="Shape 6"/>
          <p:cNvSpPr/>
          <p:nvPr/>
        </p:nvSpPr>
        <p:spPr>
          <a:xfrm>
            <a:off x="4426610" y="1828800"/>
            <a:ext cx="3338474" cy="2514600"/>
          </a:xfrm>
          <a:prstGeom prst="roundRect">
            <a:avLst>
              <a:gd name="adj" fmla="val 4364"/>
            </a:avLst>
          </a:prstGeom>
          <a:solidFill>
            <a:schemeClr val="bg1"/>
          </a:solidFill>
          <a:ln/>
        </p:spPr>
      </p:sp>
      <p:sp>
        <p:nvSpPr>
          <p:cNvPr id="10" name="Text 7"/>
          <p:cNvSpPr txBox="1"/>
          <p:nvPr/>
        </p:nvSpPr>
        <p:spPr>
          <a:xfrm>
            <a:off x="4746650" y="2103120"/>
            <a:ext cx="2698394" cy="274320"/>
          </a:xfrm>
          <a:prstGeom prst="rect">
            <a:avLst/>
          </a:prstGeom>
          <a:noFill/>
          <a:ln/>
        </p:spPr>
        <p:txBody>
          <a:bodyPr wrap="square" lIns="0" tIns="0" rIns="0" bIns="0" rtlCol="0" anchor="t"/>
          <a:lstStyle/>
          <a:p>
            <a:pPr marL="0" indent="0">
              <a:buNone/>
            </a:pPr>
            <a:r>
              <a:rPr lang="en-US" sz="1200" b="1" dirty="0">
                <a:solidFill>
                  <a:schemeClr val="accent1"/>
                </a:solidFill>
              </a:rPr>
              <a:t>02</a:t>
            </a:r>
            <a:endParaRPr lang="en-US" sz="1200" dirty="0"/>
          </a:p>
        </p:txBody>
      </p:sp>
      <p:sp>
        <p:nvSpPr>
          <p:cNvPr id="11" name="Text 8"/>
          <p:cNvSpPr txBox="1"/>
          <p:nvPr/>
        </p:nvSpPr>
        <p:spPr>
          <a:xfrm>
            <a:off x="4746650" y="2441448"/>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A learning agent</a:t>
            </a:r>
            <a:endParaRPr lang="en-US" sz="2000" dirty="0"/>
          </a:p>
        </p:txBody>
      </p:sp>
      <p:sp>
        <p:nvSpPr>
          <p:cNvPr id="12" name="Text 9"/>
          <p:cNvSpPr txBox="1"/>
          <p:nvPr/>
        </p:nvSpPr>
        <p:spPr>
          <a:xfrm>
            <a:off x="4746650" y="2971800"/>
            <a:ext cx="2698394" cy="1188720"/>
          </a:xfrm>
          <a:prstGeom prst="rect">
            <a:avLst/>
          </a:prstGeom>
          <a:noFill/>
          <a:ln/>
        </p:spPr>
        <p:txBody>
          <a:bodyPr wrap="square" lIns="0" tIns="0" rIns="0" bIns="0" rtlCol="0" anchor="t"/>
          <a:lstStyle/>
          <a:p>
            <a:pPr marL="0" indent="0">
              <a:buNone/>
            </a:pPr>
            <a:r>
              <a:rPr lang="en-US" sz="1400" dirty="0">
                <a:solidFill>
                  <a:schemeClr val="accent5"/>
                </a:solidFill>
              </a:rPr>
              <a:t>PPO learns from reward alone: move right, don’t die, reach the flag. No hand-written rules.</a:t>
            </a:r>
            <a:endParaRPr lang="en-US" sz="1400" dirty="0"/>
          </a:p>
        </p:txBody>
      </p:sp>
      <p:sp>
        <p:nvSpPr>
          <p:cNvPr id="13" name="Shape 10"/>
          <p:cNvSpPr/>
          <p:nvPr/>
        </p:nvSpPr>
        <p:spPr>
          <a:xfrm>
            <a:off x="8039405" y="1828800"/>
            <a:ext cx="3338474" cy="2514600"/>
          </a:xfrm>
          <a:prstGeom prst="roundRect">
            <a:avLst>
              <a:gd name="adj" fmla="val 4364"/>
            </a:avLst>
          </a:prstGeom>
          <a:solidFill>
            <a:schemeClr val="bg1"/>
          </a:solidFill>
          <a:ln/>
        </p:spPr>
      </p:sp>
      <p:sp>
        <p:nvSpPr>
          <p:cNvPr id="14" name="Text 11"/>
          <p:cNvSpPr txBox="1"/>
          <p:nvPr/>
        </p:nvSpPr>
        <p:spPr>
          <a:xfrm>
            <a:off x="8359445" y="2103120"/>
            <a:ext cx="2698394" cy="274320"/>
          </a:xfrm>
          <a:prstGeom prst="rect">
            <a:avLst/>
          </a:prstGeom>
          <a:noFill/>
          <a:ln/>
        </p:spPr>
        <p:txBody>
          <a:bodyPr wrap="square" lIns="0" tIns="0" rIns="0" bIns="0" rtlCol="0" anchor="t"/>
          <a:lstStyle/>
          <a:p>
            <a:pPr marL="0" indent="0">
              <a:buNone/>
            </a:pPr>
            <a:r>
              <a:rPr lang="en-US" sz="1200" b="1" dirty="0">
                <a:solidFill>
                  <a:schemeClr val="accent1"/>
                </a:solidFill>
              </a:rPr>
              <a:t>03</a:t>
            </a:r>
            <a:endParaRPr lang="en-US" sz="1200" dirty="0"/>
          </a:p>
        </p:txBody>
      </p:sp>
      <p:sp>
        <p:nvSpPr>
          <p:cNvPr id="15" name="Text 12"/>
          <p:cNvSpPr txBox="1"/>
          <p:nvPr/>
        </p:nvSpPr>
        <p:spPr>
          <a:xfrm>
            <a:off x="8359445" y="2441448"/>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A ghost race</a:t>
            </a:r>
            <a:endParaRPr lang="en-US" sz="2000" dirty="0"/>
          </a:p>
        </p:txBody>
      </p:sp>
      <p:sp>
        <p:nvSpPr>
          <p:cNvPr id="16" name="Text 13"/>
          <p:cNvSpPr txBox="1"/>
          <p:nvPr/>
        </p:nvSpPr>
        <p:spPr>
          <a:xfrm>
            <a:off x="8359445" y="2971800"/>
            <a:ext cx="2698394" cy="1188720"/>
          </a:xfrm>
          <a:prstGeom prst="rect">
            <a:avLst/>
          </a:prstGeom>
          <a:noFill/>
          <a:ln/>
        </p:spPr>
        <p:txBody>
          <a:bodyPr wrap="square" lIns="0" tIns="0" rIns="0" bIns="0" rtlCol="0" anchor="t"/>
          <a:lstStyle/>
          <a:p>
            <a:pPr marL="0" indent="0">
              <a:buNone/>
            </a:pPr>
            <a:r>
              <a:rPr lang="en-US" sz="1400" dirty="0">
                <a:solidFill>
                  <a:schemeClr val="accent5"/>
                </a:solidFill>
              </a:rPr>
              <a:t>You play against snapshots of the agent after 0 min, 1 h, 10 h … 300 h of simulated training.</a:t>
            </a:r>
            <a:endParaRPr lang="en-US" sz="1400" dirty="0"/>
          </a:p>
        </p:txBody>
      </p:sp>
      <p:sp>
        <p:nvSpPr>
          <p:cNvPr id="17" name="Text 14"/>
          <p:cNvSpPr txBox="1"/>
          <p:nvPr/>
        </p:nvSpPr>
        <p:spPr>
          <a:xfrm>
            <a:off x="813816" y="4800600"/>
            <a:ext cx="10564063" cy="411480"/>
          </a:xfrm>
          <a:prstGeom prst="rect">
            <a:avLst/>
          </a:prstGeom>
          <a:noFill/>
          <a:ln/>
        </p:spPr>
        <p:txBody>
          <a:bodyPr wrap="square" lIns="0" tIns="0" rIns="0" bIns="0" rtlCol="0" anchor="t"/>
          <a:lstStyle/>
          <a:p>
            <a:pPr marL="0" indent="0">
              <a:buNone/>
            </a:pPr>
            <a:r>
              <a:rPr lang="en-US" sz="1600" dirty="0">
                <a:solidFill>
                  <a:schemeClr val="accent5"/>
                </a:solidFill>
              </a:rPr>
              <a:t>The question: does it learn </a:t>
            </a:r>
            <a:r>
              <a:rPr lang="en-US" sz="1600" b="1" dirty="0">
                <a:solidFill>
                  <a:schemeClr val="tx1"/>
                </a:solidFill>
              </a:rPr>
              <a:t>to play</a:t>
            </a:r>
            <a:r>
              <a:rPr lang="en-US" sz="1600" dirty="0">
                <a:solidFill>
                  <a:schemeClr val="accent5"/>
                </a:solidFill>
              </a:rPr>
              <a:t>, or does it just learn </a:t>
            </a:r>
            <a:r>
              <a:rPr lang="en-US" sz="1600" b="1" dirty="0">
                <a:solidFill>
                  <a:schemeClr val="tx1"/>
                </a:solidFill>
              </a:rPr>
              <a:t>these levels</a:t>
            </a:r>
            <a:r>
              <a:rPr lang="en-US" sz="1600" dirty="0">
                <a:solidFill>
                  <a:schemeClr val="accent5"/>
                </a:solidFill>
              </a:rPr>
              <a:t>?</a:t>
            </a:r>
            <a:endParaRPr lang="en-US" sz="16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THE GAME</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Run right, reach the flag</a:t>
            </a:r>
            <a:endParaRPr lang="en-US" sz="3400" dirty="0"/>
          </a:p>
        </p:txBody>
      </p:sp>
      <p:pic>
        <p:nvPicPr>
          <p:cNvPr id="5" name="Image 0" descr="One level seed at five difficulty settings, from flat ground to wide gaps, spikes and floating platforms"/>
          <p:cNvPicPr>
            <a:picLocks noChangeAspect="1"/>
          </p:cNvPicPr>
          <p:nvPr/>
        </p:nvPicPr>
        <p:blipFill>
          <a:blip r:embed="rId3"/>
          <a:stretch>
            <a:fillRect/>
          </a:stretch>
        </p:blipFill>
        <p:spPr>
          <a:xfrm>
            <a:off x="813816" y="1783080"/>
            <a:ext cx="4572000" cy="4004930"/>
          </a:xfrm>
          <a:prstGeom prst="rect">
            <a:avLst/>
          </a:prstGeom>
        </p:spPr>
      </p:pic>
      <p:sp>
        <p:nvSpPr>
          <p:cNvPr id="6" name="Text 2"/>
          <p:cNvSpPr txBox="1"/>
          <p:nvPr/>
        </p:nvSpPr>
        <p:spPr>
          <a:xfrm>
            <a:off x="5852160" y="1920240"/>
            <a:ext cx="5525719" cy="264160"/>
          </a:xfrm>
          <a:prstGeom prst="rect">
            <a:avLst/>
          </a:prstGeom>
          <a:noFill/>
          <a:ln/>
        </p:spPr>
        <p:txBody>
          <a:bodyPr wrap="square" lIns="0" tIns="0" rIns="0" bIns="0" rtlCol="0" anchor="t"/>
          <a:lstStyle/>
          <a:p>
            <a:pPr marL="0" indent="0">
              <a:buNone/>
            </a:pPr>
            <a:r>
              <a:rPr lang="en-US" sz="1600" b="1" dirty="0">
                <a:solidFill>
                  <a:schemeClr val="tx1"/>
                </a:solidFill>
              </a:rPr>
              <a:t>Stage 1: terrain</a:t>
            </a:r>
            <a:endParaRPr lang="en-US" sz="1600" dirty="0"/>
          </a:p>
        </p:txBody>
      </p:sp>
      <p:sp>
        <p:nvSpPr>
          <p:cNvPr id="7" name="Text 3"/>
          <p:cNvSpPr txBox="1"/>
          <p:nvPr/>
        </p:nvSpPr>
        <p:spPr>
          <a:xfrm>
            <a:off x="5852160" y="2220976"/>
            <a:ext cx="5525719" cy="292608"/>
          </a:xfrm>
          <a:prstGeom prst="rect">
            <a:avLst/>
          </a:prstGeom>
          <a:noFill/>
          <a:ln/>
        </p:spPr>
        <p:txBody>
          <a:bodyPr wrap="square" lIns="0" tIns="0" rIns="0" bIns="0" rtlCol="0" anchor="t"/>
          <a:lstStyle/>
          <a:p>
            <a:pPr marL="0" indent="0">
              <a:buNone/>
            </a:pPr>
            <a:r>
              <a:rPr lang="en-US" sz="1400" dirty="0">
                <a:solidFill>
                  <a:schemeClr val="accent5"/>
                </a:solidFill>
              </a:rPr>
              <a:t>Flat ground, steps, stairs and gaps, each sized from the jump physics.</a:t>
            </a:r>
            <a:endParaRPr lang="en-US" sz="1400" dirty="0"/>
          </a:p>
        </p:txBody>
      </p:sp>
      <p:sp>
        <p:nvSpPr>
          <p:cNvPr id="8" name="Text 4"/>
          <p:cNvSpPr txBox="1"/>
          <p:nvPr/>
        </p:nvSpPr>
        <p:spPr>
          <a:xfrm>
            <a:off x="5852160" y="2787904"/>
            <a:ext cx="5525719" cy="264160"/>
          </a:xfrm>
          <a:prstGeom prst="rect">
            <a:avLst/>
          </a:prstGeom>
          <a:noFill/>
          <a:ln/>
        </p:spPr>
        <p:txBody>
          <a:bodyPr wrap="square" lIns="0" tIns="0" rIns="0" bIns="0" rtlCol="0" anchor="t"/>
          <a:lstStyle/>
          <a:p>
            <a:pPr marL="0" indent="0">
              <a:buNone/>
            </a:pPr>
            <a:r>
              <a:rPr lang="en-US" sz="1600" b="1" dirty="0">
                <a:solidFill>
                  <a:schemeClr val="tx1"/>
                </a:solidFill>
              </a:rPr>
              <a:t>Stage 2: hazards</a:t>
            </a:r>
            <a:endParaRPr lang="en-US" sz="1600" dirty="0"/>
          </a:p>
        </p:txBody>
      </p:sp>
      <p:sp>
        <p:nvSpPr>
          <p:cNvPr id="9" name="Text 5"/>
          <p:cNvSpPr txBox="1"/>
          <p:nvPr/>
        </p:nvSpPr>
        <p:spPr>
          <a:xfrm>
            <a:off x="5852160" y="3088640"/>
            <a:ext cx="5525719" cy="292608"/>
          </a:xfrm>
          <a:prstGeom prst="rect">
            <a:avLst/>
          </a:prstGeom>
          <a:noFill/>
          <a:ln/>
        </p:spPr>
        <p:txBody>
          <a:bodyPr wrap="square" lIns="0" tIns="0" rIns="0" bIns="0" rtlCol="0" anchor="t"/>
          <a:lstStyle/>
          <a:p>
            <a:pPr marL="0" indent="0">
              <a:buNone/>
            </a:pPr>
            <a:r>
              <a:rPr lang="en-US" sz="1400" dirty="0">
                <a:solidFill>
                  <a:schemeClr val="accent5"/>
                </a:solidFill>
              </a:rPr>
              <a:t>Spikes from difficulty 0.25, floating platform hops from 0.35.</a:t>
            </a:r>
            <a:endParaRPr lang="en-US" sz="1400" dirty="0"/>
          </a:p>
        </p:txBody>
      </p:sp>
      <p:sp>
        <p:nvSpPr>
          <p:cNvPr id="10" name="Text 6"/>
          <p:cNvSpPr txBox="1"/>
          <p:nvPr/>
        </p:nvSpPr>
        <p:spPr>
          <a:xfrm>
            <a:off x="5852160" y="3655568"/>
            <a:ext cx="5525719" cy="264160"/>
          </a:xfrm>
          <a:prstGeom prst="rect">
            <a:avLst/>
          </a:prstGeom>
          <a:noFill/>
          <a:ln/>
        </p:spPr>
        <p:txBody>
          <a:bodyPr wrap="square" lIns="0" tIns="0" rIns="0" bIns="0" rtlCol="0" anchor="t"/>
          <a:lstStyle/>
          <a:p>
            <a:pPr marL="0" indent="0">
              <a:buNone/>
            </a:pPr>
            <a:r>
              <a:rPr lang="en-US" sz="1600" b="1" dirty="0">
                <a:solidFill>
                  <a:schemeClr val="tx1"/>
                </a:solidFill>
              </a:rPr>
              <a:t>Physics</a:t>
            </a:r>
            <a:endParaRPr lang="en-US" sz="1600" dirty="0"/>
          </a:p>
        </p:txBody>
      </p:sp>
      <p:sp>
        <p:nvSpPr>
          <p:cNvPr id="11" name="Text 7"/>
          <p:cNvSpPr txBox="1"/>
          <p:nvPr/>
        </p:nvSpPr>
        <p:spPr>
          <a:xfrm>
            <a:off x="5852160" y="3956304"/>
            <a:ext cx="5525719" cy="585216"/>
          </a:xfrm>
          <a:prstGeom prst="rect">
            <a:avLst/>
          </a:prstGeom>
          <a:noFill/>
          <a:ln/>
        </p:spPr>
        <p:txBody>
          <a:bodyPr wrap="square" lIns="0" tIns="0" rIns="0" bIns="0" rtlCol="0" anchor="t"/>
          <a:lstStyle/>
          <a:p>
            <a:pPr marL="0" indent="0">
              <a:buNone/>
            </a:pPr>
            <a:r>
              <a:rPr lang="en-US" sz="1400" dirty="0">
                <a:solidFill>
                  <a:schemeClr val="accent5"/>
                </a:solidFill>
              </a:rPr>
              <a:t>Deterministic 60 FPS tile physics: jumps up to 3.8 tiles, hold for higher, coyote time.</a:t>
            </a:r>
            <a:endParaRPr lang="en-US" sz="1400" dirty="0"/>
          </a:p>
        </p:txBody>
      </p:sp>
      <p:sp>
        <p:nvSpPr>
          <p:cNvPr id="12" name="Text 8"/>
          <p:cNvSpPr txBox="1"/>
          <p:nvPr/>
        </p:nvSpPr>
        <p:spPr>
          <a:xfrm>
            <a:off x="5852160" y="4815840"/>
            <a:ext cx="5525719" cy="264160"/>
          </a:xfrm>
          <a:prstGeom prst="rect">
            <a:avLst/>
          </a:prstGeom>
          <a:noFill/>
          <a:ln/>
        </p:spPr>
        <p:txBody>
          <a:bodyPr wrap="square" lIns="0" tIns="0" rIns="0" bIns="0" rtlCol="0" anchor="t"/>
          <a:lstStyle/>
          <a:p>
            <a:pPr marL="0" indent="0">
              <a:buNone/>
            </a:pPr>
            <a:r>
              <a:rPr lang="en-US" sz="1600" b="1" dirty="0">
                <a:solidFill>
                  <a:schemeClr val="tx1"/>
                </a:solidFill>
              </a:rPr>
              <a:t>Difficulty 0 to 1 (demo: up to 2)</a:t>
            </a:r>
            <a:endParaRPr lang="en-US" sz="1600" dirty="0"/>
          </a:p>
        </p:txBody>
      </p:sp>
      <p:sp>
        <p:nvSpPr>
          <p:cNvPr id="13" name="Text 9"/>
          <p:cNvSpPr txBox="1"/>
          <p:nvPr/>
        </p:nvSpPr>
        <p:spPr>
          <a:xfrm>
            <a:off x="5852160" y="5116576"/>
            <a:ext cx="5525719" cy="585216"/>
          </a:xfrm>
          <a:prstGeom prst="rect">
            <a:avLst/>
          </a:prstGeom>
          <a:noFill/>
          <a:ln/>
        </p:spPr>
        <p:txBody>
          <a:bodyPr wrap="square" lIns="0" tIns="0" rIns="0" bIns="0" rtlCol="0" anchor="t"/>
          <a:lstStyle/>
          <a:p>
            <a:pPr marL="0" indent="0">
              <a:buNone/>
            </a:pPr>
            <a:r>
              <a:rPr lang="en-US" sz="1400" dirty="0">
                <a:solidFill>
                  <a:schemeClr val="accent5"/>
                </a:solidFill>
              </a:rPr>
              <a:t>Widens gaps and height changes and adds hazards. Enemies are phase 2.</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LEVEL GENERATOR</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Every level is new and beatable</a:t>
            </a:r>
            <a:endParaRPr lang="en-US" sz="3400" dirty="0"/>
          </a:p>
        </p:txBody>
      </p:sp>
      <p:pic>
        <p:nvPicPr>
          <p:cNvPr id="5" name="Image 0" descr="Four different level seeds at the same difficulty, each with a different layout"/>
          <p:cNvPicPr>
            <a:picLocks noChangeAspect="1"/>
          </p:cNvPicPr>
          <p:nvPr/>
        </p:nvPicPr>
        <p:blipFill>
          <a:blip r:embed="rId3"/>
          <a:stretch>
            <a:fillRect/>
          </a:stretch>
        </p:blipFill>
        <p:spPr>
          <a:xfrm>
            <a:off x="813816" y="1783080"/>
            <a:ext cx="5852160" cy="4188793"/>
          </a:xfrm>
          <a:prstGeom prst="rect">
            <a:avLst/>
          </a:prstGeom>
        </p:spPr>
      </p:pic>
      <p:sp>
        <p:nvSpPr>
          <p:cNvPr id="6" name="Text 2"/>
          <p:cNvSpPr txBox="1"/>
          <p:nvPr/>
        </p:nvSpPr>
        <p:spPr>
          <a:xfrm>
            <a:off x="7086600" y="1828800"/>
            <a:ext cx="4297680" cy="548640"/>
          </a:xfrm>
          <a:prstGeom prst="rect">
            <a:avLst/>
          </a:prstGeom>
          <a:noFill/>
          <a:ln/>
        </p:spPr>
        <p:txBody>
          <a:bodyPr wrap="square" lIns="0" tIns="0" rIns="0" bIns="0" rtlCol="0" anchor="t"/>
          <a:lstStyle/>
          <a:p>
            <a:pPr marL="0" indent="0">
              <a:buNone/>
            </a:pPr>
            <a:r>
              <a:rPr lang="en-US" sz="3000" dirty="0">
                <a:solidFill>
                  <a:schemeClr val="accent1"/>
                </a:solidFill>
                <a:latin typeface="Segoe UI Semibold" pitchFamily="34" charset="0"/>
                <a:ea typeface="Segoe UI Semibold" pitchFamily="34" charset="-122"/>
                <a:cs typeface="Segoe UI Semibold" pitchFamily="34" charset="-120"/>
              </a:rPr>
              <a:t>1,000,000</a:t>
            </a:r>
            <a:endParaRPr lang="en-US" sz="3000" dirty="0"/>
          </a:p>
        </p:txBody>
      </p:sp>
      <p:sp>
        <p:nvSpPr>
          <p:cNvPr id="7" name="Text 3"/>
          <p:cNvSpPr txBox="1"/>
          <p:nvPr/>
        </p:nvSpPr>
        <p:spPr>
          <a:xfrm>
            <a:off x="7086600" y="2395728"/>
            <a:ext cx="4297680" cy="731520"/>
          </a:xfrm>
          <a:prstGeom prst="rect">
            <a:avLst/>
          </a:prstGeom>
          <a:noFill/>
          <a:ln/>
        </p:spPr>
        <p:txBody>
          <a:bodyPr wrap="square" lIns="0" tIns="0" rIns="0" bIns="0" rtlCol="0" anchor="t"/>
          <a:lstStyle/>
          <a:p>
            <a:pPr marL="0" indent="0">
              <a:buNone/>
            </a:pPr>
            <a:r>
              <a:rPr lang="en-US" sz="1250" dirty="0">
                <a:solidFill>
                  <a:schemeClr val="accent5"/>
                </a:solidFill>
              </a:rPr>
              <a:t>training seeds. A fresh level is drawn for every episode, built from chunks with a seeded random generator.</a:t>
            </a:r>
            <a:endParaRPr lang="en-US" sz="1250" dirty="0"/>
          </a:p>
        </p:txBody>
      </p:sp>
      <p:sp>
        <p:nvSpPr>
          <p:cNvPr id="8" name="Text 4"/>
          <p:cNvSpPr txBox="1"/>
          <p:nvPr/>
        </p:nvSpPr>
        <p:spPr>
          <a:xfrm>
            <a:off x="7086600" y="3246120"/>
            <a:ext cx="4297680" cy="548640"/>
          </a:xfrm>
          <a:prstGeom prst="rect">
            <a:avLst/>
          </a:prstGeom>
          <a:noFill/>
          <a:ln/>
        </p:spPr>
        <p:txBody>
          <a:bodyPr wrap="square" lIns="0" tIns="0" rIns="0" bIns="0" rtlCol="0" anchor="t"/>
          <a:lstStyle/>
          <a:p>
            <a:pPr marL="0" indent="0">
              <a:buNone/>
            </a:pPr>
            <a:r>
              <a:rPr lang="en-US" sz="3000" dirty="0">
                <a:solidFill>
                  <a:schemeClr val="accent1"/>
                </a:solidFill>
                <a:latin typeface="Segoe UI Semibold" pitchFamily="34" charset="0"/>
                <a:ea typeface="Segoe UI Semibold" pitchFamily="34" charset="-122"/>
                <a:cs typeface="Segoe UI Semibold" pitchFamily="34" charset="-120"/>
              </a:rPr>
              <a:t>100%</a:t>
            </a:r>
            <a:endParaRPr lang="en-US" sz="3000" dirty="0"/>
          </a:p>
        </p:txBody>
      </p:sp>
      <p:sp>
        <p:nvSpPr>
          <p:cNvPr id="9" name="Text 5"/>
          <p:cNvSpPr txBox="1"/>
          <p:nvPr/>
        </p:nvSpPr>
        <p:spPr>
          <a:xfrm>
            <a:off x="7086600" y="3813048"/>
            <a:ext cx="4297680" cy="731520"/>
          </a:xfrm>
          <a:prstGeom prst="rect">
            <a:avLst/>
          </a:prstGeom>
          <a:noFill/>
          <a:ln/>
        </p:spPr>
        <p:txBody>
          <a:bodyPr wrap="square" lIns="0" tIns="0" rIns="0" bIns="0" rtlCol="0" anchor="t"/>
          <a:lstStyle/>
          <a:p>
            <a:pPr marL="0" indent="0">
              <a:buNone/>
            </a:pPr>
            <a:r>
              <a:rPr lang="en-US" sz="1250" dirty="0">
                <a:solidFill>
                  <a:schemeClr val="accent5"/>
                </a:solidFill>
              </a:rPr>
              <a:t>of tested levels solvable. A search-based solver beats every level in the test suite.</a:t>
            </a:r>
            <a:endParaRPr lang="en-US" sz="1250" dirty="0"/>
          </a:p>
        </p:txBody>
      </p:sp>
      <p:sp>
        <p:nvSpPr>
          <p:cNvPr id="10" name="Text 6"/>
          <p:cNvSpPr txBox="1"/>
          <p:nvPr/>
        </p:nvSpPr>
        <p:spPr>
          <a:xfrm>
            <a:off x="7086600" y="4663440"/>
            <a:ext cx="4297680" cy="548640"/>
          </a:xfrm>
          <a:prstGeom prst="rect">
            <a:avLst/>
          </a:prstGeom>
          <a:noFill/>
          <a:ln/>
        </p:spPr>
        <p:txBody>
          <a:bodyPr wrap="square" lIns="0" tIns="0" rIns="0" bIns="0" rtlCol="0" anchor="t"/>
          <a:lstStyle/>
          <a:p>
            <a:pPr marL="0" indent="0">
              <a:buNone/>
            </a:pPr>
            <a:r>
              <a:rPr lang="en-US" sz="3000" dirty="0">
                <a:solidFill>
                  <a:schemeClr val="accent1"/>
                </a:solidFill>
                <a:latin typeface="Segoe UI Semibold" pitchFamily="34" charset="0"/>
                <a:ea typeface="Segoe UI Semibold" pitchFamily="34" charset="-122"/>
                <a:cs typeface="Segoe UI Semibold" pitchFamily="34" charset="-120"/>
              </a:rPr>
              <a:t>3 ranges</a:t>
            </a:r>
            <a:endParaRPr lang="en-US" sz="3000" dirty="0"/>
          </a:p>
        </p:txBody>
      </p:sp>
      <p:sp>
        <p:nvSpPr>
          <p:cNvPr id="11" name="Text 7"/>
          <p:cNvSpPr txBox="1"/>
          <p:nvPr/>
        </p:nvSpPr>
        <p:spPr>
          <a:xfrm>
            <a:off x="7086600" y="5230368"/>
            <a:ext cx="4297680" cy="731520"/>
          </a:xfrm>
          <a:prstGeom prst="rect">
            <a:avLst/>
          </a:prstGeom>
          <a:noFill/>
          <a:ln/>
        </p:spPr>
        <p:txBody>
          <a:bodyPr wrap="square" lIns="0" tIns="0" rIns="0" bIns="0" rtlCol="0" anchor="t"/>
          <a:lstStyle/>
          <a:p>
            <a:pPr marL="0" indent="0">
              <a:buNone/>
            </a:pPr>
            <a:r>
              <a:rPr lang="en-US" sz="1250" dirty="0">
                <a:solidFill>
                  <a:schemeClr val="accent5"/>
                </a:solidFill>
              </a:rPr>
              <a:t>of seeds that never overlap: training, evaluation and the demo. The agent is never tested on a level it trained on.</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OBSERVATION</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What the agent sees</a:t>
            </a:r>
            <a:endParaRPr lang="en-US" sz="3400" dirty="0"/>
          </a:p>
        </p:txBody>
      </p:sp>
      <p:pic>
        <p:nvPicPr>
          <p:cNvPr id="5" name="Image 0" descr="The game view next to the agent’s observation: a 20 by 14 tile window split into solid, spike and goal layers"/>
          <p:cNvPicPr>
            <a:picLocks noChangeAspect="1"/>
          </p:cNvPicPr>
          <p:nvPr/>
        </p:nvPicPr>
        <p:blipFill>
          <a:blip r:embed="rId3"/>
          <a:stretch>
            <a:fillRect/>
          </a:stretch>
        </p:blipFill>
        <p:spPr>
          <a:xfrm>
            <a:off x="813816" y="1994108"/>
            <a:ext cx="6949440" cy="3678671"/>
          </a:xfrm>
          <a:prstGeom prst="rect">
            <a:avLst/>
          </a:prstGeom>
        </p:spPr>
      </p:pic>
      <p:sp>
        <p:nvSpPr>
          <p:cNvPr id="6" name="Text 2"/>
          <p:cNvSpPr txBox="1"/>
          <p:nvPr/>
        </p:nvSpPr>
        <p:spPr>
          <a:xfrm>
            <a:off x="8092440" y="1828800"/>
            <a:ext cx="3291840" cy="411480"/>
          </a:xfrm>
          <a:prstGeom prst="rect">
            <a:avLst/>
          </a:prstGeom>
          <a:noFill/>
          <a:ln/>
        </p:spPr>
        <p:txBody>
          <a:bodyPr wrap="square" lIns="0" tIns="0" rIns="0" bIns="0" rtlCol="0" anchor="t"/>
          <a:lstStyle/>
          <a:p>
            <a:pPr marL="0" indent="0">
              <a:buNone/>
            </a:pPr>
            <a:r>
              <a:rPr lang="en-US" sz="2000" dirty="0">
                <a:solidFill>
                  <a:schemeClr val="accent1"/>
                </a:solidFill>
                <a:latin typeface="Segoe UI Semibold" pitchFamily="34" charset="0"/>
                <a:ea typeface="Segoe UI Semibold" pitchFamily="34" charset="-122"/>
                <a:cs typeface="Segoe UI Semibold" pitchFamily="34" charset="-120"/>
              </a:rPr>
              <a:t>20 × 14 tiles</a:t>
            </a:r>
            <a:endParaRPr lang="en-US" sz="2000" dirty="0"/>
          </a:p>
        </p:txBody>
      </p:sp>
      <p:sp>
        <p:nvSpPr>
          <p:cNvPr id="7" name="Text 3"/>
          <p:cNvSpPr txBox="1"/>
          <p:nvPr/>
        </p:nvSpPr>
        <p:spPr>
          <a:xfrm>
            <a:off x="8092440" y="2240280"/>
            <a:ext cx="3291840" cy="566928"/>
          </a:xfrm>
          <a:prstGeom prst="rect">
            <a:avLst/>
          </a:prstGeom>
          <a:noFill/>
          <a:ln/>
        </p:spPr>
        <p:txBody>
          <a:bodyPr wrap="square" lIns="0" tIns="0" rIns="0" bIns="0" rtlCol="0" anchor="t"/>
          <a:lstStyle/>
          <a:p>
            <a:pPr marL="0" indent="0">
              <a:buNone/>
            </a:pPr>
            <a:r>
              <a:rPr lang="en-US" sz="1250" dirty="0">
                <a:solidFill>
                  <a:schemeClr val="accent5"/>
                </a:solidFill>
              </a:rPr>
              <a:t>around the agent: 4 behind, 15 ahead</a:t>
            </a:r>
            <a:endParaRPr lang="en-US" sz="1250" dirty="0"/>
          </a:p>
        </p:txBody>
      </p:sp>
      <p:sp>
        <p:nvSpPr>
          <p:cNvPr id="8" name="Text 4"/>
          <p:cNvSpPr txBox="1"/>
          <p:nvPr/>
        </p:nvSpPr>
        <p:spPr>
          <a:xfrm>
            <a:off x="8092440" y="2898648"/>
            <a:ext cx="3291840" cy="411480"/>
          </a:xfrm>
          <a:prstGeom prst="rect">
            <a:avLst/>
          </a:prstGeom>
          <a:noFill/>
          <a:ln/>
        </p:spPr>
        <p:txBody>
          <a:bodyPr wrap="square" lIns="0" tIns="0" rIns="0" bIns="0" rtlCol="0" anchor="t"/>
          <a:lstStyle/>
          <a:p>
            <a:pPr marL="0" indent="0">
              <a:buNone/>
            </a:pPr>
            <a:r>
              <a:rPr lang="en-US" sz="2000" dirty="0">
                <a:solidFill>
                  <a:schemeClr val="accent1"/>
                </a:solidFill>
                <a:latin typeface="Segoe UI Semibold" pitchFamily="34" charset="0"/>
                <a:ea typeface="Segoe UI Semibold" pitchFamily="34" charset="-122"/>
                <a:cs typeface="Segoe UI Semibold" pitchFamily="34" charset="-120"/>
              </a:rPr>
              <a:t>3 layers</a:t>
            </a:r>
            <a:endParaRPr lang="en-US" sz="2000" dirty="0"/>
          </a:p>
        </p:txBody>
      </p:sp>
      <p:sp>
        <p:nvSpPr>
          <p:cNvPr id="9" name="Text 5"/>
          <p:cNvSpPr txBox="1"/>
          <p:nvPr/>
        </p:nvSpPr>
        <p:spPr>
          <a:xfrm>
            <a:off x="8092440" y="3310128"/>
            <a:ext cx="3291840" cy="566928"/>
          </a:xfrm>
          <a:prstGeom prst="rect">
            <a:avLst/>
          </a:prstGeom>
          <a:noFill/>
          <a:ln/>
        </p:spPr>
        <p:txBody>
          <a:bodyPr wrap="square" lIns="0" tIns="0" rIns="0" bIns="0" rtlCol="0" anchor="t"/>
          <a:lstStyle/>
          <a:p>
            <a:pPr marL="0" indent="0">
              <a:buNone/>
            </a:pPr>
            <a:r>
              <a:rPr lang="en-US" sz="1250" dirty="0">
                <a:solidFill>
                  <a:schemeClr val="accent5"/>
                </a:solidFill>
              </a:rPr>
              <a:t>solid, spike, goal; each tile is 0 or 1</a:t>
            </a:r>
            <a:endParaRPr lang="en-US" sz="1250" dirty="0"/>
          </a:p>
        </p:txBody>
      </p:sp>
      <p:sp>
        <p:nvSpPr>
          <p:cNvPr id="10" name="Text 6"/>
          <p:cNvSpPr txBox="1"/>
          <p:nvPr/>
        </p:nvSpPr>
        <p:spPr>
          <a:xfrm>
            <a:off x="8092440" y="3968496"/>
            <a:ext cx="3291840" cy="411480"/>
          </a:xfrm>
          <a:prstGeom prst="rect">
            <a:avLst/>
          </a:prstGeom>
          <a:noFill/>
          <a:ln/>
        </p:spPr>
        <p:txBody>
          <a:bodyPr wrap="square" lIns="0" tIns="0" rIns="0" bIns="0" rtlCol="0" anchor="t"/>
          <a:lstStyle/>
          <a:p>
            <a:pPr marL="0" indent="0">
              <a:buNone/>
            </a:pPr>
            <a:r>
              <a:rPr lang="en-US" sz="2000" dirty="0">
                <a:solidFill>
                  <a:schemeClr val="accent1"/>
                </a:solidFill>
                <a:latin typeface="Segoe UI Semibold" pitchFamily="34" charset="0"/>
                <a:ea typeface="Segoe UI Semibold" pitchFamily="34" charset="-122"/>
                <a:cs typeface="Segoe UI Semibold" pitchFamily="34" charset="-120"/>
              </a:rPr>
              <a:t>+ 7 numbers</a:t>
            </a:r>
            <a:endParaRPr lang="en-US" sz="2000" dirty="0"/>
          </a:p>
        </p:txBody>
      </p:sp>
      <p:sp>
        <p:nvSpPr>
          <p:cNvPr id="11" name="Text 7"/>
          <p:cNvSpPr txBox="1"/>
          <p:nvPr/>
        </p:nvSpPr>
        <p:spPr>
          <a:xfrm>
            <a:off x="8092440" y="4379976"/>
            <a:ext cx="3291840" cy="566928"/>
          </a:xfrm>
          <a:prstGeom prst="rect">
            <a:avLst/>
          </a:prstGeom>
          <a:noFill/>
          <a:ln/>
        </p:spPr>
        <p:txBody>
          <a:bodyPr wrap="square" lIns="0" tIns="0" rIns="0" bIns="0" rtlCol="0" anchor="t"/>
          <a:lstStyle/>
          <a:p>
            <a:pPr marL="0" indent="0">
              <a:buNone/>
            </a:pPr>
            <a:r>
              <a:rPr lang="en-US" sz="1250" dirty="0">
                <a:solidFill>
                  <a:schemeClr val="accent5"/>
                </a:solidFill>
              </a:rPr>
              <a:t>its own speed, on ground, can jump, jumping, position within the tile</a:t>
            </a:r>
            <a:endParaRPr lang="en-US" sz="1250" dirty="0"/>
          </a:p>
        </p:txBody>
      </p:sp>
      <p:sp>
        <p:nvSpPr>
          <p:cNvPr id="12" name="Text 8"/>
          <p:cNvSpPr txBox="1"/>
          <p:nvPr/>
        </p:nvSpPr>
        <p:spPr>
          <a:xfrm>
            <a:off x="8092440" y="5038344"/>
            <a:ext cx="3291840" cy="411480"/>
          </a:xfrm>
          <a:prstGeom prst="rect">
            <a:avLst/>
          </a:prstGeom>
          <a:noFill/>
          <a:ln/>
        </p:spPr>
        <p:txBody>
          <a:bodyPr wrap="square" lIns="0" tIns="0" rIns="0" bIns="0" rtlCol="0" anchor="t"/>
          <a:lstStyle/>
          <a:p>
            <a:pPr marL="0" indent="0">
              <a:buNone/>
            </a:pPr>
            <a:r>
              <a:rPr lang="en-US" sz="2000" dirty="0">
                <a:solidFill>
                  <a:schemeClr val="accent1"/>
                </a:solidFill>
                <a:latin typeface="Segoe UI Semibold" pitchFamily="34" charset="0"/>
                <a:ea typeface="Segoe UI Semibold" pitchFamily="34" charset="-122"/>
                <a:cs typeface="Segoe UI Semibold" pitchFamily="34" charset="-120"/>
              </a:rPr>
              <a:t>847 inputs</a:t>
            </a:r>
            <a:endParaRPr lang="en-US" sz="2000" dirty="0"/>
          </a:p>
        </p:txBody>
      </p:sp>
      <p:sp>
        <p:nvSpPr>
          <p:cNvPr id="13" name="Text 9"/>
          <p:cNvSpPr txBox="1"/>
          <p:nvPr/>
        </p:nvSpPr>
        <p:spPr>
          <a:xfrm>
            <a:off x="8092440" y="5449824"/>
            <a:ext cx="3291840" cy="566928"/>
          </a:xfrm>
          <a:prstGeom prst="rect">
            <a:avLst/>
          </a:prstGeom>
          <a:noFill/>
          <a:ln/>
        </p:spPr>
        <p:txBody>
          <a:bodyPr wrap="square" lIns="0" tIns="0" rIns="0" bIns="0" rtlCol="0" anchor="t"/>
          <a:lstStyle/>
          <a:p>
            <a:pPr marL="0" indent="0">
              <a:buNone/>
            </a:pPr>
            <a:r>
              <a:rPr lang="en-US" sz="1250" dirty="0">
                <a:solidFill>
                  <a:schemeClr val="accent5"/>
                </a:solidFill>
              </a:rPr>
              <a:t>cheaper than pixels, and the same on every level because it is relative to the agent</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THE AGENT</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PPO with two small networks</a:t>
            </a:r>
            <a:endParaRPr lang="en-US" sz="3400" dirty="0"/>
          </a:p>
        </p:txBody>
      </p:sp>
      <p:pic>
        <p:nvPicPr>
          <p:cNvPr id="5" name="Image 0" descr="Network diagram: 847 inputs feed an actor and a critic, each with two hidden layers of 256 units"/>
          <p:cNvPicPr>
            <a:picLocks noChangeAspect="1"/>
          </p:cNvPicPr>
          <p:nvPr/>
        </p:nvPicPr>
        <p:blipFill>
          <a:blip r:embed="rId3"/>
          <a:stretch>
            <a:fillRect/>
          </a:stretch>
        </p:blipFill>
        <p:spPr>
          <a:xfrm>
            <a:off x="1588368" y="1783080"/>
            <a:ext cx="9014959" cy="3520440"/>
          </a:xfrm>
          <a:prstGeom prst="rect">
            <a:avLst/>
          </a:prstGeom>
        </p:spPr>
      </p:pic>
      <p:sp>
        <p:nvSpPr>
          <p:cNvPr id="6" name="Text 2"/>
          <p:cNvSpPr txBox="1"/>
          <p:nvPr/>
        </p:nvSpPr>
        <p:spPr>
          <a:xfrm>
            <a:off x="813816" y="5486400"/>
            <a:ext cx="10564063" cy="548640"/>
          </a:xfrm>
          <a:prstGeom prst="rect">
            <a:avLst/>
          </a:prstGeom>
          <a:noFill/>
          <a:ln/>
        </p:spPr>
        <p:txBody>
          <a:bodyPr wrap="square" lIns="0" tIns="0" rIns="0" bIns="0" rtlCol="0" anchor="t"/>
          <a:lstStyle/>
          <a:p>
            <a:pPr marL="0" indent="0">
              <a:buNone/>
            </a:pPr>
            <a:r>
              <a:rPr lang="en-US" sz="1400" dirty="0">
                <a:solidFill>
                  <a:schemeClr val="accent5"/>
                </a:solidFill>
              </a:rPr>
              <a:t>The actor picks one of 6 actions; the critic estimates how good the situation is. Only the actor ships in a ghost file, and the demo runs it with NumPy in about 0.1 ms.</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REWARD AND TRAINING</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Make progress, don’t die</a:t>
            </a:r>
            <a:endParaRPr lang="en-US" sz="3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13816" y="1828800"/>
          <a:ext cx="5852160" cy="2743200"/>
        </p:xfrm>
        <a:graphic>
          <a:graphicData uri="http://schemas.openxmlformats.org/drawingml/2006/table">
            <a:tbl>
              <a:tblPr/>
              <a:tblGrid>
                <a:gridCol w="416052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tblGrid>
              <a:tr h="457200">
                <a:tc>
                  <a:txBody>
                    <a:bodyPr/>
                    <a:lstStyle/>
                    <a:p>
                      <a:pPr marL="0" indent="0" algn="l">
                        <a:buNone/>
                      </a:pPr>
                      <a:r>
                        <a:rPr lang="en-US" sz="1400" b="1" dirty="0">
                          <a:solidFill>
                            <a:schemeClr val="tx1"/>
                          </a:solidFill>
                          <a:latin typeface="Segoe UI" pitchFamily="34" charset="0"/>
                          <a:ea typeface="Segoe UI" pitchFamily="34" charset="-122"/>
                          <a:cs typeface="Segoe UI" pitchFamily="34" charset="-120"/>
                        </a:rPr>
                        <a:t>Event</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b="1" dirty="0">
                          <a:solidFill>
                            <a:schemeClr val="tx1"/>
                          </a:solidFill>
                          <a:latin typeface="Segoe UI" pitchFamily="34" charset="0"/>
                          <a:ea typeface="Segoe UI" pitchFamily="34" charset="-122"/>
                          <a:cs typeface="Segoe UI" pitchFamily="34" charset="-120"/>
                        </a:rPr>
                        <a:t>Reward</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0"/>
                  </a:ext>
                </a:extLst>
              </a:tr>
              <a:tr h="457200">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Each new tile of ground reached</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+0.1</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Each decision (time penalty)</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−0.002</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Falling into a pit or hitting spikes</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−1</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Reaching the flag</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No new ground for 90 decisions</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episode ends</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Shape 2"/>
          <p:cNvSpPr/>
          <p:nvPr/>
        </p:nvSpPr>
        <p:spPr>
          <a:xfrm>
            <a:off x="7086600" y="1828800"/>
            <a:ext cx="4291279" cy="3108960"/>
          </a:xfrm>
          <a:prstGeom prst="roundRect">
            <a:avLst>
              <a:gd name="adj" fmla="val 3529"/>
            </a:avLst>
          </a:prstGeom>
          <a:solidFill>
            <a:schemeClr val="bg1"/>
          </a:solidFill>
          <a:ln/>
        </p:spPr>
      </p:sp>
      <p:sp>
        <p:nvSpPr>
          <p:cNvPr id="7" name="Text 3"/>
          <p:cNvSpPr txBox="1"/>
          <p:nvPr/>
        </p:nvSpPr>
        <p:spPr>
          <a:xfrm>
            <a:off x="7406640" y="2057400"/>
            <a:ext cx="3651199"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Training setup</a:t>
            </a:r>
            <a:endParaRPr lang="en-US" sz="2000" dirty="0"/>
          </a:p>
        </p:txBody>
      </p:sp>
      <p:sp>
        <p:nvSpPr>
          <p:cNvPr id="4" name="Text 4"/>
          <p:cNvSpPr txBox="1"/>
          <p:nvPr/>
        </p:nvSpPr>
        <p:spPr>
          <a:xfrm>
            <a:off x="7406640" y="2560320"/>
            <a:ext cx="3651199" cy="22402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accent5"/>
                </a:solidFill>
              </a:rPr>
              <a:t>6 actions: idle, left, right, jump, left + jump, right + jump</a:t>
            </a:r>
            <a:endParaRPr lang="en-US" sz="1300" dirty="0"/>
          </a:p>
          <a:p>
            <a:pPr marL="342900" indent="-342900">
              <a:spcAft>
                <a:spcPts val="400"/>
              </a:spcAft>
              <a:buSzPct val="100000"/>
              <a:buChar char="•"/>
            </a:pPr>
            <a:r>
              <a:rPr lang="en-US" sz="1300" dirty="0">
                <a:solidFill>
                  <a:schemeClr val="accent5"/>
                </a:solidFill>
              </a:rPr>
              <a:t>One decision every 4 frames (15 per second)</a:t>
            </a:r>
            <a:endParaRPr lang="en-US" sz="1300" dirty="0"/>
          </a:p>
          <a:p>
            <a:pPr marL="342900" indent="-342900">
              <a:spcAft>
                <a:spcPts val="400"/>
              </a:spcAft>
              <a:buSzPct val="100000"/>
              <a:buChar char="•"/>
            </a:pPr>
            <a:r>
              <a:rPr lang="en-US" sz="1300" dirty="0">
                <a:solidFill>
                  <a:schemeClr val="accent5"/>
                </a:solidFill>
              </a:rPr>
              <a:t>8 games in parallel on a 16-thread laptop CPU</a:t>
            </a:r>
            <a:endParaRPr lang="en-US" sz="1300" dirty="0"/>
          </a:p>
          <a:p>
            <a:pPr marL="342900" indent="-342900">
              <a:spcAft>
                <a:spcPts val="400"/>
              </a:spcAft>
              <a:buSzPct val="100000"/>
              <a:buChar char="•"/>
            </a:pPr>
            <a:r>
              <a:rPr lang="en-US" sz="1300" dirty="0">
                <a:solidFill>
                  <a:schemeClr val="accent5"/>
                </a:solidFill>
              </a:rPr>
              <a:t>About 2,700 decisions per second</a:t>
            </a:r>
            <a:endParaRPr lang="en-US" sz="1300" dirty="0"/>
          </a:p>
          <a:p>
            <a:pPr marL="342900" indent="-342900">
              <a:spcAft>
                <a:spcPts val="400"/>
              </a:spcAft>
              <a:buSzPct val="100000"/>
              <a:buChar char="•"/>
            </a:pPr>
            <a:r>
              <a:rPr lang="en-US" sz="1300" dirty="0">
                <a:solidFill>
                  <a:schemeClr val="accent5"/>
                </a:solidFill>
              </a:rPr>
              <a:t>1 simulated hour = 54,000 decisions</a:t>
            </a:r>
            <a:endParaRPr lang="en-US" sz="13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SYSTEM</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From seed to ghost</a:t>
            </a:r>
            <a:endParaRPr lang="en-US" sz="3400" dirty="0"/>
          </a:p>
        </p:txBody>
      </p:sp>
      <p:pic>
        <p:nvPicPr>
          <p:cNvPr id="5" name="Image 0" descr="Pipeline: seeded level generator, Gymnasium environment, PPO training, milestone ghosts, then evaluation and the demo"/>
          <p:cNvPicPr>
            <a:picLocks noChangeAspect="1"/>
          </p:cNvPicPr>
          <p:nvPr/>
        </p:nvPicPr>
        <p:blipFill>
          <a:blip r:embed="rId3"/>
          <a:stretch>
            <a:fillRect/>
          </a:stretch>
        </p:blipFill>
        <p:spPr>
          <a:xfrm>
            <a:off x="1152536" y="1783080"/>
            <a:ext cx="9886622" cy="3566160"/>
          </a:xfrm>
          <a:prstGeom prst="rect">
            <a:avLst/>
          </a:prstGeom>
        </p:spPr>
      </p:pic>
      <p:sp>
        <p:nvSpPr>
          <p:cNvPr id="6" name="Text 2"/>
          <p:cNvSpPr txBox="1"/>
          <p:nvPr/>
        </p:nvSpPr>
        <p:spPr>
          <a:xfrm>
            <a:off x="813816" y="5486400"/>
            <a:ext cx="10564063" cy="548640"/>
          </a:xfrm>
          <a:prstGeom prst="rect">
            <a:avLst/>
          </a:prstGeom>
          <a:noFill/>
          <a:ln/>
        </p:spPr>
        <p:txBody>
          <a:bodyPr wrap="square" lIns="0" tIns="0" rIns="0" bIns="0" rtlCol="0" anchor="t"/>
          <a:lstStyle/>
          <a:p>
            <a:pPr marL="0" indent="0">
              <a:buNone/>
            </a:pPr>
            <a:r>
              <a:rPr lang="en-US" sz="1400" dirty="0">
                <a:solidFill>
                  <a:schemeClr val="accent5"/>
                </a:solidFill>
              </a:rPr>
              <a:t>A local web app runs the queue overnight, autosaves every 10 minutes, tests each new ghost on 400 unseen levels and redraws these charts.</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4"/>
                </a:solidFill>
              </a:rPr>
              <a:t>RESULTS</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bg1"/>
                </a:solidFill>
              </a:rPr>
              <a:t>One night on a laptop</a:t>
            </a:r>
            <a:endParaRPr lang="en-US" sz="3400" dirty="0"/>
          </a:p>
        </p:txBody>
      </p:sp>
      <p:sp>
        <p:nvSpPr>
          <p:cNvPr id="5" name="Shape 2"/>
          <p:cNvSpPr/>
          <p:nvPr/>
        </p:nvSpPr>
        <p:spPr>
          <a:xfrm>
            <a:off x="813816" y="2331720"/>
            <a:ext cx="2435276" cy="2286000"/>
          </a:xfrm>
          <a:prstGeom prst="roundRect">
            <a:avLst>
              <a:gd name="adj" fmla="val 4800"/>
            </a:avLst>
          </a:prstGeom>
          <a:solidFill>
            <a:srgbClr val="1B2940"/>
          </a:solidFill>
          <a:ln/>
        </p:spPr>
      </p:sp>
      <p:sp>
        <p:nvSpPr>
          <p:cNvPr id="6" name="Text 3"/>
          <p:cNvSpPr txBox="1"/>
          <p:nvPr/>
        </p:nvSpPr>
        <p:spPr>
          <a:xfrm>
            <a:off x="1088136" y="2606040"/>
            <a:ext cx="1886636" cy="822960"/>
          </a:xfrm>
          <a:prstGeom prst="rect">
            <a:avLst/>
          </a:prstGeom>
          <a:noFill/>
          <a:ln/>
        </p:spPr>
        <p:txBody>
          <a:bodyPr wrap="square" lIns="0" tIns="0" rIns="0" bIns="0" rtlCol="0" anchor="t"/>
          <a:lstStyle/>
          <a:p>
            <a:pPr marL="0" indent="0">
              <a:buNone/>
            </a:pPr>
            <a:r>
              <a:rPr lang="en-US" sz="4400" dirty="0">
                <a:solidFill>
                  <a:schemeClr val="bg1"/>
                </a:solidFill>
                <a:latin typeface="Segoe UI Semibold" pitchFamily="34" charset="0"/>
                <a:ea typeface="Segoe UI Semibold" pitchFamily="34" charset="-122"/>
                <a:cs typeface="Segoe UI Semibold" pitchFamily="34" charset="-120"/>
              </a:rPr>
              <a:t>300 h</a:t>
            </a:r>
            <a:endParaRPr lang="en-US" sz="4400" dirty="0"/>
          </a:p>
        </p:txBody>
      </p:sp>
      <p:sp>
        <p:nvSpPr>
          <p:cNvPr id="7" name="Text 4"/>
          <p:cNvSpPr txBox="1"/>
          <p:nvPr/>
        </p:nvSpPr>
        <p:spPr>
          <a:xfrm>
            <a:off x="1088136" y="3520440"/>
            <a:ext cx="1886636" cy="822960"/>
          </a:xfrm>
          <a:prstGeom prst="rect">
            <a:avLst/>
          </a:prstGeom>
          <a:noFill/>
          <a:ln/>
        </p:spPr>
        <p:txBody>
          <a:bodyPr wrap="square" lIns="0" tIns="0" rIns="0" bIns="0" rtlCol="0" anchor="t"/>
          <a:lstStyle/>
          <a:p>
            <a:pPr marL="0" indent="0">
              <a:buNone/>
            </a:pPr>
            <a:r>
              <a:rPr lang="en-US" sz="1400" dirty="0">
                <a:solidFill>
                  <a:srgbClr val="B8C3D3"/>
                </a:solidFill>
              </a:rPr>
              <a:t>of simulated play: 16.2 million decisions</a:t>
            </a:r>
            <a:endParaRPr lang="en-US" sz="1400" dirty="0"/>
          </a:p>
        </p:txBody>
      </p:sp>
      <p:sp>
        <p:nvSpPr>
          <p:cNvPr id="8" name="Shape 5"/>
          <p:cNvSpPr/>
          <p:nvPr/>
        </p:nvSpPr>
        <p:spPr>
          <a:xfrm>
            <a:off x="3523412" y="2331720"/>
            <a:ext cx="2435276" cy="2286000"/>
          </a:xfrm>
          <a:prstGeom prst="roundRect">
            <a:avLst>
              <a:gd name="adj" fmla="val 4800"/>
            </a:avLst>
          </a:prstGeom>
          <a:solidFill>
            <a:srgbClr val="1B2940"/>
          </a:solidFill>
          <a:ln/>
        </p:spPr>
      </p:sp>
      <p:sp>
        <p:nvSpPr>
          <p:cNvPr id="9" name="Text 6"/>
          <p:cNvSpPr txBox="1"/>
          <p:nvPr/>
        </p:nvSpPr>
        <p:spPr>
          <a:xfrm>
            <a:off x="3797732" y="2606040"/>
            <a:ext cx="1886636" cy="822960"/>
          </a:xfrm>
          <a:prstGeom prst="rect">
            <a:avLst/>
          </a:prstGeom>
          <a:noFill/>
          <a:ln/>
        </p:spPr>
        <p:txBody>
          <a:bodyPr wrap="square" lIns="0" tIns="0" rIns="0" bIns="0" rtlCol="0" anchor="t"/>
          <a:lstStyle/>
          <a:p>
            <a:pPr marL="0" indent="0">
              <a:buNone/>
            </a:pPr>
            <a:r>
              <a:rPr lang="en-US" sz="4400" dirty="0">
                <a:solidFill>
                  <a:schemeClr val="bg1"/>
                </a:solidFill>
                <a:latin typeface="Segoe UI Semibold" pitchFamily="34" charset="0"/>
                <a:ea typeface="Segoe UI Semibold" pitchFamily="34" charset="-122"/>
                <a:cs typeface="Segoe UI Semibold" pitchFamily="34" charset="-120"/>
              </a:rPr>
              <a:t>4.7 h</a:t>
            </a:r>
            <a:endParaRPr lang="en-US" sz="4400" dirty="0"/>
          </a:p>
        </p:txBody>
      </p:sp>
      <p:sp>
        <p:nvSpPr>
          <p:cNvPr id="10" name="Text 7"/>
          <p:cNvSpPr txBox="1"/>
          <p:nvPr/>
        </p:nvSpPr>
        <p:spPr>
          <a:xfrm>
            <a:off x="3797732" y="3520440"/>
            <a:ext cx="1886636" cy="822960"/>
          </a:xfrm>
          <a:prstGeom prst="rect">
            <a:avLst/>
          </a:prstGeom>
          <a:noFill/>
          <a:ln/>
        </p:spPr>
        <p:txBody>
          <a:bodyPr wrap="square" lIns="0" tIns="0" rIns="0" bIns="0" rtlCol="0" anchor="t"/>
          <a:lstStyle/>
          <a:p>
            <a:pPr marL="0" indent="0">
              <a:buNone/>
            </a:pPr>
            <a:r>
              <a:rPr lang="en-US" sz="1400" dirty="0">
                <a:solidFill>
                  <a:srgbClr val="B8C3D3"/>
                </a:solidFill>
              </a:rPr>
              <a:t>of real training time, CPU only</a:t>
            </a:r>
            <a:endParaRPr lang="en-US" sz="1400" dirty="0"/>
          </a:p>
        </p:txBody>
      </p:sp>
      <p:sp>
        <p:nvSpPr>
          <p:cNvPr id="11" name="Shape 8"/>
          <p:cNvSpPr/>
          <p:nvPr/>
        </p:nvSpPr>
        <p:spPr>
          <a:xfrm>
            <a:off x="6233008" y="2331720"/>
            <a:ext cx="2435276" cy="2286000"/>
          </a:xfrm>
          <a:prstGeom prst="roundRect">
            <a:avLst>
              <a:gd name="adj" fmla="val 4800"/>
            </a:avLst>
          </a:prstGeom>
          <a:solidFill>
            <a:srgbClr val="1B2940"/>
          </a:solidFill>
          <a:ln/>
        </p:spPr>
      </p:sp>
      <p:sp>
        <p:nvSpPr>
          <p:cNvPr id="12" name="Text 9"/>
          <p:cNvSpPr txBox="1"/>
          <p:nvPr/>
        </p:nvSpPr>
        <p:spPr>
          <a:xfrm>
            <a:off x="6507328" y="2606040"/>
            <a:ext cx="1886636" cy="822960"/>
          </a:xfrm>
          <a:prstGeom prst="rect">
            <a:avLst/>
          </a:prstGeom>
          <a:noFill/>
          <a:ln/>
        </p:spPr>
        <p:txBody>
          <a:bodyPr wrap="square" lIns="0" tIns="0" rIns="0" bIns="0" rtlCol="0" anchor="t"/>
          <a:lstStyle/>
          <a:p>
            <a:pPr marL="0" indent="0">
              <a:buNone/>
            </a:pPr>
            <a:r>
              <a:rPr lang="en-US" sz="4400" dirty="0">
                <a:solidFill>
                  <a:schemeClr val="bg1"/>
                </a:solidFill>
                <a:latin typeface="Segoe UI Semibold" pitchFamily="34" charset="0"/>
                <a:ea typeface="Segoe UI Semibold" pitchFamily="34" charset="-122"/>
                <a:cs typeface="Segoe UI Semibold" pitchFamily="34" charset="-120"/>
              </a:rPr>
              <a:t>96%</a:t>
            </a:r>
            <a:endParaRPr lang="en-US" sz="4400" dirty="0"/>
          </a:p>
        </p:txBody>
      </p:sp>
      <p:sp>
        <p:nvSpPr>
          <p:cNvPr id="13" name="Text 10"/>
          <p:cNvSpPr txBox="1"/>
          <p:nvPr/>
        </p:nvSpPr>
        <p:spPr>
          <a:xfrm>
            <a:off x="6507328" y="3520440"/>
            <a:ext cx="1886636" cy="822960"/>
          </a:xfrm>
          <a:prstGeom prst="rect">
            <a:avLst/>
          </a:prstGeom>
          <a:noFill/>
          <a:ln/>
        </p:spPr>
        <p:txBody>
          <a:bodyPr wrap="square" lIns="0" tIns="0" rIns="0" bIns="0" rtlCol="0" anchor="t"/>
          <a:lstStyle/>
          <a:p>
            <a:pPr marL="0" indent="0">
              <a:buNone/>
            </a:pPr>
            <a:r>
              <a:rPr lang="en-US" sz="1400" dirty="0">
                <a:solidFill>
                  <a:srgbClr val="B8C3D3"/>
                </a:solidFill>
              </a:rPr>
              <a:t>of never-seen levels completed at difficulty 0.75</a:t>
            </a:r>
            <a:endParaRPr lang="en-US" sz="1400" dirty="0"/>
          </a:p>
        </p:txBody>
      </p:sp>
      <p:sp>
        <p:nvSpPr>
          <p:cNvPr id="14" name="Shape 11"/>
          <p:cNvSpPr/>
          <p:nvPr/>
        </p:nvSpPr>
        <p:spPr>
          <a:xfrm>
            <a:off x="8942603" y="2331720"/>
            <a:ext cx="2435276" cy="2286000"/>
          </a:xfrm>
          <a:prstGeom prst="roundRect">
            <a:avLst>
              <a:gd name="adj" fmla="val 4800"/>
            </a:avLst>
          </a:prstGeom>
          <a:solidFill>
            <a:srgbClr val="1B2940"/>
          </a:solidFill>
          <a:ln/>
        </p:spPr>
      </p:sp>
      <p:sp>
        <p:nvSpPr>
          <p:cNvPr id="15" name="Text 12"/>
          <p:cNvSpPr txBox="1"/>
          <p:nvPr/>
        </p:nvSpPr>
        <p:spPr>
          <a:xfrm>
            <a:off x="9216923" y="2606040"/>
            <a:ext cx="1886636" cy="822960"/>
          </a:xfrm>
          <a:prstGeom prst="rect">
            <a:avLst/>
          </a:prstGeom>
          <a:noFill/>
          <a:ln/>
        </p:spPr>
        <p:txBody>
          <a:bodyPr wrap="square" lIns="0" tIns="0" rIns="0" bIns="0" rtlCol="0" anchor="t"/>
          <a:lstStyle/>
          <a:p>
            <a:pPr marL="0" indent="0">
              <a:buNone/>
            </a:pPr>
            <a:r>
              <a:rPr lang="en-US" sz="4400" dirty="0">
                <a:solidFill>
                  <a:schemeClr val="bg1"/>
                </a:solidFill>
                <a:latin typeface="Segoe UI Semibold" pitchFamily="34" charset="0"/>
                <a:ea typeface="Segoe UI Semibold" pitchFamily="34" charset="-122"/>
                <a:cs typeface="Segoe UI Semibold" pitchFamily="34" charset="-120"/>
              </a:rPr>
              <a:t>85%</a:t>
            </a:r>
            <a:endParaRPr lang="en-US" sz="4400" dirty="0"/>
          </a:p>
        </p:txBody>
      </p:sp>
      <p:sp>
        <p:nvSpPr>
          <p:cNvPr id="16" name="Text 13"/>
          <p:cNvSpPr txBox="1"/>
          <p:nvPr/>
        </p:nvSpPr>
        <p:spPr>
          <a:xfrm>
            <a:off x="9216923" y="3520440"/>
            <a:ext cx="1886636" cy="822960"/>
          </a:xfrm>
          <a:prstGeom prst="rect">
            <a:avLst/>
          </a:prstGeom>
          <a:noFill/>
          <a:ln/>
        </p:spPr>
        <p:txBody>
          <a:bodyPr wrap="square" lIns="0" tIns="0" rIns="0" bIns="0" rtlCol="0" anchor="t"/>
          <a:lstStyle/>
          <a:p>
            <a:pPr marL="0" indent="0">
              <a:buNone/>
            </a:pPr>
            <a:r>
              <a:rPr lang="en-US" sz="1400" dirty="0">
                <a:solidFill>
                  <a:srgbClr val="B8C3D3"/>
                </a:solidFill>
              </a:rPr>
              <a:t>at the hardest training difficulty, 1.0</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D9BB0"/>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TRAINING</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The learning curve</a:t>
            </a:r>
            <a:endParaRPr lang="en-US" sz="3400" dirty="0"/>
          </a:p>
        </p:txBody>
      </p:sp>
      <p:pic>
        <p:nvPicPr>
          <p:cNvPr id="5" name="Image 0" descr="Training curve over 300 simulated hours: progress rises to 95%, levels completed from 33% to 89%"/>
          <p:cNvPicPr>
            <a:picLocks noChangeAspect="1"/>
          </p:cNvPicPr>
          <p:nvPr/>
        </p:nvPicPr>
        <p:blipFill>
          <a:blip r:embed="rId3"/>
          <a:stretch>
            <a:fillRect/>
          </a:stretch>
        </p:blipFill>
        <p:spPr>
          <a:xfrm>
            <a:off x="813816" y="2150275"/>
            <a:ext cx="7498080" cy="3288252"/>
          </a:xfrm>
          <a:prstGeom prst="rect">
            <a:avLst/>
          </a:prstGeom>
        </p:spPr>
      </p:pic>
      <p:sp>
        <p:nvSpPr>
          <p:cNvPr id="6" name="Text 2"/>
          <p:cNvSpPr txBox="1"/>
          <p:nvPr/>
        </p:nvSpPr>
        <p:spPr>
          <a:xfrm>
            <a:off x="8595360" y="2103120"/>
            <a:ext cx="2782519" cy="247650"/>
          </a:xfrm>
          <a:prstGeom prst="rect">
            <a:avLst/>
          </a:prstGeom>
          <a:noFill/>
          <a:ln/>
        </p:spPr>
        <p:txBody>
          <a:bodyPr wrap="square" lIns="0" tIns="0" rIns="0" bIns="0" rtlCol="0" anchor="t"/>
          <a:lstStyle/>
          <a:p>
            <a:pPr marL="0" indent="0">
              <a:buNone/>
            </a:pPr>
            <a:r>
              <a:rPr lang="en-US" sz="1500" b="1" dirty="0">
                <a:solidFill>
                  <a:schemeClr val="tx1"/>
                </a:solidFill>
              </a:rPr>
              <a:t>33% → 89%</a:t>
            </a:r>
            <a:endParaRPr lang="en-US" sz="1500" dirty="0"/>
          </a:p>
        </p:txBody>
      </p:sp>
      <p:sp>
        <p:nvSpPr>
          <p:cNvPr id="7" name="Text 3"/>
          <p:cNvSpPr txBox="1"/>
          <p:nvPr/>
        </p:nvSpPr>
        <p:spPr>
          <a:xfrm>
            <a:off x="8595360" y="2387346"/>
            <a:ext cx="2782519" cy="493776"/>
          </a:xfrm>
          <a:prstGeom prst="rect">
            <a:avLst/>
          </a:prstGeom>
          <a:noFill/>
          <a:ln/>
        </p:spPr>
        <p:txBody>
          <a:bodyPr wrap="square" lIns="0" tIns="0" rIns="0" bIns="0" rtlCol="0" anchor="t"/>
          <a:lstStyle/>
          <a:p>
            <a:pPr marL="0" indent="0">
              <a:buNone/>
            </a:pPr>
            <a:r>
              <a:rPr lang="en-US" sz="1250" dirty="0">
                <a:solidFill>
                  <a:schemeClr val="accent5"/>
                </a:solidFill>
              </a:rPr>
              <a:t>of training levels completed, first rollout to last</a:t>
            </a:r>
            <a:endParaRPr lang="en-US" sz="1250" dirty="0"/>
          </a:p>
        </p:txBody>
      </p:sp>
      <p:sp>
        <p:nvSpPr>
          <p:cNvPr id="8" name="Text 4"/>
          <p:cNvSpPr txBox="1"/>
          <p:nvPr/>
        </p:nvSpPr>
        <p:spPr>
          <a:xfrm>
            <a:off x="8595360" y="3201162"/>
            <a:ext cx="2782519" cy="247650"/>
          </a:xfrm>
          <a:prstGeom prst="rect">
            <a:avLst/>
          </a:prstGeom>
          <a:noFill/>
          <a:ln/>
        </p:spPr>
        <p:txBody>
          <a:bodyPr wrap="square" lIns="0" tIns="0" rIns="0" bIns="0" rtlCol="0" anchor="t"/>
          <a:lstStyle/>
          <a:p>
            <a:pPr marL="0" indent="0">
              <a:buNone/>
            </a:pPr>
            <a:r>
              <a:rPr lang="en-US" sz="1500" b="1" dirty="0">
                <a:solidFill>
                  <a:schemeClr val="tx1"/>
                </a:solidFill>
              </a:rPr>
              <a:t>Dips are good news</a:t>
            </a:r>
            <a:endParaRPr lang="en-US" sz="1500" dirty="0"/>
          </a:p>
        </p:txBody>
      </p:sp>
      <p:sp>
        <p:nvSpPr>
          <p:cNvPr id="9" name="Text 5"/>
          <p:cNvSpPr txBox="1"/>
          <p:nvPr/>
        </p:nvSpPr>
        <p:spPr>
          <a:xfrm>
            <a:off x="8595360" y="3485388"/>
            <a:ext cx="2782519" cy="493776"/>
          </a:xfrm>
          <a:prstGeom prst="rect">
            <a:avLst/>
          </a:prstGeom>
          <a:noFill/>
          <a:ln/>
        </p:spPr>
        <p:txBody>
          <a:bodyPr wrap="square" lIns="0" tIns="0" rIns="0" bIns="0" rtlCol="0" anchor="t"/>
          <a:lstStyle/>
          <a:p>
            <a:pPr marL="0" indent="0">
              <a:buNone/>
            </a:pPr>
            <a:r>
              <a:rPr lang="en-US" sz="1250" dirty="0">
                <a:solidFill>
                  <a:schemeClr val="accent5"/>
                </a:solidFill>
              </a:rPr>
              <a:t>each one is the curriculum making the levels harder</a:t>
            </a:r>
            <a:endParaRPr lang="en-US" sz="1250" dirty="0"/>
          </a:p>
        </p:txBody>
      </p:sp>
      <p:sp>
        <p:nvSpPr>
          <p:cNvPr id="10" name="Text 6"/>
          <p:cNvSpPr txBox="1"/>
          <p:nvPr/>
        </p:nvSpPr>
        <p:spPr>
          <a:xfrm>
            <a:off x="8595360" y="4299204"/>
            <a:ext cx="2782519" cy="247650"/>
          </a:xfrm>
          <a:prstGeom prst="rect">
            <a:avLst/>
          </a:prstGeom>
          <a:noFill/>
          <a:ln/>
        </p:spPr>
        <p:txBody>
          <a:bodyPr wrap="square" lIns="0" tIns="0" rIns="0" bIns="0" rtlCol="0" anchor="t"/>
          <a:lstStyle/>
          <a:p>
            <a:pPr marL="0" indent="0">
              <a:buNone/>
            </a:pPr>
            <a:r>
              <a:rPr lang="en-US" sz="1500" b="1" dirty="0">
                <a:solidFill>
                  <a:schemeClr val="tx1"/>
                </a:solidFill>
              </a:rPr>
              <a:t>Log time axis</a:t>
            </a:r>
            <a:endParaRPr lang="en-US" sz="1500" dirty="0"/>
          </a:p>
        </p:txBody>
      </p:sp>
      <p:sp>
        <p:nvSpPr>
          <p:cNvPr id="11" name="Text 7"/>
          <p:cNvSpPr txBox="1"/>
          <p:nvPr/>
        </p:nvSpPr>
        <p:spPr>
          <a:xfrm>
            <a:off x="8595360" y="4583430"/>
            <a:ext cx="2782519" cy="493776"/>
          </a:xfrm>
          <a:prstGeom prst="rect">
            <a:avLst/>
          </a:prstGeom>
          <a:noFill/>
          <a:ln/>
        </p:spPr>
        <p:txBody>
          <a:bodyPr wrap="square" lIns="0" tIns="0" rIns="0" bIns="0" rtlCol="0" anchor="t"/>
          <a:lstStyle/>
          <a:p>
            <a:pPr marL="0" indent="0">
              <a:buNone/>
            </a:pPr>
            <a:r>
              <a:rPr lang="en-US" sz="1250" dirty="0">
                <a:solidFill>
                  <a:schemeClr val="accent5"/>
                </a:solidFill>
              </a:rPr>
              <a:t>most of the learning happens in the first 30 hours</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TRAINING</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A curriculum from easy to hard</a:t>
            </a:r>
            <a:endParaRPr lang="en-US" sz="3400" dirty="0"/>
          </a:p>
        </p:txBody>
      </p:sp>
      <p:pic>
        <p:nvPicPr>
          <p:cNvPr id="5" name="Image 0" descr="Curriculum difficulty over simulated time: steps from 0.1 up to 0.9 by 14 hours, reaching 1.0 at 33 hours"/>
          <p:cNvPicPr>
            <a:picLocks noChangeAspect="1"/>
          </p:cNvPicPr>
          <p:nvPr/>
        </p:nvPicPr>
        <p:blipFill>
          <a:blip r:embed="rId3"/>
          <a:stretch>
            <a:fillRect/>
          </a:stretch>
        </p:blipFill>
        <p:spPr>
          <a:xfrm>
            <a:off x="813816" y="2316934"/>
            <a:ext cx="7498080" cy="2871605"/>
          </a:xfrm>
          <a:prstGeom prst="rect">
            <a:avLst/>
          </a:prstGeom>
        </p:spPr>
      </p:pic>
      <p:sp>
        <p:nvSpPr>
          <p:cNvPr id="6" name="Text 2"/>
          <p:cNvSpPr txBox="1"/>
          <p:nvPr/>
        </p:nvSpPr>
        <p:spPr>
          <a:xfrm>
            <a:off x="8595360" y="2103120"/>
            <a:ext cx="2782519" cy="247650"/>
          </a:xfrm>
          <a:prstGeom prst="rect">
            <a:avLst/>
          </a:prstGeom>
          <a:noFill/>
          <a:ln/>
        </p:spPr>
        <p:txBody>
          <a:bodyPr wrap="square" lIns="0" tIns="0" rIns="0" bIns="0" rtlCol="0" anchor="t"/>
          <a:lstStyle/>
          <a:p>
            <a:pPr marL="0" indent="0">
              <a:buNone/>
            </a:pPr>
            <a:r>
              <a:rPr lang="en-US" sz="1500" b="1" dirty="0">
                <a:solidFill>
                  <a:schemeClr val="tx1"/>
                </a:solidFill>
              </a:rPr>
              <a:t>0.1 → 0.9 in 14 h</a:t>
            </a:r>
            <a:endParaRPr lang="en-US" sz="1500" dirty="0"/>
          </a:p>
        </p:txBody>
      </p:sp>
      <p:sp>
        <p:nvSpPr>
          <p:cNvPr id="7" name="Text 3"/>
          <p:cNvSpPr txBox="1"/>
          <p:nvPr/>
        </p:nvSpPr>
        <p:spPr>
          <a:xfrm>
            <a:off x="8595360" y="2387346"/>
            <a:ext cx="2782519" cy="493776"/>
          </a:xfrm>
          <a:prstGeom prst="rect">
            <a:avLst/>
          </a:prstGeom>
          <a:noFill/>
          <a:ln/>
        </p:spPr>
        <p:txBody>
          <a:bodyPr wrap="square" lIns="0" tIns="0" rIns="0" bIns="0" rtlCol="0" anchor="t"/>
          <a:lstStyle/>
          <a:p>
            <a:pPr marL="0" indent="0">
              <a:buNone/>
            </a:pPr>
            <a:r>
              <a:rPr lang="en-US" sz="1250" dirty="0">
                <a:solidFill>
                  <a:schemeClr val="accent5"/>
                </a:solidFill>
              </a:rPr>
              <a:t>eight promotions in the first 14 simulated hours</a:t>
            </a:r>
            <a:endParaRPr lang="en-US" sz="1250" dirty="0"/>
          </a:p>
        </p:txBody>
      </p:sp>
      <p:sp>
        <p:nvSpPr>
          <p:cNvPr id="8" name="Text 4"/>
          <p:cNvSpPr txBox="1"/>
          <p:nvPr/>
        </p:nvSpPr>
        <p:spPr>
          <a:xfrm>
            <a:off x="8595360" y="3201162"/>
            <a:ext cx="2782519" cy="247650"/>
          </a:xfrm>
          <a:prstGeom prst="rect">
            <a:avLst/>
          </a:prstGeom>
          <a:noFill/>
          <a:ln/>
        </p:spPr>
        <p:txBody>
          <a:bodyPr wrap="square" lIns="0" tIns="0" rIns="0" bIns="0" rtlCol="0" anchor="t"/>
          <a:lstStyle/>
          <a:p>
            <a:pPr marL="0" indent="0">
              <a:buNone/>
            </a:pPr>
            <a:r>
              <a:rPr lang="en-US" sz="1500" b="1" dirty="0">
                <a:solidFill>
                  <a:schemeClr val="tx1"/>
                </a:solidFill>
              </a:rPr>
              <a:t>1.0 took until 33 h</a:t>
            </a:r>
            <a:endParaRPr lang="en-US" sz="1500" dirty="0"/>
          </a:p>
        </p:txBody>
      </p:sp>
      <p:sp>
        <p:nvSpPr>
          <p:cNvPr id="9" name="Text 5"/>
          <p:cNvSpPr txBox="1"/>
          <p:nvPr/>
        </p:nvSpPr>
        <p:spPr>
          <a:xfrm>
            <a:off x="8595360" y="3485388"/>
            <a:ext cx="2782519" cy="493776"/>
          </a:xfrm>
          <a:prstGeom prst="rect">
            <a:avLst/>
          </a:prstGeom>
          <a:noFill/>
          <a:ln/>
        </p:spPr>
        <p:txBody>
          <a:bodyPr wrap="square" lIns="0" tIns="0" rIns="0" bIns="0" rtlCol="0" anchor="t"/>
          <a:lstStyle/>
          <a:p>
            <a:pPr marL="0" indent="0">
              <a:buNone/>
            </a:pPr>
            <a:r>
              <a:rPr lang="en-US" sz="1250" dirty="0">
                <a:solidFill>
                  <a:schemeClr val="accent5"/>
                </a:solidFill>
              </a:rPr>
              <a:t>the last step, with the widest gaps, was the hardest</a:t>
            </a:r>
            <a:endParaRPr lang="en-US" sz="1250" dirty="0"/>
          </a:p>
        </p:txBody>
      </p:sp>
      <p:sp>
        <p:nvSpPr>
          <p:cNvPr id="10" name="Text 6"/>
          <p:cNvSpPr txBox="1"/>
          <p:nvPr/>
        </p:nvSpPr>
        <p:spPr>
          <a:xfrm>
            <a:off x="8595360" y="4299204"/>
            <a:ext cx="2782519" cy="247650"/>
          </a:xfrm>
          <a:prstGeom prst="rect">
            <a:avLst/>
          </a:prstGeom>
          <a:noFill/>
          <a:ln/>
        </p:spPr>
        <p:txBody>
          <a:bodyPr wrap="square" lIns="0" tIns="0" rIns="0" bIns="0" rtlCol="0" anchor="t"/>
          <a:lstStyle/>
          <a:p>
            <a:pPr marL="0" indent="0">
              <a:buNone/>
            </a:pPr>
            <a:r>
              <a:rPr lang="en-US" sz="1500" b="1" dirty="0">
                <a:solidFill>
                  <a:schemeClr val="tx1"/>
                </a:solidFill>
              </a:rPr>
              <a:t>Promotion rule</a:t>
            </a:r>
            <a:endParaRPr lang="en-US" sz="1500" dirty="0"/>
          </a:p>
        </p:txBody>
      </p:sp>
      <p:sp>
        <p:nvSpPr>
          <p:cNvPr id="11" name="Text 7"/>
          <p:cNvSpPr txBox="1"/>
          <p:nvPr/>
        </p:nvSpPr>
        <p:spPr>
          <a:xfrm>
            <a:off x="8595360" y="4583430"/>
            <a:ext cx="2782519" cy="493776"/>
          </a:xfrm>
          <a:prstGeom prst="rect">
            <a:avLst/>
          </a:prstGeom>
          <a:noFill/>
          <a:ln/>
        </p:spPr>
        <p:txBody>
          <a:bodyPr wrap="square" lIns="0" tIns="0" rIns="0" bIns="0" rtlCol="0" anchor="t"/>
          <a:lstStyle/>
          <a:p>
            <a:pPr marL="0" indent="0">
              <a:buNone/>
            </a:pPr>
            <a:r>
              <a:rPr lang="en-US" sz="1250" dirty="0">
                <a:solidFill>
                  <a:schemeClr val="accent5"/>
                </a:solidFill>
              </a:rPr>
              <a:t>complete 70% of the last 100 levels at the current ceiling</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EVALUATION</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Tested on levels it has never seen</a:t>
            </a:r>
            <a:endParaRPr lang="en-US" sz="3400" dirty="0"/>
          </a:p>
        </p:txBody>
      </p:sp>
      <p:pic>
        <p:nvPicPr>
          <p:cNvPr id="5" name="Image 0" descr="Two line charts of every ghost on 100 never-seen levels per difficulty, ending at 99, 96, 96 and 85 percent"/>
          <p:cNvPicPr>
            <a:picLocks noChangeAspect="1"/>
          </p:cNvPicPr>
          <p:nvPr/>
        </p:nvPicPr>
        <p:blipFill>
          <a:blip r:embed="rId3"/>
          <a:stretch>
            <a:fillRect/>
          </a:stretch>
        </p:blipFill>
        <p:spPr>
          <a:xfrm>
            <a:off x="836849" y="1783080"/>
            <a:ext cx="10517997" cy="3703320"/>
          </a:xfrm>
          <a:prstGeom prst="rect">
            <a:avLst/>
          </a:prstGeom>
        </p:spPr>
      </p:pic>
      <p:sp>
        <p:nvSpPr>
          <p:cNvPr id="6" name="Text 2"/>
          <p:cNvSpPr txBox="1"/>
          <p:nvPr/>
        </p:nvSpPr>
        <p:spPr>
          <a:xfrm>
            <a:off x="813816" y="5577840"/>
            <a:ext cx="10564063" cy="457200"/>
          </a:xfrm>
          <a:prstGeom prst="rect">
            <a:avLst/>
          </a:prstGeom>
          <a:noFill/>
          <a:ln/>
        </p:spPr>
        <p:txBody>
          <a:bodyPr wrap="square" lIns="0" tIns="0" rIns="0" bIns="0" rtlCol="0" anchor="t"/>
          <a:lstStyle/>
          <a:p>
            <a:pPr marL="0" indent="0">
              <a:buNone/>
            </a:pPr>
            <a:r>
              <a:rPr lang="en-US" sz="1400" dirty="0">
                <a:solidFill>
                  <a:schemeClr val="accent5"/>
                </a:solidFill>
              </a:rPr>
              <a:t>Between 2 h and 10 h it goes from 4% to 86% at difficulty 0.5. From 30 h on it stays above 90% on all but the hardest levels.</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EVALUATION</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Every ghost at every difficulty</a:t>
            </a:r>
            <a:endParaRPr lang="en-US" sz="3400" dirty="0"/>
          </a:p>
        </p:txBody>
      </p:sp>
      <p:pic>
        <p:nvPicPr>
          <p:cNvPr id="5" name="Image 0" descr="Heatmap of levels completed: rows are ghosts from 0 minutes to 300 hours, columns are difficulties 0.25 to 1.0"/>
          <p:cNvPicPr>
            <a:picLocks noChangeAspect="1"/>
          </p:cNvPicPr>
          <p:nvPr/>
        </p:nvPicPr>
        <p:blipFill>
          <a:blip r:embed="rId3"/>
          <a:stretch>
            <a:fillRect/>
          </a:stretch>
        </p:blipFill>
        <p:spPr>
          <a:xfrm>
            <a:off x="813816" y="1783080"/>
            <a:ext cx="4441635" cy="4206240"/>
          </a:xfrm>
          <a:prstGeom prst="rect">
            <a:avLst/>
          </a:prstGeom>
        </p:spPr>
      </p:pic>
      <p:sp>
        <p:nvSpPr>
          <p:cNvPr id="6" name="Text 2"/>
          <p:cNvSpPr txBox="1"/>
          <p:nvPr/>
        </p:nvSpPr>
        <p:spPr>
          <a:xfrm>
            <a:off x="5760720" y="2057400"/>
            <a:ext cx="5617159" cy="264160"/>
          </a:xfrm>
          <a:prstGeom prst="rect">
            <a:avLst/>
          </a:prstGeom>
          <a:noFill/>
          <a:ln/>
        </p:spPr>
        <p:txBody>
          <a:bodyPr wrap="square" lIns="0" tIns="0" rIns="0" bIns="0" rtlCol="0" anchor="t"/>
          <a:lstStyle/>
          <a:p>
            <a:pPr marL="0" indent="0">
              <a:buNone/>
            </a:pPr>
            <a:r>
              <a:rPr lang="en-US" sz="1600" b="1" dirty="0">
                <a:solidFill>
                  <a:schemeClr val="tx1"/>
                </a:solidFill>
              </a:rPr>
              <a:t>Read across: harder levels need more practice</a:t>
            </a:r>
            <a:endParaRPr lang="en-US" sz="1600" dirty="0"/>
          </a:p>
        </p:txBody>
      </p:sp>
      <p:sp>
        <p:nvSpPr>
          <p:cNvPr id="7" name="Text 3"/>
          <p:cNvSpPr txBox="1"/>
          <p:nvPr/>
        </p:nvSpPr>
        <p:spPr>
          <a:xfrm>
            <a:off x="5760720" y="2358136"/>
            <a:ext cx="5617159" cy="292608"/>
          </a:xfrm>
          <a:prstGeom prst="rect">
            <a:avLst/>
          </a:prstGeom>
          <a:noFill/>
          <a:ln/>
        </p:spPr>
        <p:txBody>
          <a:bodyPr wrap="square" lIns="0" tIns="0" rIns="0" bIns="0" rtlCol="0" anchor="t"/>
          <a:lstStyle/>
          <a:p>
            <a:pPr marL="0" indent="0">
              <a:buNone/>
            </a:pPr>
            <a:r>
              <a:rPr lang="en-US" sz="1400" dirty="0">
                <a:solidFill>
                  <a:schemeClr val="accent5"/>
                </a:solidFill>
              </a:rPr>
              <a:t>At 10 h it finishes 98% of easy levels but only 52% of the hardest.</a:t>
            </a:r>
            <a:endParaRPr lang="en-US" sz="1400" dirty="0"/>
          </a:p>
        </p:txBody>
      </p:sp>
      <p:sp>
        <p:nvSpPr>
          <p:cNvPr id="8" name="Text 4"/>
          <p:cNvSpPr txBox="1"/>
          <p:nvPr/>
        </p:nvSpPr>
        <p:spPr>
          <a:xfrm>
            <a:off x="5760720" y="3034792"/>
            <a:ext cx="5617159" cy="264160"/>
          </a:xfrm>
          <a:prstGeom prst="rect">
            <a:avLst/>
          </a:prstGeom>
          <a:noFill/>
          <a:ln/>
        </p:spPr>
        <p:txBody>
          <a:bodyPr wrap="square" lIns="0" tIns="0" rIns="0" bIns="0" rtlCol="0" anchor="t"/>
          <a:lstStyle/>
          <a:p>
            <a:pPr marL="0" indent="0">
              <a:buNone/>
            </a:pPr>
            <a:r>
              <a:rPr lang="en-US" sz="1600" b="1" dirty="0">
                <a:solidFill>
                  <a:schemeClr val="tx1"/>
                </a:solidFill>
              </a:rPr>
              <a:t>Read down: fast, then flat</a:t>
            </a:r>
            <a:endParaRPr lang="en-US" sz="1600" dirty="0"/>
          </a:p>
        </p:txBody>
      </p:sp>
      <p:sp>
        <p:nvSpPr>
          <p:cNvPr id="9" name="Text 5"/>
          <p:cNvSpPr txBox="1"/>
          <p:nvPr/>
        </p:nvSpPr>
        <p:spPr>
          <a:xfrm>
            <a:off x="5760720" y="3335528"/>
            <a:ext cx="5617159" cy="585216"/>
          </a:xfrm>
          <a:prstGeom prst="rect">
            <a:avLst/>
          </a:prstGeom>
          <a:noFill/>
          <a:ln/>
        </p:spPr>
        <p:txBody>
          <a:bodyPr wrap="square" lIns="0" tIns="0" rIns="0" bIns="0" rtlCol="0" anchor="t"/>
          <a:lstStyle/>
          <a:p>
            <a:pPr marL="0" indent="0">
              <a:buNone/>
            </a:pPr>
            <a:r>
              <a:rPr lang="en-US" sz="1400" dirty="0">
                <a:solidFill>
                  <a:schemeClr val="accent5"/>
                </a:solidFill>
              </a:rPr>
              <a:t>From 30 h to 300 h, ten times more training, the hardest setting goes from 80% to 85%.</a:t>
            </a:r>
            <a:endParaRPr lang="en-US" sz="1400" dirty="0"/>
          </a:p>
        </p:txBody>
      </p:sp>
      <p:sp>
        <p:nvSpPr>
          <p:cNvPr id="10" name="Text 6"/>
          <p:cNvSpPr txBox="1"/>
          <p:nvPr/>
        </p:nvSpPr>
        <p:spPr>
          <a:xfrm>
            <a:off x="5760720" y="4304792"/>
            <a:ext cx="5617159" cy="264160"/>
          </a:xfrm>
          <a:prstGeom prst="rect">
            <a:avLst/>
          </a:prstGeom>
          <a:noFill/>
          <a:ln/>
        </p:spPr>
        <p:txBody>
          <a:bodyPr wrap="square" lIns="0" tIns="0" rIns="0" bIns="0" rtlCol="0" anchor="t"/>
          <a:lstStyle/>
          <a:p>
            <a:pPr marL="0" indent="0">
              <a:buNone/>
            </a:pPr>
            <a:r>
              <a:rPr lang="en-US" sz="1600" b="1" dirty="0">
                <a:solidFill>
                  <a:schemeClr val="tx1"/>
                </a:solidFill>
              </a:rPr>
              <a:t>The top rows make the demo fun</a:t>
            </a:r>
            <a:endParaRPr lang="en-US" sz="1600" dirty="0"/>
          </a:p>
        </p:txBody>
      </p:sp>
      <p:sp>
        <p:nvSpPr>
          <p:cNvPr id="11" name="Text 7"/>
          <p:cNvSpPr txBox="1"/>
          <p:nvPr/>
        </p:nvSpPr>
        <p:spPr>
          <a:xfrm>
            <a:off x="5760720" y="4605528"/>
            <a:ext cx="5617159" cy="585216"/>
          </a:xfrm>
          <a:prstGeom prst="rect">
            <a:avLst/>
          </a:prstGeom>
          <a:noFill/>
          <a:ln/>
        </p:spPr>
        <p:txBody>
          <a:bodyPr wrap="square" lIns="0" tIns="0" rIns="0" bIns="0" rtlCol="0" anchor="t"/>
          <a:lstStyle/>
          <a:p>
            <a:pPr marL="0" indent="0">
              <a:buNone/>
            </a:pPr>
            <a:r>
              <a:rPr lang="en-US" sz="1400" dirty="0">
                <a:solidFill>
                  <a:schemeClr val="accent5"/>
                </a:solidFill>
              </a:rPr>
              <a:t>Ghosts from 0 min to 2 h almost never finish a medium level: a human beats them easily.</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GHOSTS</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One unseen level, five stages of training</a:t>
            </a:r>
            <a:endParaRPr lang="en-US" sz="3400" dirty="0"/>
          </a:p>
        </p:txBody>
      </p:sp>
      <p:pic>
        <p:nvPicPr>
          <p:cNvPr id="5" name="Image 0" descr="Paths of five ghosts through one never-seen level: 0 min stops at the start, 30 min and 5 h fall into pits, 50 h and 300 h reach the flag"/>
          <p:cNvPicPr>
            <a:picLocks noChangeAspect="1"/>
          </p:cNvPicPr>
          <p:nvPr/>
        </p:nvPicPr>
        <p:blipFill>
          <a:blip r:embed="rId3"/>
          <a:stretch>
            <a:fillRect/>
          </a:stretch>
        </p:blipFill>
        <p:spPr>
          <a:xfrm>
            <a:off x="813816" y="1737360"/>
            <a:ext cx="10564063" cy="1891680"/>
          </a:xfrm>
          <a:prstGeom prst="rect">
            <a:avLst/>
          </a:prstGeom>
        </p:spPr>
      </p:pic>
      <p:sp>
        <p:nvSpPr>
          <p:cNvPr id="6" name="Shape 2"/>
          <p:cNvSpPr/>
          <p:nvPr/>
        </p:nvSpPr>
        <p:spPr>
          <a:xfrm>
            <a:off x="813816" y="3886200"/>
            <a:ext cx="1966509" cy="1188720"/>
          </a:xfrm>
          <a:prstGeom prst="roundRect">
            <a:avLst>
              <a:gd name="adj" fmla="val 9231"/>
            </a:avLst>
          </a:prstGeom>
          <a:solidFill>
            <a:schemeClr val="bg2"/>
          </a:solidFill>
          <a:ln/>
        </p:spPr>
      </p:sp>
      <p:sp>
        <p:nvSpPr>
          <p:cNvPr id="7" name="Text 3"/>
          <p:cNvSpPr txBox="1"/>
          <p:nvPr/>
        </p:nvSpPr>
        <p:spPr>
          <a:xfrm>
            <a:off x="1014984" y="4023360"/>
            <a:ext cx="1564173" cy="274320"/>
          </a:xfrm>
          <a:prstGeom prst="rect">
            <a:avLst/>
          </a:prstGeom>
          <a:noFill/>
          <a:ln/>
        </p:spPr>
        <p:txBody>
          <a:bodyPr wrap="square" lIns="0" tIns="0" rIns="0" bIns="0" rtlCol="0" anchor="t"/>
          <a:lstStyle/>
          <a:p>
            <a:pPr marL="0" indent="0">
              <a:buNone/>
            </a:pPr>
            <a:r>
              <a:rPr lang="en-US" sz="1200" b="1" dirty="0">
                <a:solidFill>
                  <a:schemeClr val="accent1"/>
                </a:solidFill>
              </a:rPr>
              <a:t>0 min</a:t>
            </a:r>
            <a:endParaRPr lang="en-US" sz="1200" dirty="0"/>
          </a:p>
        </p:txBody>
      </p:sp>
      <p:sp>
        <p:nvSpPr>
          <p:cNvPr id="8" name="Text 4"/>
          <p:cNvSpPr txBox="1"/>
          <p:nvPr/>
        </p:nvSpPr>
        <p:spPr>
          <a:xfrm>
            <a:off x="1014984" y="4315968"/>
            <a:ext cx="1564173" cy="685800"/>
          </a:xfrm>
          <a:prstGeom prst="rect">
            <a:avLst/>
          </a:prstGeom>
          <a:noFill/>
          <a:ln/>
        </p:spPr>
        <p:txBody>
          <a:bodyPr wrap="square" lIns="0" tIns="0" rIns="0" bIns="0" rtlCol="0" anchor="t"/>
          <a:lstStyle/>
          <a:p>
            <a:pPr marL="0" indent="0">
              <a:buNone/>
            </a:pPr>
            <a:r>
              <a:rPr lang="en-US" sz="1400" dirty="0">
                <a:solidFill>
                  <a:schemeClr val="tx1"/>
                </a:solidFill>
              </a:rPr>
              <a:t>Barely moves: 0%</a:t>
            </a:r>
            <a:endParaRPr lang="en-US" sz="1400" dirty="0"/>
          </a:p>
        </p:txBody>
      </p:sp>
      <p:sp>
        <p:nvSpPr>
          <p:cNvPr id="9" name="Shape 5"/>
          <p:cNvSpPr/>
          <p:nvPr/>
        </p:nvSpPr>
        <p:spPr>
          <a:xfrm>
            <a:off x="2963205" y="3886200"/>
            <a:ext cx="1966509" cy="1188720"/>
          </a:xfrm>
          <a:prstGeom prst="roundRect">
            <a:avLst>
              <a:gd name="adj" fmla="val 9231"/>
            </a:avLst>
          </a:prstGeom>
          <a:solidFill>
            <a:schemeClr val="bg2"/>
          </a:solidFill>
          <a:ln/>
        </p:spPr>
      </p:sp>
      <p:sp>
        <p:nvSpPr>
          <p:cNvPr id="10" name="Text 6"/>
          <p:cNvSpPr txBox="1"/>
          <p:nvPr/>
        </p:nvSpPr>
        <p:spPr>
          <a:xfrm>
            <a:off x="3164373" y="4023360"/>
            <a:ext cx="1564173" cy="274320"/>
          </a:xfrm>
          <a:prstGeom prst="rect">
            <a:avLst/>
          </a:prstGeom>
          <a:noFill/>
          <a:ln/>
        </p:spPr>
        <p:txBody>
          <a:bodyPr wrap="square" lIns="0" tIns="0" rIns="0" bIns="0" rtlCol="0" anchor="t"/>
          <a:lstStyle/>
          <a:p>
            <a:pPr marL="0" indent="0">
              <a:buNone/>
            </a:pPr>
            <a:r>
              <a:rPr lang="en-US" sz="1200" b="1" dirty="0">
                <a:solidFill>
                  <a:schemeClr val="accent1"/>
                </a:solidFill>
              </a:rPr>
              <a:t>30 min</a:t>
            </a:r>
            <a:endParaRPr lang="en-US" sz="1200" dirty="0"/>
          </a:p>
        </p:txBody>
      </p:sp>
      <p:sp>
        <p:nvSpPr>
          <p:cNvPr id="11" name="Text 7"/>
          <p:cNvSpPr txBox="1"/>
          <p:nvPr/>
        </p:nvSpPr>
        <p:spPr>
          <a:xfrm>
            <a:off x="3164373" y="4315968"/>
            <a:ext cx="1564173" cy="685800"/>
          </a:xfrm>
          <a:prstGeom prst="rect">
            <a:avLst/>
          </a:prstGeom>
          <a:noFill/>
          <a:ln/>
        </p:spPr>
        <p:txBody>
          <a:bodyPr wrap="square" lIns="0" tIns="0" rIns="0" bIns="0" rtlCol="0" anchor="t"/>
          <a:lstStyle/>
          <a:p>
            <a:pPr marL="0" indent="0">
              <a:buNone/>
            </a:pPr>
            <a:r>
              <a:rPr lang="en-US" sz="1400" dirty="0">
                <a:solidFill>
                  <a:schemeClr val="tx1"/>
                </a:solidFill>
              </a:rPr>
              <a:t>Falls into the first pit at 16%</a:t>
            </a:r>
            <a:endParaRPr lang="en-US" sz="1400" dirty="0"/>
          </a:p>
        </p:txBody>
      </p:sp>
      <p:sp>
        <p:nvSpPr>
          <p:cNvPr id="12" name="Shape 8"/>
          <p:cNvSpPr/>
          <p:nvPr/>
        </p:nvSpPr>
        <p:spPr>
          <a:xfrm>
            <a:off x="5112593" y="3886200"/>
            <a:ext cx="1966509" cy="1188720"/>
          </a:xfrm>
          <a:prstGeom prst="roundRect">
            <a:avLst>
              <a:gd name="adj" fmla="val 9231"/>
            </a:avLst>
          </a:prstGeom>
          <a:solidFill>
            <a:schemeClr val="bg2"/>
          </a:solidFill>
          <a:ln/>
        </p:spPr>
      </p:sp>
      <p:sp>
        <p:nvSpPr>
          <p:cNvPr id="13" name="Text 9"/>
          <p:cNvSpPr txBox="1"/>
          <p:nvPr/>
        </p:nvSpPr>
        <p:spPr>
          <a:xfrm>
            <a:off x="5313761" y="4023360"/>
            <a:ext cx="1564173" cy="274320"/>
          </a:xfrm>
          <a:prstGeom prst="rect">
            <a:avLst/>
          </a:prstGeom>
          <a:noFill/>
          <a:ln/>
        </p:spPr>
        <p:txBody>
          <a:bodyPr wrap="square" lIns="0" tIns="0" rIns="0" bIns="0" rtlCol="0" anchor="t"/>
          <a:lstStyle/>
          <a:p>
            <a:pPr marL="0" indent="0">
              <a:buNone/>
            </a:pPr>
            <a:r>
              <a:rPr lang="en-US" sz="1200" b="1" dirty="0">
                <a:solidFill>
                  <a:schemeClr val="accent1"/>
                </a:solidFill>
              </a:rPr>
              <a:t>5 h</a:t>
            </a:r>
            <a:endParaRPr lang="en-US" sz="1200" dirty="0"/>
          </a:p>
        </p:txBody>
      </p:sp>
      <p:sp>
        <p:nvSpPr>
          <p:cNvPr id="14" name="Text 10"/>
          <p:cNvSpPr txBox="1"/>
          <p:nvPr/>
        </p:nvSpPr>
        <p:spPr>
          <a:xfrm>
            <a:off x="5313761" y="4315968"/>
            <a:ext cx="1564173" cy="685800"/>
          </a:xfrm>
          <a:prstGeom prst="rect">
            <a:avLst/>
          </a:prstGeom>
          <a:noFill/>
          <a:ln/>
        </p:spPr>
        <p:txBody>
          <a:bodyPr wrap="square" lIns="0" tIns="0" rIns="0" bIns="0" rtlCol="0" anchor="t"/>
          <a:lstStyle/>
          <a:p>
            <a:pPr marL="0" indent="0">
              <a:buNone/>
            </a:pPr>
            <a:r>
              <a:rPr lang="en-US" sz="1400" dirty="0">
                <a:solidFill>
                  <a:schemeClr val="tx1"/>
                </a:solidFill>
              </a:rPr>
              <a:t>Falls into a later pit at 58%</a:t>
            </a:r>
            <a:endParaRPr lang="en-US" sz="1400" dirty="0"/>
          </a:p>
        </p:txBody>
      </p:sp>
      <p:sp>
        <p:nvSpPr>
          <p:cNvPr id="15" name="Shape 11"/>
          <p:cNvSpPr/>
          <p:nvPr/>
        </p:nvSpPr>
        <p:spPr>
          <a:xfrm>
            <a:off x="7261982" y="3886200"/>
            <a:ext cx="1966509" cy="1188720"/>
          </a:xfrm>
          <a:prstGeom prst="roundRect">
            <a:avLst>
              <a:gd name="adj" fmla="val 9231"/>
            </a:avLst>
          </a:prstGeom>
          <a:solidFill>
            <a:schemeClr val="bg2"/>
          </a:solidFill>
          <a:ln/>
        </p:spPr>
      </p:sp>
      <p:sp>
        <p:nvSpPr>
          <p:cNvPr id="16" name="Text 12"/>
          <p:cNvSpPr txBox="1"/>
          <p:nvPr/>
        </p:nvSpPr>
        <p:spPr>
          <a:xfrm>
            <a:off x="7463150" y="4023360"/>
            <a:ext cx="1564173" cy="274320"/>
          </a:xfrm>
          <a:prstGeom prst="rect">
            <a:avLst/>
          </a:prstGeom>
          <a:noFill/>
          <a:ln/>
        </p:spPr>
        <p:txBody>
          <a:bodyPr wrap="square" lIns="0" tIns="0" rIns="0" bIns="0" rtlCol="0" anchor="t"/>
          <a:lstStyle/>
          <a:p>
            <a:pPr marL="0" indent="0">
              <a:buNone/>
            </a:pPr>
            <a:r>
              <a:rPr lang="en-US" sz="1200" b="1" dirty="0">
                <a:solidFill>
                  <a:schemeClr val="accent1"/>
                </a:solidFill>
              </a:rPr>
              <a:t>50 h</a:t>
            </a:r>
            <a:endParaRPr lang="en-US" sz="1200" dirty="0"/>
          </a:p>
        </p:txBody>
      </p:sp>
      <p:sp>
        <p:nvSpPr>
          <p:cNvPr id="17" name="Text 13"/>
          <p:cNvSpPr txBox="1"/>
          <p:nvPr/>
        </p:nvSpPr>
        <p:spPr>
          <a:xfrm>
            <a:off x="7463150" y="4315968"/>
            <a:ext cx="1564173" cy="685800"/>
          </a:xfrm>
          <a:prstGeom prst="rect">
            <a:avLst/>
          </a:prstGeom>
          <a:noFill/>
          <a:ln/>
        </p:spPr>
        <p:txBody>
          <a:bodyPr wrap="square" lIns="0" tIns="0" rIns="0" bIns="0" rtlCol="0" anchor="t"/>
          <a:lstStyle/>
          <a:p>
            <a:pPr marL="0" indent="0">
              <a:buNone/>
            </a:pPr>
            <a:r>
              <a:rPr lang="en-US" sz="1400" dirty="0">
                <a:solidFill>
                  <a:schemeClr val="tx1"/>
                </a:solidFill>
              </a:rPr>
              <a:t>Finishes in 17.5 s</a:t>
            </a:r>
            <a:endParaRPr lang="en-US" sz="1400" dirty="0"/>
          </a:p>
        </p:txBody>
      </p:sp>
      <p:sp>
        <p:nvSpPr>
          <p:cNvPr id="18" name="Shape 14"/>
          <p:cNvSpPr/>
          <p:nvPr/>
        </p:nvSpPr>
        <p:spPr>
          <a:xfrm>
            <a:off x="9411371" y="3886200"/>
            <a:ext cx="1966509" cy="1188720"/>
          </a:xfrm>
          <a:prstGeom prst="roundRect">
            <a:avLst>
              <a:gd name="adj" fmla="val 9231"/>
            </a:avLst>
          </a:prstGeom>
          <a:solidFill>
            <a:schemeClr val="bg2"/>
          </a:solidFill>
          <a:ln/>
        </p:spPr>
      </p:sp>
      <p:sp>
        <p:nvSpPr>
          <p:cNvPr id="19" name="Text 15"/>
          <p:cNvSpPr txBox="1"/>
          <p:nvPr/>
        </p:nvSpPr>
        <p:spPr>
          <a:xfrm>
            <a:off x="9612539" y="4023360"/>
            <a:ext cx="1564173" cy="274320"/>
          </a:xfrm>
          <a:prstGeom prst="rect">
            <a:avLst/>
          </a:prstGeom>
          <a:noFill/>
          <a:ln/>
        </p:spPr>
        <p:txBody>
          <a:bodyPr wrap="square" lIns="0" tIns="0" rIns="0" bIns="0" rtlCol="0" anchor="t"/>
          <a:lstStyle/>
          <a:p>
            <a:pPr marL="0" indent="0">
              <a:buNone/>
            </a:pPr>
            <a:r>
              <a:rPr lang="en-US" sz="1200" b="1" dirty="0">
                <a:solidFill>
                  <a:schemeClr val="accent1"/>
                </a:solidFill>
              </a:rPr>
              <a:t>300 h</a:t>
            </a:r>
            <a:endParaRPr lang="en-US" sz="1200" dirty="0"/>
          </a:p>
        </p:txBody>
      </p:sp>
      <p:sp>
        <p:nvSpPr>
          <p:cNvPr id="20" name="Text 16"/>
          <p:cNvSpPr txBox="1"/>
          <p:nvPr/>
        </p:nvSpPr>
        <p:spPr>
          <a:xfrm>
            <a:off x="9612539" y="4315968"/>
            <a:ext cx="1564173" cy="685800"/>
          </a:xfrm>
          <a:prstGeom prst="rect">
            <a:avLst/>
          </a:prstGeom>
          <a:noFill/>
          <a:ln/>
        </p:spPr>
        <p:txBody>
          <a:bodyPr wrap="square" lIns="0" tIns="0" rIns="0" bIns="0" rtlCol="0" anchor="t"/>
          <a:lstStyle/>
          <a:p>
            <a:pPr marL="0" indent="0">
              <a:buNone/>
            </a:pPr>
            <a:r>
              <a:rPr lang="en-US" sz="1400" dirty="0">
                <a:solidFill>
                  <a:schemeClr val="tx1"/>
                </a:solidFill>
              </a:rPr>
              <a:t>Finishes in 17.6 s</a:t>
            </a:r>
            <a:endParaRPr lang="en-US" sz="1400" dirty="0"/>
          </a:p>
        </p:txBody>
      </p:sp>
      <p:sp>
        <p:nvSpPr>
          <p:cNvPr id="21" name="Text 17"/>
          <p:cNvSpPr txBox="1"/>
          <p:nvPr/>
        </p:nvSpPr>
        <p:spPr>
          <a:xfrm>
            <a:off x="813816" y="5349240"/>
            <a:ext cx="10564063" cy="411480"/>
          </a:xfrm>
          <a:prstGeom prst="rect">
            <a:avLst/>
          </a:prstGeom>
          <a:noFill/>
          <a:ln/>
        </p:spPr>
        <p:txBody>
          <a:bodyPr wrap="square" lIns="0" tIns="0" rIns="0" bIns="0" rtlCol="0" anchor="t"/>
          <a:lstStyle/>
          <a:p>
            <a:pPr marL="0" indent="0">
              <a:buNone/>
            </a:pPr>
            <a:r>
              <a:rPr lang="en-US" sz="1400" dirty="0">
                <a:solidFill>
                  <a:schemeClr val="accent5"/>
                </a:solidFill>
              </a:rPr>
              <a:t>Training buys survival, not speed: every ghost that finishes takes about 17 s.</a:t>
            </a:r>
            <a:endParaRPr lang="en-US" sz="14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813816" y="1737360"/>
            <a:ext cx="10564063" cy="320040"/>
          </a:xfrm>
          <a:prstGeom prst="rect">
            <a:avLst/>
          </a:prstGeom>
          <a:noFill/>
          <a:ln/>
        </p:spPr>
        <p:txBody>
          <a:bodyPr wrap="square" lIns="0" tIns="0" rIns="0" bIns="0" rtlCol="0"/>
          <a:lstStyle/>
          <a:p>
            <a:pPr marL="0" indent="0">
              <a:buNone/>
            </a:pPr>
            <a:r>
              <a:rPr lang="en-US" sz="1200" b="1" kern="0" spc="200" dirty="0">
                <a:solidFill>
                  <a:schemeClr val="tx2"/>
                </a:solidFill>
              </a:rPr>
              <a:t>GENERALISATION EXPERIMENT</a:t>
            </a:r>
            <a:endParaRPr lang="en-US" sz="1200" dirty="0"/>
          </a:p>
        </p:txBody>
      </p:sp>
      <p:sp>
        <p:nvSpPr>
          <p:cNvPr id="4" name="Text 0"/>
          <p:cNvSpPr>
            <a:spLocks noGrp="1"/>
          </p:cNvSpPr>
          <p:nvPr>
            <p:ph type="title" idx="101" hasCustomPrompt="1"/>
          </p:nvPr>
        </p:nvSpPr>
        <p:spPr>
          <a:xfrm>
            <a:off x="813816" y="2148840"/>
            <a:ext cx="10058400" cy="2011680"/>
          </a:xfrm>
          <a:prstGeom prst="rect">
            <a:avLst/>
          </a:prstGeom>
          <a:noFill/>
          <a:ln/>
        </p:spPr>
        <p:txBody>
          <a:bodyPr wrap="square" lIns="0" tIns="0" rIns="0" bIns="0" rtlCol="0" anchor="t"/>
          <a:lstStyle/>
          <a:p>
            <a:pPr marL="0" indent="0" algn="l">
              <a:buNone/>
            </a:pPr>
            <a:r>
              <a:rPr lang="en-US" sz="4400" dirty="0">
                <a:solidFill>
                  <a:schemeClr val="tx2"/>
                </a:solidFill>
              </a:rPr>
              <a:t>Trained on 10 levels: 100% on those, 60% on new ones</a:t>
            </a:r>
            <a:endParaRPr lang="en-US" sz="4400" dirty="0"/>
          </a:p>
        </p:txBody>
      </p:sp>
      <p:sp>
        <p:nvSpPr>
          <p:cNvPr id="5" name="Text 2"/>
          <p:cNvSpPr txBox="1"/>
          <p:nvPr/>
        </p:nvSpPr>
        <p:spPr>
          <a:xfrm>
            <a:off x="813816" y="4343400"/>
            <a:ext cx="9601200" cy="822960"/>
          </a:xfrm>
          <a:prstGeom prst="rect">
            <a:avLst/>
          </a:prstGeom>
          <a:noFill/>
          <a:ln/>
        </p:spPr>
        <p:txBody>
          <a:bodyPr wrap="square" lIns="0" tIns="0" rIns="0" bIns="0" rtlCol="0" anchor="t"/>
          <a:lstStyle/>
          <a:p>
            <a:pPr marL="0" indent="0">
              <a:buNone/>
            </a:pPr>
            <a:r>
              <a:rPr lang="en-US" sz="1600" dirty="0">
                <a:solidFill>
                  <a:schemeClr val="tx2"/>
                </a:solidFill>
              </a:rPr>
              <a:t>Same agent, same 100 simulated hours, same difficulty (0.5). The only change is how many different levels it practised on: 10, 100, 1,000 or unlimited.</a:t>
            </a:r>
            <a:endParaRPr lang="en-US" sz="16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0F1A2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GENERALISATION</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More levels close the gap</a:t>
            </a:r>
            <a:endParaRPr lang="en-US" sz="3400" dirty="0"/>
          </a:p>
        </p:txBody>
      </p:sp>
      <p:pic>
        <p:nvPicPr>
          <p:cNvPr id="5" name="Image 0" descr="Bar chart of completion on training levels versus never-seen levels for 10, 100, 1,000 and unlimited training levels"/>
          <p:cNvPicPr>
            <a:picLocks noChangeAspect="1"/>
          </p:cNvPicPr>
          <p:nvPr/>
        </p:nvPicPr>
        <p:blipFill>
          <a:blip r:embed="rId3"/>
          <a:stretch>
            <a:fillRect/>
          </a:stretch>
        </p:blipFill>
        <p:spPr>
          <a:xfrm>
            <a:off x="813816" y="1990609"/>
            <a:ext cx="7040880" cy="3687417"/>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83880" y="2148840"/>
          <a:ext cx="3193999" cy="914400"/>
        </p:xfrm>
        <a:graphic>
          <a:graphicData uri="http://schemas.openxmlformats.org/drawingml/2006/table">
            <a:tbl>
              <a:tblPr/>
              <a:tblGrid>
                <a:gridCol w="137160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tblGrid>
              <a:tr h="420624">
                <a:tc>
                  <a:txBody>
                    <a:bodyPr/>
                    <a:lstStyle/>
                    <a:p>
                      <a:pPr marL="0" indent="0" algn="l">
                        <a:buNone/>
                      </a:pPr>
                      <a:r>
                        <a:rPr lang="en-US" sz="1400" b="1" dirty="0">
                          <a:solidFill>
                            <a:schemeClr val="tx1"/>
                          </a:solidFill>
                          <a:latin typeface="Segoe UI" pitchFamily="34" charset="0"/>
                          <a:ea typeface="Segoe UI" pitchFamily="34" charset="-122"/>
                          <a:cs typeface="Segoe UI" pitchFamily="34" charset="-120"/>
                        </a:rPr>
                        <a:t>Levels</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b="1" dirty="0">
                          <a:solidFill>
                            <a:schemeClr val="tx1"/>
                          </a:solidFill>
                          <a:latin typeface="Segoe UI" pitchFamily="34" charset="0"/>
                          <a:ea typeface="Segoe UI" pitchFamily="34" charset="-122"/>
                          <a:cs typeface="Segoe UI" pitchFamily="34" charset="-120"/>
                        </a:rPr>
                        <a:t>Own</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b="1" dirty="0">
                          <a:solidFill>
                            <a:schemeClr val="tx1"/>
                          </a:solidFill>
                          <a:latin typeface="Segoe UI" pitchFamily="34" charset="0"/>
                          <a:ea typeface="Segoe UI" pitchFamily="34" charset="-122"/>
                          <a:cs typeface="Segoe UI" pitchFamily="34" charset="-120"/>
                        </a:rPr>
                        <a:t>New</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0"/>
                  </a:ext>
                </a:extLst>
              </a:tr>
              <a:tr h="420624">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100%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60%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1"/>
                  </a:ext>
                </a:extLst>
              </a:tr>
              <a:tr h="420624">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100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91%</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2"/>
                  </a:ext>
                </a:extLst>
              </a:tr>
              <a:tr h="420624">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1,000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96%</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3"/>
                  </a:ext>
                </a:extLst>
              </a:tr>
              <a:tr h="420624">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unlimited</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95%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Text 2"/>
          <p:cNvSpPr txBox="1"/>
          <p:nvPr/>
        </p:nvSpPr>
        <p:spPr>
          <a:xfrm>
            <a:off x="8183880" y="4480560"/>
            <a:ext cx="3193999" cy="822960"/>
          </a:xfrm>
          <a:prstGeom prst="rect">
            <a:avLst/>
          </a:prstGeom>
          <a:noFill/>
          <a:ln/>
        </p:spPr>
        <p:txBody>
          <a:bodyPr wrap="square" lIns="0" tIns="0" rIns="0" bIns="0" rtlCol="0" anchor="t"/>
          <a:lstStyle/>
          <a:p>
            <a:pPr marL="0" indent="0">
              <a:buNone/>
            </a:pPr>
            <a:r>
              <a:rPr lang="en-US" sz="1250" dirty="0">
                <a:solidFill>
                  <a:schemeClr val="accent5"/>
                </a:solidFill>
              </a:rPr>
              <a:t>By 1,000 levels the gap is gone: the agent plays the game instead of replaying levels.</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GENERALISATION</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Memorising gets worse with time</a:t>
            </a:r>
            <a:endParaRPr lang="en-US" sz="3400" dirty="0"/>
          </a:p>
        </p:txBody>
      </p:sp>
      <p:pic>
        <p:nvPicPr>
          <p:cNvPr id="5" name="Image 0" descr="Completion on never-seen levels over training time for the four runs: the 10-level run peaks at 5 hours then declines to 60%"/>
          <p:cNvPicPr>
            <a:picLocks noChangeAspect="1"/>
          </p:cNvPicPr>
          <p:nvPr/>
        </p:nvPicPr>
        <p:blipFill>
          <a:blip r:embed="rId3"/>
          <a:stretch>
            <a:fillRect/>
          </a:stretch>
        </p:blipFill>
        <p:spPr>
          <a:xfrm>
            <a:off x="813816" y="2217733"/>
            <a:ext cx="7498080" cy="3119608"/>
          </a:xfrm>
          <a:prstGeom prst="rect">
            <a:avLst/>
          </a:prstGeom>
        </p:spPr>
      </p:pic>
      <p:sp>
        <p:nvSpPr>
          <p:cNvPr id="6" name="Text 2"/>
          <p:cNvSpPr txBox="1"/>
          <p:nvPr/>
        </p:nvSpPr>
        <p:spPr>
          <a:xfrm>
            <a:off x="8595360" y="2103120"/>
            <a:ext cx="2782519" cy="247650"/>
          </a:xfrm>
          <a:prstGeom prst="rect">
            <a:avLst/>
          </a:prstGeom>
          <a:noFill/>
          <a:ln/>
        </p:spPr>
        <p:txBody>
          <a:bodyPr wrap="square" lIns="0" tIns="0" rIns="0" bIns="0" rtlCol="0" anchor="t"/>
          <a:lstStyle/>
          <a:p>
            <a:pPr marL="0" indent="0">
              <a:buNone/>
            </a:pPr>
            <a:r>
              <a:rPr lang="en-US" sz="1500" b="1" dirty="0">
                <a:solidFill>
                  <a:schemeClr val="tx1"/>
                </a:solidFill>
              </a:rPr>
              <a:t>10 levels: up, then down</a:t>
            </a:r>
            <a:endParaRPr lang="en-US" sz="1500" dirty="0"/>
          </a:p>
        </p:txBody>
      </p:sp>
      <p:sp>
        <p:nvSpPr>
          <p:cNvPr id="7" name="Text 3"/>
          <p:cNvSpPr txBox="1"/>
          <p:nvPr/>
        </p:nvSpPr>
        <p:spPr>
          <a:xfrm>
            <a:off x="8595360" y="2387346"/>
            <a:ext cx="2782519" cy="740664"/>
          </a:xfrm>
          <a:prstGeom prst="rect">
            <a:avLst/>
          </a:prstGeom>
          <a:noFill/>
          <a:ln/>
        </p:spPr>
        <p:txBody>
          <a:bodyPr wrap="square" lIns="0" tIns="0" rIns="0" bIns="0" rtlCol="0" anchor="t"/>
          <a:lstStyle/>
          <a:p>
            <a:pPr marL="0" indent="0">
              <a:buNone/>
            </a:pPr>
            <a:r>
              <a:rPr lang="en-US" sz="1250" dirty="0">
                <a:solidFill>
                  <a:schemeClr val="accent5"/>
                </a:solidFill>
              </a:rPr>
              <a:t>83% on new levels at 5 h, 60% at 100 h. The longer it trains, the more it overfits.</a:t>
            </a:r>
            <a:endParaRPr lang="en-US" sz="1250" dirty="0"/>
          </a:p>
        </p:txBody>
      </p:sp>
      <p:sp>
        <p:nvSpPr>
          <p:cNvPr id="8" name="Text 4"/>
          <p:cNvSpPr txBox="1"/>
          <p:nvPr/>
        </p:nvSpPr>
        <p:spPr>
          <a:xfrm>
            <a:off x="8595360" y="3448050"/>
            <a:ext cx="2782519" cy="247650"/>
          </a:xfrm>
          <a:prstGeom prst="rect">
            <a:avLst/>
          </a:prstGeom>
          <a:noFill/>
          <a:ln/>
        </p:spPr>
        <p:txBody>
          <a:bodyPr wrap="square" lIns="0" tIns="0" rIns="0" bIns="0" rtlCol="0" anchor="t"/>
          <a:lstStyle/>
          <a:p>
            <a:pPr marL="0" indent="0">
              <a:buNone/>
            </a:pPr>
            <a:r>
              <a:rPr lang="en-US" sz="1500" b="1" dirty="0">
                <a:solidFill>
                  <a:schemeClr val="tx1"/>
                </a:solidFill>
              </a:rPr>
              <a:t>Difficulty matters too</a:t>
            </a:r>
            <a:endParaRPr lang="en-US" sz="1500" dirty="0"/>
          </a:p>
        </p:txBody>
      </p:sp>
      <p:sp>
        <p:nvSpPr>
          <p:cNvPr id="9" name="Text 5"/>
          <p:cNvSpPr txBox="1"/>
          <p:nvPr/>
        </p:nvSpPr>
        <p:spPr>
          <a:xfrm>
            <a:off x="8595360" y="3732276"/>
            <a:ext cx="2782519" cy="987552"/>
          </a:xfrm>
          <a:prstGeom prst="rect">
            <a:avLst/>
          </a:prstGeom>
          <a:noFill/>
          <a:ln/>
        </p:spPr>
        <p:txBody>
          <a:bodyPr wrap="square" lIns="0" tIns="0" rIns="0" bIns="0" rtlCol="0" anchor="t"/>
          <a:lstStyle/>
          <a:p>
            <a:pPr marL="0" indent="0">
              <a:buNone/>
            </a:pPr>
            <a:r>
              <a:rPr lang="en-US" sz="1250" dirty="0">
                <a:solidFill>
                  <a:schemeClr val="accent5"/>
                </a:solidFill>
              </a:rPr>
              <a:t>At 100 h, the curriculum agent finishes 89% of the hardest new levels; the unlimited agent trained only at 0.5 finishes 64%.</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4"/>
                </a:solidFill>
              </a:rPr>
              <a:t>DEMO</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bg1"/>
                </a:solidFill>
              </a:rPr>
              <a:t>Race the ghosts</a:t>
            </a:r>
            <a:endParaRPr lang="en-US" sz="3400" dirty="0"/>
          </a:p>
        </p:txBody>
      </p:sp>
      <p:pic>
        <p:nvPicPr>
          <p:cNvPr id="5" name="Image 0" descr="Screenshot of the pygame demo: see-through ghosts with name tags racing on a fresh level, with a compact leaderboard and minimap"/>
          <p:cNvPicPr>
            <a:picLocks noChangeAspect="1"/>
          </p:cNvPicPr>
          <p:nvPr/>
        </p:nvPicPr>
        <p:blipFill>
          <a:blip r:embed="rId3"/>
          <a:stretch>
            <a:fillRect/>
          </a:stretch>
        </p:blipFill>
        <p:spPr>
          <a:xfrm>
            <a:off x="813816" y="1906267"/>
            <a:ext cx="6766560" cy="3795617"/>
          </a:xfrm>
          <a:prstGeom prst="rect">
            <a:avLst/>
          </a:prstGeom>
        </p:spPr>
      </p:pic>
      <p:sp>
        <p:nvSpPr>
          <p:cNvPr id="6" name="Text 2"/>
          <p:cNvSpPr txBox="1"/>
          <p:nvPr/>
        </p:nvSpPr>
        <p:spPr>
          <a:xfrm>
            <a:off x="7909560" y="1874520"/>
            <a:ext cx="3468319" cy="292608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B8C3D3"/>
                </a:solidFill>
              </a:rPr>
              <a:t>14 see-through ghosts, 0 min to 300 h; you are the solid red one</a:t>
            </a:r>
            <a:endParaRPr lang="en-US" sz="1400" dirty="0"/>
          </a:p>
          <a:p>
            <a:pPr marL="342900" indent="-342900">
              <a:spcAft>
                <a:spcPts val="600"/>
              </a:spcAft>
              <a:buSzPct val="100000"/>
              <a:buChar char="•"/>
            </a:pPr>
            <a:r>
              <a:rPr lang="en-US" sz="1400" dirty="0">
                <a:solidFill>
                  <a:srgbClr val="B8C3D3"/>
                </a:solidFill>
              </a:rPr>
              <a:t>A fresh level every round, never used in training</a:t>
            </a:r>
            <a:endParaRPr lang="en-US" sz="1400" dirty="0"/>
          </a:p>
          <a:p>
            <a:pPr marL="342900" indent="-342900">
              <a:spcAft>
                <a:spcPts val="600"/>
              </a:spcAft>
              <a:buSzPct val="100000"/>
              <a:buChar char="•"/>
            </a:pPr>
            <a:r>
              <a:rPr lang="en-US" sz="1400" dirty="0">
                <a:solidFill>
                  <a:srgbClr val="B8C3D3"/>
                </a:solidFill>
              </a:rPr>
              <a:t>Compact leaderboard: arrows mark overtakes</a:t>
            </a:r>
            <a:endParaRPr lang="en-US" sz="1400" dirty="0"/>
          </a:p>
          <a:p>
            <a:pPr marL="342900" indent="-342900">
              <a:spcAft>
                <a:spcPts val="600"/>
              </a:spcAft>
              <a:buSzPct val="100000"/>
              <a:buChar char="•"/>
            </a:pPr>
            <a:r>
              <a:rPr lang="en-US" sz="1400" dirty="0">
                <a:solidFill>
                  <a:srgbClr val="B8C3D3"/>
                </a:solidFill>
              </a:rPr>
              <a:t>Arrows or A/D to run, Space to jump</a:t>
            </a:r>
            <a:endParaRPr lang="en-US" sz="1400" dirty="0"/>
          </a:p>
          <a:p>
            <a:pPr marL="342900" indent="-342900">
              <a:spcAft>
                <a:spcPts val="600"/>
              </a:spcAft>
              <a:buSzPct val="100000"/>
              <a:buChar char="•"/>
            </a:pPr>
            <a:r>
              <a:rPr lang="en-US" sz="1400" dirty="0">
                <a:solidFill>
                  <a:srgbClr val="B8C3D3"/>
                </a:solidFill>
              </a:rPr>
              <a:t>[ and ] change difficulty, up to 2.0</a:t>
            </a:r>
            <a:endParaRPr lang="en-US" sz="1400" dirty="0"/>
          </a:p>
        </p:txBody>
      </p:sp>
      <p:sp>
        <p:nvSpPr>
          <p:cNvPr id="7" name="Shape 3"/>
          <p:cNvSpPr/>
          <p:nvPr/>
        </p:nvSpPr>
        <p:spPr>
          <a:xfrm>
            <a:off x="7909560" y="4983480"/>
            <a:ext cx="3468319" cy="548640"/>
          </a:xfrm>
          <a:prstGeom prst="roundRect">
            <a:avLst>
              <a:gd name="adj" fmla="val 20000"/>
            </a:avLst>
          </a:prstGeom>
          <a:solidFill>
            <a:srgbClr val="1B2940"/>
          </a:solidFill>
          <a:ln/>
        </p:spPr>
      </p:sp>
      <p:sp>
        <p:nvSpPr>
          <p:cNvPr id="8" name="Text 4"/>
          <p:cNvSpPr txBox="1"/>
          <p:nvPr/>
        </p:nvSpPr>
        <p:spPr>
          <a:xfrm>
            <a:off x="8138160" y="4983480"/>
            <a:ext cx="3011119" cy="548640"/>
          </a:xfrm>
          <a:prstGeom prst="rect">
            <a:avLst/>
          </a:prstGeom>
          <a:noFill/>
          <a:ln/>
        </p:spPr>
        <p:txBody>
          <a:bodyPr wrap="square" lIns="0" tIns="0" rIns="0" bIns="0" rtlCol="0" anchor="ctr"/>
          <a:lstStyle/>
          <a:p>
            <a:pPr marL="0" indent="0">
              <a:buNone/>
            </a:pPr>
            <a:r>
              <a:rPr lang="en-US" sz="1500" dirty="0">
                <a:solidFill>
                  <a:schemeClr val="bg1"/>
                </a:solidFill>
                <a:latin typeface="Consolas" pitchFamily="34" charset="0"/>
                <a:ea typeface="Consolas" pitchFamily="34" charset="-122"/>
                <a:cs typeface="Consolas" pitchFamily="34" charset="-120"/>
              </a:rPr>
              <a:t>python demo.py</a:t>
            </a:r>
            <a:endParaRPr lang="en-US" sz="15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8D9BB0"/>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EXPERT LEVELS</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Harder than anything in training</a:t>
            </a:r>
            <a:endParaRPr lang="en-US" sz="3400" dirty="0"/>
          </a:p>
        </p:txBody>
      </p:sp>
      <p:pic>
        <p:nvPicPr>
          <p:cNvPr id="5" name="Image 0" descr="Demo at difficulty 1.5: wide gaps, a one-tile pillar and repeated spike runs; half of the ghosts are already out"/>
          <p:cNvPicPr>
            <a:picLocks noChangeAspect="1"/>
          </p:cNvPicPr>
          <p:nvPr/>
        </p:nvPicPr>
        <p:blipFill>
          <a:blip r:embed="rId3"/>
          <a:stretch>
            <a:fillRect/>
          </a:stretch>
        </p:blipFill>
        <p:spPr>
          <a:xfrm>
            <a:off x="813816" y="1967817"/>
            <a:ext cx="6400800" cy="3590449"/>
          </a:xfrm>
          <a:prstGeom prst="rect">
            <a:avLst/>
          </a:prstGeom>
        </p:spPr>
      </p:pic>
      <p:sp>
        <p:nvSpPr>
          <p:cNvPr id="6" name="Text 2"/>
          <p:cNvSpPr txBox="1"/>
          <p:nvPr/>
        </p:nvSpPr>
        <p:spPr>
          <a:xfrm>
            <a:off x="7543800" y="1920240"/>
            <a:ext cx="3834079" cy="247650"/>
          </a:xfrm>
          <a:prstGeom prst="rect">
            <a:avLst/>
          </a:prstGeom>
          <a:noFill/>
          <a:ln/>
        </p:spPr>
        <p:txBody>
          <a:bodyPr wrap="square" lIns="0" tIns="0" rIns="0" bIns="0" rtlCol="0" anchor="t"/>
          <a:lstStyle/>
          <a:p>
            <a:pPr marL="0" indent="0">
              <a:buNone/>
            </a:pPr>
            <a:r>
              <a:rPr lang="en-US" sz="1500" b="1" dirty="0">
                <a:solidFill>
                  <a:schemeClr val="tx1"/>
                </a:solidFill>
              </a:rPr>
              <a:t>Gaps up to 6 tiles</a:t>
            </a:r>
            <a:endParaRPr lang="en-US" sz="1500" dirty="0"/>
          </a:p>
        </p:txBody>
      </p:sp>
      <p:sp>
        <p:nvSpPr>
          <p:cNvPr id="7" name="Text 3"/>
          <p:cNvSpPr txBox="1"/>
          <p:nvPr/>
        </p:nvSpPr>
        <p:spPr>
          <a:xfrm>
            <a:off x="7543800" y="2204466"/>
            <a:ext cx="3834079" cy="246888"/>
          </a:xfrm>
          <a:prstGeom prst="rect">
            <a:avLst/>
          </a:prstGeom>
          <a:noFill/>
          <a:ln/>
        </p:spPr>
        <p:txBody>
          <a:bodyPr wrap="square" lIns="0" tIns="0" rIns="0" bIns="0" rtlCol="0" anchor="t"/>
          <a:lstStyle/>
          <a:p>
            <a:pPr marL="0" indent="0">
              <a:buNone/>
            </a:pPr>
            <a:r>
              <a:rPr lang="en-US" sz="1250" dirty="0">
                <a:solidFill>
                  <a:schemeClr val="accent5"/>
                </a:solidFill>
              </a:rPr>
              <a:t>was 4; the jump can clear 7</a:t>
            </a:r>
            <a:endParaRPr lang="en-US" sz="1250" dirty="0"/>
          </a:p>
        </p:txBody>
      </p:sp>
      <p:sp>
        <p:nvSpPr>
          <p:cNvPr id="8" name="Text 4"/>
          <p:cNvSpPr txBox="1"/>
          <p:nvPr/>
        </p:nvSpPr>
        <p:spPr>
          <a:xfrm>
            <a:off x="7543800" y="2725674"/>
            <a:ext cx="3834079" cy="247650"/>
          </a:xfrm>
          <a:prstGeom prst="rect">
            <a:avLst/>
          </a:prstGeom>
          <a:noFill/>
          <a:ln/>
        </p:spPr>
        <p:txBody>
          <a:bodyPr wrap="square" lIns="0" tIns="0" rIns="0" bIns="0" rtlCol="0" anchor="t"/>
          <a:lstStyle/>
          <a:p>
            <a:pPr marL="0" indent="0">
              <a:buNone/>
            </a:pPr>
            <a:r>
              <a:rPr lang="en-US" sz="1500" b="1" dirty="0">
                <a:solidFill>
                  <a:schemeClr val="tx1"/>
                </a:solidFill>
              </a:rPr>
              <a:t>Spike runs of 4, often twice</a:t>
            </a:r>
            <a:endParaRPr lang="en-US" sz="1500" dirty="0"/>
          </a:p>
        </p:txBody>
      </p:sp>
      <p:sp>
        <p:nvSpPr>
          <p:cNvPr id="9" name="Text 5"/>
          <p:cNvSpPr txBox="1"/>
          <p:nvPr/>
        </p:nvSpPr>
        <p:spPr>
          <a:xfrm>
            <a:off x="7543800" y="3009900"/>
            <a:ext cx="3834079" cy="493776"/>
          </a:xfrm>
          <a:prstGeom prst="rect">
            <a:avLst/>
          </a:prstGeom>
          <a:noFill/>
          <a:ln/>
        </p:spPr>
        <p:txBody>
          <a:bodyPr wrap="square" lIns="0" tIns="0" rIns="0" bIns="0" rtlCol="0" anchor="t"/>
          <a:lstStyle/>
          <a:p>
            <a:pPr marL="0" indent="0">
              <a:buNone/>
            </a:pPr>
            <a:r>
              <a:rPr lang="en-US" sz="1250" dirty="0">
                <a:solidFill>
                  <a:schemeClr val="accent5"/>
                </a:solidFill>
              </a:rPr>
              <a:t>plus spikes at gap edges and just after landings</a:t>
            </a:r>
            <a:endParaRPr lang="en-US" sz="1250" dirty="0"/>
          </a:p>
        </p:txBody>
      </p:sp>
      <p:sp>
        <p:nvSpPr>
          <p:cNvPr id="10" name="Text 6"/>
          <p:cNvSpPr txBox="1"/>
          <p:nvPr/>
        </p:nvSpPr>
        <p:spPr>
          <a:xfrm>
            <a:off x="7543800" y="3777996"/>
            <a:ext cx="3834079" cy="247650"/>
          </a:xfrm>
          <a:prstGeom prst="rect">
            <a:avLst/>
          </a:prstGeom>
          <a:noFill/>
          <a:ln/>
        </p:spPr>
        <p:txBody>
          <a:bodyPr wrap="square" lIns="0" tIns="0" rIns="0" bIns="0" rtlCol="0" anchor="t"/>
          <a:lstStyle/>
          <a:p>
            <a:pPr marL="0" indent="0">
              <a:buNone/>
            </a:pPr>
            <a:r>
              <a:rPr lang="en-US" sz="1500" b="1" dirty="0">
                <a:solidFill>
                  <a:schemeClr val="tx1"/>
                </a:solidFill>
              </a:rPr>
              <a:t>One-tile pillars, less rest</a:t>
            </a:r>
            <a:endParaRPr lang="en-US" sz="1500" dirty="0"/>
          </a:p>
        </p:txBody>
      </p:sp>
      <p:sp>
        <p:nvSpPr>
          <p:cNvPr id="11" name="Text 7"/>
          <p:cNvSpPr txBox="1"/>
          <p:nvPr/>
        </p:nvSpPr>
        <p:spPr>
          <a:xfrm>
            <a:off x="7543800" y="4062222"/>
            <a:ext cx="3834079" cy="246888"/>
          </a:xfrm>
          <a:prstGeom prst="rect">
            <a:avLst/>
          </a:prstGeom>
          <a:noFill/>
          <a:ln/>
        </p:spPr>
        <p:txBody>
          <a:bodyPr wrap="square" lIns="0" tIns="0" rIns="0" bIns="0" rtlCol="0" anchor="t"/>
          <a:lstStyle/>
          <a:p>
            <a:pPr marL="0" indent="0">
              <a:buNone/>
            </a:pPr>
            <a:r>
              <a:rPr lang="en-US" sz="1250" dirty="0">
                <a:solidFill>
                  <a:schemeClr val="accent5"/>
                </a:solidFill>
              </a:rPr>
              <a:t>narrower platforms, shorter flat ground</a:t>
            </a:r>
            <a:endParaRPr lang="en-US" sz="1250" dirty="0"/>
          </a:p>
        </p:txBody>
      </p:sp>
      <p:sp>
        <p:nvSpPr>
          <p:cNvPr id="12" name="Text 8"/>
          <p:cNvSpPr txBox="1"/>
          <p:nvPr/>
        </p:nvSpPr>
        <p:spPr>
          <a:xfrm>
            <a:off x="7543800" y="4583430"/>
            <a:ext cx="3834079" cy="247650"/>
          </a:xfrm>
          <a:prstGeom prst="rect">
            <a:avLst/>
          </a:prstGeom>
          <a:noFill/>
          <a:ln/>
        </p:spPr>
        <p:txBody>
          <a:bodyPr wrap="square" lIns="0" tIns="0" rIns="0" bIns="0" rtlCol="0" anchor="t"/>
          <a:lstStyle/>
          <a:p>
            <a:pPr marL="0" indent="0">
              <a:buNone/>
            </a:pPr>
            <a:r>
              <a:rPr lang="en-US" sz="1500" b="1" dirty="0">
                <a:solidFill>
                  <a:schemeClr val="tx1"/>
                </a:solidFill>
              </a:rPr>
              <a:t>Same tiles, same physics</a:t>
            </a:r>
            <a:endParaRPr lang="en-US" sz="1500" dirty="0"/>
          </a:p>
        </p:txBody>
      </p:sp>
      <p:sp>
        <p:nvSpPr>
          <p:cNvPr id="13" name="Text 9"/>
          <p:cNvSpPr txBox="1"/>
          <p:nvPr/>
        </p:nvSpPr>
        <p:spPr>
          <a:xfrm>
            <a:off x="7543800" y="4867656"/>
            <a:ext cx="3834079" cy="493776"/>
          </a:xfrm>
          <a:prstGeom prst="rect">
            <a:avLst/>
          </a:prstGeom>
          <a:noFill/>
          <a:ln/>
        </p:spPr>
        <p:txBody>
          <a:bodyPr wrap="square" lIns="0" tIns="0" rIns="0" bIns="0" rtlCol="0" anchor="t"/>
          <a:lstStyle/>
          <a:p>
            <a:pPr marL="0" indent="0">
              <a:buNone/>
            </a:pPr>
            <a:r>
              <a:rPr lang="en-US" sz="1250" dirty="0">
                <a:solidFill>
                  <a:schemeClr val="accent5"/>
                </a:solidFill>
              </a:rPr>
              <a:t>no retraining; the solver checks every level is beatable</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EXPERT LEVELS</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Beyond training, even 300 h struggles</a:t>
            </a:r>
            <a:endParaRPr lang="en-US" sz="3400" dirty="0"/>
          </a:p>
        </p:txBody>
      </p:sp>
      <p:pic>
        <p:nvPicPr>
          <p:cNvPr id="5" name="Image 0" descr="Line chart of levels completed from difficulty 0.25 to 2.0 for the 10h, 30h and 300h ghosts"/>
          <p:cNvPicPr>
            <a:picLocks noChangeAspect="1"/>
          </p:cNvPicPr>
          <p:nvPr/>
        </p:nvPicPr>
        <p:blipFill>
          <a:blip r:embed="rId3"/>
          <a:stretch>
            <a:fillRect/>
          </a:stretch>
        </p:blipFill>
        <p:spPr>
          <a:xfrm>
            <a:off x="813816" y="2165096"/>
            <a:ext cx="7315200" cy="3251200"/>
          </a:xfrm>
          <a:prstGeom prst="rect">
            <a:avLst/>
          </a:prstGeom>
        </p:spPr>
      </p:pic>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8458200" y="2057400"/>
          <a:ext cx="2919679" cy="914400"/>
        </p:xfrm>
        <a:graphic>
          <a:graphicData uri="http://schemas.openxmlformats.org/drawingml/2006/table">
            <a:tbl>
              <a:tblPr/>
              <a:tblGrid>
                <a:gridCol w="146304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tblGrid>
              <a:tr h="402336">
                <a:tc>
                  <a:txBody>
                    <a:bodyPr/>
                    <a:lstStyle/>
                    <a:p>
                      <a:pPr marL="0" indent="0" algn="l">
                        <a:buNone/>
                      </a:pPr>
                      <a:r>
                        <a:rPr lang="en-US" sz="1400" b="1" dirty="0">
                          <a:solidFill>
                            <a:schemeClr val="tx1"/>
                          </a:solidFill>
                          <a:latin typeface="Segoe UI" pitchFamily="34" charset="0"/>
                          <a:ea typeface="Segoe UI" pitchFamily="34" charset="-122"/>
                          <a:cs typeface="Segoe UI" pitchFamily="34" charset="-120"/>
                        </a:rPr>
                        <a:t>Difficulty</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b="1" dirty="0">
                          <a:solidFill>
                            <a:schemeClr val="tx1"/>
                          </a:solidFill>
                          <a:latin typeface="Segoe UI" pitchFamily="34" charset="0"/>
                          <a:ea typeface="Segoe UI" pitchFamily="34" charset="-122"/>
                          <a:cs typeface="Segoe UI" pitchFamily="34" charset="-120"/>
                        </a:rPr>
                        <a:t>300 h ghost</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0"/>
                  </a:ext>
                </a:extLst>
              </a:tr>
              <a:tr h="402336">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85%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1"/>
                  </a:ext>
                </a:extLst>
              </a:tr>
              <a:tr h="402336">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1.25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60%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2"/>
                  </a:ext>
                </a:extLst>
              </a:tr>
              <a:tr h="402336">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42%</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3"/>
                  </a:ext>
                </a:extLst>
              </a:tr>
              <a:tr h="402336">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1.75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5%</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4"/>
                  </a:ext>
                </a:extLst>
              </a:tr>
              <a:tr h="402336">
                <a:tc>
                  <a:txBody>
                    <a:bodyPr/>
                    <a:lstStyle/>
                    <a:p>
                      <a:pPr marL="0" indent="0" algn="l">
                        <a:buNone/>
                      </a:pPr>
                      <a:r>
                        <a:rPr lang="en-US" sz="1400" dirty="0">
                          <a:solidFill>
                            <a:schemeClr val="tx1"/>
                          </a:solidFill>
                          <a:latin typeface="Segoe UI" pitchFamily="34" charset="0"/>
                          <a:ea typeface="Segoe UI" pitchFamily="34" charset="-122"/>
                          <a:cs typeface="Segoe UI" pitchFamily="34" charset="-120"/>
                        </a:rPr>
                        <a:t>2.0</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tc>
                  <a:txBody>
                    <a:bodyPr/>
                    <a:lstStyle/>
                    <a:p>
                      <a:pPr marL="0" indent="0" algn="r">
                        <a:buNone/>
                      </a:pPr>
                      <a:r>
                        <a:rPr lang="en-US" sz="1400" dirty="0">
                          <a:solidFill>
                            <a:schemeClr val="tx1"/>
                          </a:solidFill>
                          <a:latin typeface="Segoe UI" pitchFamily="34" charset="0"/>
                          <a:ea typeface="Segoe UI" pitchFamily="34" charset="-122"/>
                          <a:cs typeface="Segoe UI" pitchFamily="34" charset="-120"/>
                        </a:rPr>
                        <a:t>4%</a:t>
                      </a:r>
                      <a:endParaRPr lang="en-US" sz="1400" dirty="0">
                        <a:latin typeface="Segoe UI" charset="0"/>
                        <a:ea typeface="Segoe UI" charset="0"/>
                        <a:cs typeface="Segoe UI" charset="0"/>
                      </a:endParaRPr>
                    </a:p>
                  </a:txBody>
                  <a:tcPr marL="73152" marR="73152" marT="36576" marB="36576" anchor="ctr">
                    <a:lnL w="9525" cap="flat" cmpd="sng" algn="ctr">
                      <a:solidFill>
                        <a:srgbClr val="D9D7D0"/>
                      </a:solidFill>
                      <a:prstDash val="solid"/>
                      <a:round/>
                      <a:headEnd type="none" w="med" len="med"/>
                      <a:tailEnd type="none" w="med" len="med"/>
                    </a:lnL>
                    <a:lnR w="9525" cap="flat" cmpd="sng" algn="ctr">
                      <a:solidFill>
                        <a:srgbClr val="D9D7D0"/>
                      </a:solidFill>
                      <a:prstDash val="solid"/>
                      <a:round/>
                      <a:headEnd type="none" w="med" len="med"/>
                      <a:tailEnd type="none" w="med" len="med"/>
                    </a:lnR>
                    <a:lnT w="9525" cap="flat" cmpd="sng" algn="ctr">
                      <a:solidFill>
                        <a:srgbClr val="D9D7D0"/>
                      </a:solidFill>
                      <a:prstDash val="solid"/>
                      <a:round/>
                      <a:headEnd type="none" w="med" len="med"/>
                      <a:tailEnd type="none" w="med" len="med"/>
                    </a:lnT>
                    <a:lnB w="9525" cap="flat" cmpd="sng" algn="ctr">
                      <a:solidFill>
                        <a:srgbClr val="D9D7D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7" name="Text 2"/>
          <p:cNvSpPr txBox="1"/>
          <p:nvPr/>
        </p:nvSpPr>
        <p:spPr>
          <a:xfrm>
            <a:off x="8458200" y="4663440"/>
            <a:ext cx="2919679" cy="731520"/>
          </a:xfrm>
          <a:prstGeom prst="rect">
            <a:avLst/>
          </a:prstGeom>
          <a:noFill/>
          <a:ln/>
        </p:spPr>
        <p:txBody>
          <a:bodyPr wrap="square" lIns="0" tIns="0" rIns="0" bIns="0" rtlCol="0" anchor="t"/>
          <a:lstStyle/>
          <a:p>
            <a:pPr marL="0" indent="0">
              <a:buNone/>
            </a:pPr>
            <a:r>
              <a:rPr lang="en-US" sz="1250" dirty="0">
                <a:solidFill>
                  <a:schemeClr val="accent5"/>
                </a:solidFill>
              </a:rPr>
              <a:t>100 never-seen levels each. Now a good human can beat the best ghost.</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WRAP-UP</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What I learned, and what’s next</a:t>
            </a:r>
            <a:endParaRPr lang="en-US" sz="3400" dirty="0"/>
          </a:p>
        </p:txBody>
      </p:sp>
      <p:sp>
        <p:nvSpPr>
          <p:cNvPr id="5" name="Shape 2"/>
          <p:cNvSpPr/>
          <p:nvPr/>
        </p:nvSpPr>
        <p:spPr>
          <a:xfrm>
            <a:off x="813816" y="1828800"/>
            <a:ext cx="3338474" cy="3063240"/>
          </a:xfrm>
          <a:prstGeom prst="roundRect">
            <a:avLst>
              <a:gd name="adj" fmla="val 3582"/>
            </a:avLst>
          </a:prstGeom>
          <a:solidFill>
            <a:schemeClr val="bg1"/>
          </a:solidFill>
          <a:ln/>
        </p:spPr>
      </p:sp>
      <p:sp>
        <p:nvSpPr>
          <p:cNvPr id="6" name="Text 3"/>
          <p:cNvSpPr txBox="1"/>
          <p:nvPr/>
        </p:nvSpPr>
        <p:spPr>
          <a:xfrm>
            <a:off x="1133856" y="2103120"/>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What worked</a:t>
            </a:r>
            <a:endParaRPr lang="en-US" sz="2000" dirty="0"/>
          </a:p>
        </p:txBody>
      </p:sp>
      <p:sp>
        <p:nvSpPr>
          <p:cNvPr id="7" name="Text 4"/>
          <p:cNvSpPr txBox="1"/>
          <p:nvPr/>
        </p:nvSpPr>
        <p:spPr>
          <a:xfrm>
            <a:off x="1133856" y="2651760"/>
            <a:ext cx="2698394"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accent5"/>
                </a:solidFill>
              </a:rPr>
              <a:t>A tile view relative to the agent: cheap and level-independent</a:t>
            </a:r>
            <a:endParaRPr lang="en-US" sz="1300" dirty="0"/>
          </a:p>
          <a:p>
            <a:pPr marL="342900" indent="-342900">
              <a:spcAft>
                <a:spcPts val="600"/>
              </a:spcAft>
              <a:buSzPct val="100000"/>
              <a:buChar char="•"/>
            </a:pPr>
            <a:r>
              <a:rPr lang="en-US" sz="1300" dirty="0">
                <a:solidFill>
                  <a:schemeClr val="accent5"/>
                </a:solidFill>
              </a:rPr>
              <a:t>A curriculum from easy to hard</a:t>
            </a:r>
            <a:endParaRPr lang="en-US" sz="1300" dirty="0"/>
          </a:p>
          <a:p>
            <a:pPr marL="342900" indent="-342900">
              <a:spcAft>
                <a:spcPts val="600"/>
              </a:spcAft>
              <a:buSzPct val="100000"/>
              <a:buChar char="•"/>
            </a:pPr>
            <a:r>
              <a:rPr lang="en-US" sz="1300" dirty="0">
                <a:solidFill>
                  <a:schemeClr val="accent5"/>
                </a:solidFill>
              </a:rPr>
              <a:t>A new level every episode</a:t>
            </a:r>
            <a:endParaRPr lang="en-US" sz="1300" dirty="0"/>
          </a:p>
          <a:p>
            <a:pPr marL="342900" indent="-342900">
              <a:spcAft>
                <a:spcPts val="600"/>
              </a:spcAft>
              <a:buSzPct val="100000"/>
              <a:buChar char="•"/>
            </a:pPr>
            <a:r>
              <a:rPr lang="en-US" sz="1300" dirty="0">
                <a:solidFill>
                  <a:schemeClr val="accent5"/>
                </a:solidFill>
              </a:rPr>
              <a:t>One shared game loop, so demo ghosts act exactly as in training</a:t>
            </a:r>
            <a:endParaRPr lang="en-US" sz="1300" dirty="0"/>
          </a:p>
        </p:txBody>
      </p:sp>
      <p:sp>
        <p:nvSpPr>
          <p:cNvPr id="8" name="Shape 5"/>
          <p:cNvSpPr/>
          <p:nvPr/>
        </p:nvSpPr>
        <p:spPr>
          <a:xfrm>
            <a:off x="4426610" y="1828800"/>
            <a:ext cx="3338474" cy="3063240"/>
          </a:xfrm>
          <a:prstGeom prst="roundRect">
            <a:avLst>
              <a:gd name="adj" fmla="val 3582"/>
            </a:avLst>
          </a:prstGeom>
          <a:solidFill>
            <a:schemeClr val="bg1"/>
          </a:solidFill>
          <a:ln/>
        </p:spPr>
      </p:sp>
      <p:sp>
        <p:nvSpPr>
          <p:cNvPr id="9" name="Text 6"/>
          <p:cNvSpPr txBox="1"/>
          <p:nvPr/>
        </p:nvSpPr>
        <p:spPr>
          <a:xfrm>
            <a:off x="4746650" y="2103120"/>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What was hard</a:t>
            </a:r>
            <a:endParaRPr lang="en-US" sz="2000" dirty="0"/>
          </a:p>
        </p:txBody>
      </p:sp>
      <p:sp>
        <p:nvSpPr>
          <p:cNvPr id="10" name="Text 7"/>
          <p:cNvSpPr txBox="1"/>
          <p:nvPr/>
        </p:nvSpPr>
        <p:spPr>
          <a:xfrm>
            <a:off x="4746650" y="2651760"/>
            <a:ext cx="2698394"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accent5"/>
                </a:solidFill>
              </a:rPr>
              <a:t>Guaranteeing every random level is beatable: a solver in the tests</a:t>
            </a:r>
            <a:endParaRPr lang="en-US" sz="1300" dirty="0"/>
          </a:p>
          <a:p>
            <a:pPr marL="342900" indent="-342900">
              <a:spcAft>
                <a:spcPts val="600"/>
              </a:spcAft>
              <a:buSzPct val="100000"/>
              <a:buChar char="•"/>
            </a:pPr>
            <a:r>
              <a:rPr lang="en-US" sz="1300" dirty="0">
                <a:solidFill>
                  <a:schemeClr val="accent5"/>
                </a:solidFill>
              </a:rPr>
              <a:t>Reward for progress, so it learns before it ever reaches a flag</a:t>
            </a:r>
            <a:endParaRPr lang="en-US" sz="1300" dirty="0"/>
          </a:p>
          <a:p>
            <a:pPr marL="342900" indent="-342900">
              <a:spcAft>
                <a:spcPts val="600"/>
              </a:spcAft>
              <a:buSzPct val="100000"/>
              <a:buChar char="•"/>
            </a:pPr>
            <a:r>
              <a:rPr lang="en-US" sz="1300" dirty="0">
                <a:solidFill>
                  <a:schemeClr val="accent5"/>
                </a:solidFill>
              </a:rPr>
              <a:t>Overnight runs: a full disk crashed two of them; autosave and resume recovered both</a:t>
            </a:r>
            <a:endParaRPr lang="en-US" sz="1300" dirty="0"/>
          </a:p>
        </p:txBody>
      </p:sp>
      <p:sp>
        <p:nvSpPr>
          <p:cNvPr id="11" name="Shape 8"/>
          <p:cNvSpPr/>
          <p:nvPr/>
        </p:nvSpPr>
        <p:spPr>
          <a:xfrm>
            <a:off x="8039405" y="1828800"/>
            <a:ext cx="3338474" cy="3063240"/>
          </a:xfrm>
          <a:prstGeom prst="roundRect">
            <a:avLst>
              <a:gd name="adj" fmla="val 3582"/>
            </a:avLst>
          </a:prstGeom>
          <a:solidFill>
            <a:schemeClr val="bg1"/>
          </a:solidFill>
          <a:ln/>
        </p:spPr>
      </p:sp>
      <p:sp>
        <p:nvSpPr>
          <p:cNvPr id="12" name="Text 9"/>
          <p:cNvSpPr txBox="1"/>
          <p:nvPr/>
        </p:nvSpPr>
        <p:spPr>
          <a:xfrm>
            <a:off x="8359445" y="2103120"/>
            <a:ext cx="2698394" cy="411480"/>
          </a:xfrm>
          <a:prstGeom prst="rect">
            <a:avLst/>
          </a:prstGeom>
          <a:noFill/>
          <a:ln/>
        </p:spPr>
        <p:txBody>
          <a:bodyPr wrap="square" lIns="0" tIns="0" rIns="0" bIns="0" rtlCol="0" anchor="t"/>
          <a:lstStyle/>
          <a:p>
            <a:pPr marL="0" indent="0">
              <a:buNone/>
            </a:pPr>
            <a:r>
              <a:rPr lang="en-US" sz="2000" dirty="0">
                <a:solidFill>
                  <a:schemeClr val="tx1"/>
                </a:solidFill>
                <a:latin typeface="Segoe UI Semibold" pitchFamily="34" charset="0"/>
                <a:ea typeface="Segoe UI Semibold" pitchFamily="34" charset="-122"/>
                <a:cs typeface="Segoe UI Semibold" pitchFamily="34" charset="-120"/>
              </a:rPr>
              <a:t>Next</a:t>
            </a:r>
            <a:endParaRPr lang="en-US" sz="2000" dirty="0"/>
          </a:p>
        </p:txBody>
      </p:sp>
      <p:sp>
        <p:nvSpPr>
          <p:cNvPr id="13" name="Text 10"/>
          <p:cNvSpPr txBox="1"/>
          <p:nvPr/>
        </p:nvSpPr>
        <p:spPr>
          <a:xfrm>
            <a:off x="8359445" y="2651760"/>
            <a:ext cx="2698394" cy="2926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accent5"/>
                </a:solidFill>
              </a:rPr>
              <a:t>Phase 2: enemies</a:t>
            </a:r>
            <a:endParaRPr lang="en-US" sz="1300" dirty="0"/>
          </a:p>
          <a:p>
            <a:pPr marL="342900" indent="-342900">
              <a:spcAft>
                <a:spcPts val="600"/>
              </a:spcAft>
              <a:buSzPct val="100000"/>
              <a:buChar char="•"/>
            </a:pPr>
            <a:r>
              <a:rPr lang="en-US" sz="1300" dirty="0">
                <a:solidFill>
                  <a:schemeClr val="accent5"/>
                </a:solidFill>
              </a:rPr>
              <a:t>Pixel input with a convolutional network</a:t>
            </a:r>
            <a:endParaRPr lang="en-US" sz="1300" dirty="0"/>
          </a:p>
          <a:p>
            <a:pPr marL="342900" indent="-342900">
              <a:spcAft>
                <a:spcPts val="600"/>
              </a:spcAft>
              <a:buSzPct val="100000"/>
              <a:buChar char="•"/>
            </a:pPr>
            <a:r>
              <a:rPr lang="en-US" sz="1300" dirty="0">
                <a:solidFill>
                  <a:schemeClr val="accent5"/>
                </a:solidFill>
              </a:rPr>
              <a:t>Record human runs and compare them with the ghosts</a:t>
            </a:r>
            <a:endParaRPr lang="en-US" sz="130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0"/>
          <p:cNvSpPr>
            <a:spLocks noGrp="1"/>
          </p:cNvSpPr>
          <p:nvPr>
            <p:ph type="body" idx="100" hasCustomPrompt="1"/>
          </p:nvPr>
        </p:nvSpPr>
        <p:spPr>
          <a:xfrm>
            <a:off x="813816" y="1600200"/>
            <a:ext cx="5120640" cy="320040"/>
          </a:xfrm>
          <a:prstGeom prst="rect">
            <a:avLst/>
          </a:prstGeom>
          <a:noFill/>
          <a:ln/>
        </p:spPr>
        <p:txBody>
          <a:bodyPr wrap="square" lIns="0" tIns="0" rIns="0" bIns="0" rtlCol="0"/>
          <a:lstStyle/>
          <a:p>
            <a:pPr marL="0" indent="0">
              <a:buNone/>
            </a:pPr>
            <a:r>
              <a:rPr lang="en-US" sz="1200" b="1" kern="0" spc="200" dirty="0">
                <a:solidFill>
                  <a:schemeClr val="accent4"/>
                </a:solidFill>
              </a:rPr>
              <a:t>PROCGEN RL</a:t>
            </a:r>
            <a:endParaRPr lang="en-US" sz="1200" dirty="0"/>
          </a:p>
        </p:txBody>
      </p:sp>
      <p:sp>
        <p:nvSpPr>
          <p:cNvPr id="4" name="Text 0"/>
          <p:cNvSpPr>
            <a:spLocks noGrp="1"/>
          </p:cNvSpPr>
          <p:nvPr>
            <p:ph type="title" idx="101" hasCustomPrompt="1"/>
          </p:nvPr>
        </p:nvSpPr>
        <p:spPr>
          <a:xfrm>
            <a:off x="813816" y="2011680"/>
            <a:ext cx="5120640" cy="2286000"/>
          </a:xfrm>
          <a:prstGeom prst="rect">
            <a:avLst/>
          </a:prstGeom>
          <a:noFill/>
          <a:ln/>
        </p:spPr>
        <p:txBody>
          <a:bodyPr wrap="square" lIns="0" tIns="0" rIns="0" bIns="0" rtlCol="0" anchor="t"/>
          <a:lstStyle/>
          <a:p>
            <a:pPr marL="0" indent="0" algn="l">
              <a:buNone/>
            </a:pPr>
            <a:r>
              <a:rPr lang="en-US" sz="4200" dirty="0">
                <a:solidFill>
                  <a:schemeClr val="bg1"/>
                </a:solidFill>
              </a:rPr>
              <a:t>Thank you</a:t>
            </a:r>
            <a:endParaRPr lang="en-US" sz="4200" dirty="0"/>
          </a:p>
        </p:txBody>
      </p:sp>
      <p:sp>
        <p:nvSpPr>
          <p:cNvPr id="5" name="Text 2"/>
          <p:cNvSpPr txBox="1"/>
          <p:nvPr/>
        </p:nvSpPr>
        <p:spPr>
          <a:xfrm>
            <a:off x="813816" y="2880360"/>
            <a:ext cx="5120640" cy="457200"/>
          </a:xfrm>
          <a:prstGeom prst="rect">
            <a:avLst/>
          </a:prstGeom>
          <a:noFill/>
          <a:ln/>
        </p:spPr>
        <p:txBody>
          <a:bodyPr wrap="square" lIns="0" tIns="0" rIns="0" bIns="0" rtlCol="0" anchor="t"/>
          <a:lstStyle/>
          <a:p>
            <a:pPr marL="0" indent="0">
              <a:buNone/>
            </a:pPr>
            <a:r>
              <a:rPr lang="en-US" sz="2000" dirty="0">
                <a:solidFill>
                  <a:schemeClr val="accent6"/>
                </a:solidFill>
              </a:rPr>
              <a:t>Questions, or want a race?</a:t>
            </a:r>
            <a:endParaRPr lang="en-US" sz="2000" dirty="0"/>
          </a:p>
        </p:txBody>
      </p:sp>
      <p:sp>
        <p:nvSpPr>
          <p:cNvPr id="6" name="Text 0"/>
          <p:cNvSpPr>
            <a:spLocks noGrp="1"/>
          </p:cNvSpPr>
          <p:nvPr>
            <p:ph type="body" idx="103" hasCustomPrompt="1"/>
          </p:nvPr>
        </p:nvSpPr>
        <p:spPr>
          <a:xfrm>
            <a:off x="813816" y="6263640"/>
            <a:ext cx="7315200" cy="320040"/>
          </a:xfrm>
          <a:prstGeom prst="rect">
            <a:avLst/>
          </a:prstGeom>
          <a:noFill/>
          <a:ln/>
        </p:spPr>
        <p:txBody>
          <a:bodyPr wrap="square" lIns="0" tIns="0" rIns="0" bIns="0" rtlCol="0"/>
          <a:lstStyle/>
          <a:p>
            <a:pPr marL="0" indent="0">
              <a:buNone/>
            </a:pPr>
            <a:r>
              <a:rPr lang="en-US" sz="1200" dirty="0">
                <a:solidFill>
                  <a:schemeClr val="accent6"/>
                </a:solidFill>
              </a:rPr>
              <a:t>[Your name] · [Course, date]</a:t>
            </a:r>
            <a:endParaRPr lang="en-US" sz="1200" dirty="0"/>
          </a:p>
        </p:txBody>
      </p:sp>
      <p:sp>
        <p:nvSpPr>
          <p:cNvPr id="7" name="Text 4"/>
          <p:cNvSpPr txBox="1"/>
          <p:nvPr/>
        </p:nvSpPr>
        <p:spPr>
          <a:xfrm>
            <a:off x="813816" y="3520440"/>
            <a:ext cx="5120640" cy="365760"/>
          </a:xfrm>
          <a:prstGeom prst="rect">
            <a:avLst/>
          </a:prstGeom>
          <a:noFill/>
          <a:ln/>
        </p:spPr>
        <p:txBody>
          <a:bodyPr wrap="square" lIns="0" tIns="0" rIns="0" bIns="0" rtlCol="0" anchor="t"/>
          <a:lstStyle/>
          <a:p>
            <a:pPr marL="0" indent="0">
              <a:buNone/>
            </a:pPr>
            <a:r>
              <a:rPr lang="en-US" sz="1400" dirty="0">
                <a:solidFill>
                  <a:schemeClr val="accent6"/>
                </a:solidFill>
              </a:rPr>
              <a:t>Code: </a:t>
            </a:r>
            <a:r>
              <a:rPr lang="en-US" sz="1400" u="sng" dirty="0">
                <a:solidFill>
                  <a:schemeClr val="accent4"/>
                </a:solidFill>
                <a:hlinkClick r:id="rId3">
                  <a:extLst>
                    <a:ext uri="{A12FA001-AC4F-418D-AE19-62706E023703}">
                      <ahyp:hlinkClr xmlns:ahyp="http://schemas.microsoft.com/office/drawing/2018/hyperlinkcolor" val="tx"/>
                    </a:ext>
                  </a:extLst>
                </a:hlinkClick>
              </a:rPr>
              <a:t>github.com/DYNAMAXD/ProcGen_RL</a:t>
            </a:r>
            <a:endParaRPr lang="en-US" sz="1400" dirty="0"/>
          </a:p>
        </p:txBody>
      </p:sp>
      <p:pic>
        <p:nvPicPr>
          <p:cNvPr id="8" name="Image 0" descr="An expert level in the demo"/>
          <p:cNvPicPr>
            <a:picLocks noChangeAspect="1"/>
          </p:cNvPicPr>
          <p:nvPr/>
        </p:nvPicPr>
        <p:blipFill>
          <a:blip r:embed="rId4"/>
          <a:stretch>
            <a:fillRect/>
          </a:stretch>
        </p:blipFill>
        <p:spPr>
          <a:xfrm>
            <a:off x="6263640" y="1992821"/>
            <a:ext cx="5120640" cy="2872359"/>
          </a:xfrm>
          <a:prstGeom prst="rect">
            <a:avLst/>
          </a:prstGeom>
        </p:spPr>
      </p:pic>
      <p:sp>
        <p:nvSpPr>
          <p:cNvPr id="9" name="Text 0"/>
          <p:cNvSpPr>
            <a:spLocks noGrp="1"/>
          </p:cNvSpPr>
          <p:nvPr>
            <p:ph type="body" idx="102" hasCustomPrompt="1"/>
          </p:nvPr>
        </p:nvSpPr>
        <p:spPr>
          <a:xfrm>
            <a:off x="813816" y="4434840"/>
            <a:ext cx="4937760" cy="822960"/>
          </a:xfrm>
          <a:prstGeom prst="rect">
            <a:avLst/>
          </a:prstGeom>
          <a:noFill/>
          <a:ln/>
        </p:spPr>
        <p:txBody>
          <a:bodyPr wrap="square" lIns="0" tIns="0" rIns="0" bIns="0" rtlCol="0" anchor="t"/>
          <a:lstStyle/>
          <a:p>
            <a:pPr marL="0" indent="0">
              <a:buNone/>
            </a:pP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813816" y="566928"/>
            <a:ext cx="10564063" cy="292608"/>
          </a:xfrm>
          <a:prstGeom prst="rect">
            <a:avLst/>
          </a:prstGeom>
          <a:noFill/>
          <a:ln/>
        </p:spPr>
        <p:txBody>
          <a:bodyPr wrap="square" lIns="0" tIns="0" rIns="0" bIns="0" rtlCol="0" anchor="t"/>
          <a:lstStyle/>
          <a:p>
            <a:pPr marL="0" indent="0">
              <a:buNone/>
            </a:pPr>
            <a:r>
              <a:rPr lang="en-US" sz="1200" b="1" kern="0" spc="200" dirty="0">
                <a:solidFill>
                  <a:schemeClr val="accent1"/>
                </a:solidFill>
              </a:rPr>
              <a:t>APPENDIX</a:t>
            </a:r>
            <a:endParaRPr lang="en-US" sz="1200" dirty="0"/>
          </a:p>
        </p:txBody>
      </p:sp>
      <p:sp>
        <p:nvSpPr>
          <p:cNvPr id="3" name="Text 0"/>
          <p:cNvSpPr>
            <a:spLocks noGrp="1"/>
          </p:cNvSpPr>
          <p:nvPr>
            <p:ph type="title" idx="101" hasCustomPrompt="1"/>
          </p:nvPr>
        </p:nvSpPr>
        <p:spPr>
          <a:xfrm>
            <a:off x="813816" y="841248"/>
            <a:ext cx="10564063" cy="685800"/>
          </a:xfrm>
          <a:prstGeom prst="rect">
            <a:avLst/>
          </a:prstGeom>
          <a:noFill/>
          <a:ln/>
        </p:spPr>
        <p:txBody>
          <a:bodyPr wrap="square" lIns="0" tIns="0" rIns="0" bIns="0" rtlCol="0" anchor="t"/>
          <a:lstStyle/>
          <a:p>
            <a:pPr marL="0" indent="0" algn="l">
              <a:buNone/>
            </a:pPr>
            <a:r>
              <a:rPr lang="en-US" sz="3400" dirty="0">
                <a:solidFill>
                  <a:schemeClr val="tx1"/>
                </a:solidFill>
              </a:rPr>
              <a:t>PPO health checks</a:t>
            </a:r>
            <a:endParaRPr lang="en-US" sz="3400" dirty="0"/>
          </a:p>
        </p:txBody>
      </p:sp>
      <p:pic>
        <p:nvPicPr>
          <p:cNvPr id="5" name="Image 0" descr="Six panels of PPO training diagnostics over simulated time"/>
          <p:cNvPicPr>
            <a:picLocks noChangeAspect="1"/>
          </p:cNvPicPr>
          <p:nvPr/>
        </p:nvPicPr>
        <p:blipFill>
          <a:blip r:embed="rId3"/>
          <a:stretch>
            <a:fillRect/>
          </a:stretch>
        </p:blipFill>
        <p:spPr>
          <a:xfrm>
            <a:off x="813816" y="1840167"/>
            <a:ext cx="8138160" cy="4015949"/>
          </a:xfrm>
          <a:prstGeom prst="rect">
            <a:avLst/>
          </a:prstGeom>
        </p:spPr>
      </p:pic>
      <p:sp>
        <p:nvSpPr>
          <p:cNvPr id="6" name="Text 2"/>
          <p:cNvSpPr txBox="1"/>
          <p:nvPr/>
        </p:nvSpPr>
        <p:spPr>
          <a:xfrm>
            <a:off x="9189720" y="2057400"/>
            <a:ext cx="2188159" cy="777240"/>
          </a:xfrm>
          <a:prstGeom prst="rect">
            <a:avLst/>
          </a:prstGeom>
          <a:noFill/>
          <a:ln/>
        </p:spPr>
        <p:txBody>
          <a:bodyPr wrap="square" lIns="0" tIns="0" rIns="0" bIns="0" rtlCol="0" anchor="t"/>
          <a:lstStyle/>
          <a:p>
            <a:pPr marL="0" indent="0">
              <a:buNone/>
            </a:pPr>
            <a:r>
              <a:rPr lang="en-US" sz="1250" b="1" dirty="0">
                <a:solidFill>
                  <a:schemeClr val="tx1"/>
                </a:solidFill>
              </a:rPr>
              <a:t>Reward</a:t>
            </a:r>
            <a:r>
              <a:rPr lang="en-US" sz="1250" dirty="0">
                <a:solidFill>
                  <a:schemeClr val="accent5"/>
                </a:solidFill>
              </a:rPr>
              <a:t> rises from about 7 to 18 per episode.</a:t>
            </a:r>
            <a:endParaRPr lang="en-US" sz="1250" dirty="0"/>
          </a:p>
        </p:txBody>
      </p:sp>
      <p:sp>
        <p:nvSpPr>
          <p:cNvPr id="7" name="Text 3"/>
          <p:cNvSpPr txBox="1"/>
          <p:nvPr/>
        </p:nvSpPr>
        <p:spPr>
          <a:xfrm>
            <a:off x="9189720" y="2971800"/>
            <a:ext cx="2188159" cy="777240"/>
          </a:xfrm>
          <a:prstGeom prst="rect">
            <a:avLst/>
          </a:prstGeom>
          <a:noFill/>
          <a:ln/>
        </p:spPr>
        <p:txBody>
          <a:bodyPr wrap="square" lIns="0" tIns="0" rIns="0" bIns="0" rtlCol="0" anchor="t"/>
          <a:lstStyle/>
          <a:p>
            <a:pPr marL="0" indent="0">
              <a:buNone/>
            </a:pPr>
            <a:r>
              <a:rPr lang="en-US" sz="1250" b="1" dirty="0">
                <a:solidFill>
                  <a:schemeClr val="tx1"/>
                </a:solidFill>
              </a:rPr>
              <a:t>Entropy</a:t>
            </a:r>
            <a:r>
              <a:rPr lang="en-US" sz="1250" dirty="0">
                <a:solidFill>
                  <a:schemeClr val="accent5"/>
                </a:solidFill>
              </a:rPr>
              <a:t> falls slowly: fewer random actions.</a:t>
            </a:r>
            <a:endParaRPr lang="en-US" sz="1250" dirty="0"/>
          </a:p>
        </p:txBody>
      </p:sp>
      <p:sp>
        <p:nvSpPr>
          <p:cNvPr id="8" name="Text 4"/>
          <p:cNvSpPr txBox="1"/>
          <p:nvPr/>
        </p:nvSpPr>
        <p:spPr>
          <a:xfrm>
            <a:off x="9189720" y="3886200"/>
            <a:ext cx="2188159" cy="777240"/>
          </a:xfrm>
          <a:prstGeom prst="rect">
            <a:avLst/>
          </a:prstGeom>
          <a:noFill/>
          <a:ln/>
        </p:spPr>
        <p:txBody>
          <a:bodyPr wrap="square" lIns="0" tIns="0" rIns="0" bIns="0" rtlCol="0" anchor="t"/>
          <a:lstStyle/>
          <a:p>
            <a:pPr marL="0" indent="0">
              <a:buNone/>
            </a:pPr>
            <a:r>
              <a:rPr lang="en-US" sz="1250" b="1" dirty="0">
                <a:solidFill>
                  <a:schemeClr val="tx1"/>
                </a:solidFill>
              </a:rPr>
              <a:t>KL</a:t>
            </a:r>
            <a:r>
              <a:rPr lang="en-US" sz="1250" dirty="0">
                <a:solidFill>
                  <a:schemeClr val="accent5"/>
                </a:solidFill>
              </a:rPr>
              <a:t> stays near 0.01: stable updates.</a:t>
            </a:r>
            <a:endParaRPr lang="en-US" sz="1250" dirty="0"/>
          </a:p>
        </p:txBody>
      </p:sp>
      <p:sp>
        <p:nvSpPr>
          <p:cNvPr id="9" name="Text 5"/>
          <p:cNvSpPr txBox="1"/>
          <p:nvPr/>
        </p:nvSpPr>
        <p:spPr>
          <a:xfrm>
            <a:off x="9189720" y="4800600"/>
            <a:ext cx="2188159" cy="777240"/>
          </a:xfrm>
          <a:prstGeom prst="rect">
            <a:avLst/>
          </a:prstGeom>
          <a:noFill/>
          <a:ln/>
        </p:spPr>
        <p:txBody>
          <a:bodyPr wrap="square" lIns="0" tIns="0" rIns="0" bIns="0" rtlCol="0" anchor="t"/>
          <a:lstStyle/>
          <a:p>
            <a:pPr marL="0" indent="0">
              <a:buNone/>
            </a:pPr>
            <a:r>
              <a:rPr lang="en-US" sz="1250" b="1" dirty="0">
                <a:solidFill>
                  <a:schemeClr val="tx1"/>
                </a:solidFill>
              </a:rPr>
              <a:t>Explained variance</a:t>
            </a:r>
            <a:r>
              <a:rPr lang="en-US" sz="1250" dirty="0">
                <a:solidFill>
                  <a:schemeClr val="accent5"/>
                </a:solidFill>
              </a:rPr>
              <a:t> stays low, under 0.4: the critic is weak. A clear thing to improve.</a:t>
            </a:r>
            <a:endParaRPr lang="en-US" sz="1250" dirty="0"/>
          </a:p>
        </p:txBody>
      </p:sp>
      <p:sp>
        <p:nvSpPr>
          <p:cNvPr id="25" name="Slide Number Placeholder 0"/>
          <p:cNvSpPr>
            <a:spLocks noGrp="1"/>
          </p:cNvSpPr>
          <p:nvPr>
            <p:ph type="sldNum" sz="quarter" idx="4294967295"/>
          </p:nvPr>
        </p:nvSpPr>
        <p:spPr>
          <a:xfrm>
            <a:off x="10463479" y="6355080"/>
            <a:ext cx="914400" cy="274320"/>
          </a:xfrm>
          <a:prstGeom prst="rect">
            <a:avLst/>
          </a:prstGeom>
          <a:extLst>
            <a:ext uri="{C572A759-6A51-4108-AA02-DFA0A04FC94B}">
              <ma14:wrappingTextBoxFlag xmlns:ma14="http://schemas.microsoft.com/office/mac/drawingml/2011/main" xmlns="" val="0"/>
            </a:ext>
          </a:extLst>
        </p:spPr>
        <p:txBody>
          <a:bodyPr/>
          <a:lstStyle>
            <a:lvl1pPr>
              <a:defRPr sz="1100">
                <a:solidFill>
                  <a:srgbClr val="5F636B"/>
                </a:solidFill>
              </a:defRPr>
            </a:lvl1pPr>
          </a:lstStyle>
          <a:p>
            <a:pPr algn="r"/>
            <a:fld id="{F7021451-1387-4CA6-816F-3879F97B5CBC}" type="slidenum">
              <a:rPr lang="en-US" b="0"/>
              <a:t>23</a:t>
            </a:fld>
            <a:endParaRPr lang="en-US"/>
          </a:p>
        </p:txBody>
      </p:sp>
    </p:spTree>
  </p:cSld>
  <p:clrMapOvr>
    <a:masterClrMapping/>
  </p:clrMapOvr>
</p:sld>
</file>

<file path=ppt/theme/theme1.xml><?xml version="1.0" encoding="utf-8"?>
<a:theme xmlns:a="http://schemas.openxmlformats.org/drawingml/2006/main" name="ProcGen RL">
  <a:themeElements>
    <a:clrScheme name="ProcGen RL">
      <a:dk1>
        <a:srgbClr val="14181F"/>
      </a:dk1>
      <a:lt1>
        <a:srgbClr val="FCFCFB"/>
      </a:lt1>
      <a:dk2>
        <a:srgbClr val="0F1A2B"/>
      </a:dk2>
      <a:lt2>
        <a:srgbClr val="F1EFE9"/>
      </a:lt2>
      <a:accent1>
        <a:srgbClr val="1C5CAB"/>
      </a:accent1>
      <a:accent2>
        <a:srgbClr val="EB6834"/>
      </a:accent2>
      <a:accent3>
        <a:srgbClr val="2A78D6"/>
      </a:accent3>
      <a:accent4>
        <a:srgbClr val="6DA7EC"/>
      </a:accent4>
      <a:accent5>
        <a:srgbClr val="4A5160"/>
      </a:accent5>
      <a:accent6>
        <a:srgbClr val="8D9BB0"/>
      </a:accent6>
      <a:hlink>
        <a:srgbClr val="2A78D6"/>
      </a:hlink>
      <a:folHlink>
        <a:srgbClr val="1C5CAB"/>
      </a:folHlink>
    </a:clrScheme>
    <a:fontScheme name="ProcGen RL">
      <a:majorFont>
        <a:latin typeface="Segoe UI Semibold"/>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3616</Words>
  <Application>Microsoft Office PowerPoint</Application>
  <PresentationFormat>Widescreen</PresentationFormat>
  <Paragraphs>273</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Consolas</vt:lpstr>
      <vt:lpstr>Segoe UI</vt:lpstr>
      <vt:lpstr>Segoe UI Semibold</vt:lpstr>
      <vt:lpstr>ProcGen RL</vt:lpstr>
      <vt:lpstr>Teaching an agent to play levels it has never seen</vt:lpstr>
      <vt:lpstr>A platformer the agent can’t memorise</vt:lpstr>
      <vt:lpstr>Run right, reach the flag</vt:lpstr>
      <vt:lpstr>Every level is new and beatable</vt:lpstr>
      <vt:lpstr>What the agent sees</vt:lpstr>
      <vt:lpstr>PPO with two small networks</vt:lpstr>
      <vt:lpstr>Make progress, don’t die</vt:lpstr>
      <vt:lpstr>From seed to ghost</vt:lpstr>
      <vt:lpstr>One night on a laptop</vt:lpstr>
      <vt:lpstr>The learning curve</vt:lpstr>
      <vt:lpstr>A curriculum from easy to hard</vt:lpstr>
      <vt:lpstr>Tested on levels it has never seen</vt:lpstr>
      <vt:lpstr>Every ghost at every difficulty</vt:lpstr>
      <vt:lpstr>One unseen level, five stages of training</vt:lpstr>
      <vt:lpstr>Trained on 10 levels: 100% on those, 60% on new ones</vt:lpstr>
      <vt:lpstr>More levels close the gap</vt:lpstr>
      <vt:lpstr>Memorising gets worse with time</vt:lpstr>
      <vt:lpstr>Race the ghosts</vt:lpstr>
      <vt:lpstr>Harder than anything in training</vt:lpstr>
      <vt:lpstr>Beyond training, even 300 h struggles</vt:lpstr>
      <vt:lpstr>What I learned, and what’s next</vt:lpstr>
      <vt:lpstr>Thank you</vt:lpstr>
      <vt:lpstr>PPO health checks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ProcGen RL: Teaching an Agent to Play Levels It Has Never Seen</dc:title>
  <dc:subject>PptxGenJS Presentation</dc:subject>
  <dc:creator>PptxGenJS</dc:creator>
  <cp:lastModifiedBy>Divyansh Yadav</cp:lastModifiedBy>
  <cp:revision>1</cp:revision>
  <dcterms:created xsi:type="dcterms:W3CDTF">2026-10-22T04:35:35Z</dcterms:created>
  <dcterms:modified xsi:type="dcterms:W3CDTF">2026-10-22T05:23:25Z</dcterms:modified>
</cp:coreProperties>
</file>